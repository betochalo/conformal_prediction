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0:00-0:30. Presentar el título y la pregunta central: no si se puede clasificar fallas, sino cuándo un sistema debe decidir solo y cuándo abstenerse. Ambos integrantes se presentan.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0:30-2:00. Contar el escenario de planta. Enfatizar que la probabilidad del modelo no es calibrada y que el desbalance hace que el error se concentre en las clases minoritarias.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2:00-3:00. Explicar la tabla fila por fila. Insistir en que el caso de dos etiquetas es información accionable.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3:00-4:30. Es el criterio de calidad de datos de la rúbrica. Mencionar que RNF no activa Machine failure, que la prioridad se eligió para no restar ejemplos a las clases escasas, y por qué no se usa partición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4:30-6:30. Explicar el cuantil con el ejemplo numérico. Subrayar que la garantía es marginal y que Mondrian aplica el mismo argumento dentro de cada clase, a cambio de calibrar con pocas muestras.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6:30-8:00. Criterio de código reproducible. Mencionar el manifiesto y que las pruebas incluyen casos calculados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8:00-9:00. Leer dos filas. La cobertura es la restricción a cumplir, no el objetivo a maximizar.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9:00-11:00. Esta es la diapositiva central. Señalar las barras azules en cero y las naranjas sobre la línea. Explicar que la barra de TWF en 0.20 es 7 de 9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11:00-12:00. Conectar con la política de tres vías: la abstención es carga de trabajo humana medible. La cobertura no garantiza exactitud entre las automáticas: Mondrian da falsas alarmas; split omite fallas.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12:00-13:00. Traza y benchmark: ciclo de entrenamiento, traza de pérdida y gradiente, float32 y comparación de dispositivos con mediana de repeticiones, como en el ejercicio de la semana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13:00-14:00. Recorrer la tabla de arriba abajo en 30 segundos por bloque. Citar las referencias del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14:00-14:30. Dejar explícito el recorte de alcance aprobado y qué queda como extensión.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14:30-15:00. Cerrar con la pregunta inicial respondida y las recomendaciones. Las preguntas van después del límite.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IA industrial consciente del riesgo</a:t>
            </a:r>
          </a:p>
          <a:p>
            <a:pPr>
              <a:defRPr sz="2600">
                <a:solidFill>
                  <a:srgbClr val="DDE6F5"/>
                </a:solidFill>
              </a:defRPr>
            </a:pPr>
            <a:r>
              <a:t>Predicción conforme y abstención selectiva para diagnóstico de fallas</a:t>
            </a:r>
          </a:p>
          <a:p>
            <a:r>
              <a:t> 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Roberth Chachalo · Jaime Astudillo</a:t>
            </a:r>
          </a:p>
          <a:p>
            <a:pPr>
              <a:defRPr sz="1600">
                <a:solidFill>
                  <a:srgbClr val="DDE6F5"/>
                </a:solidFill>
              </a:defRPr>
            </a:pPr>
            <a:r>
              <a:t>MSDS 6014 · Matemáticas y Programación IA · Proyecto final ·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El problema: costos asimétricos y probabilidades sin garantía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Detener una línea sin motivo es caro; no detectar una falla es mucho más caro; confundir el modo envía al técnico equivocado.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Un clasificador siempre responde la clase más probable. Su probabilidad es una salida del modelo, no una garantía.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Con 96.7 % de ciclos normales, esa probabilidad es optimista justo en las fallas, que son lo que importa.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Pregunta del proyecto: ¿cuándo debe el sistema actuar solo y cuándo pedir intervención humana?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Respuesta propuesta: conjuntos de predicción con garantía estadística y una política de tres vías por su tamaño.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La política de tres vías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1.0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5760720"/>
              </a:tblGrid>
              <a:tr h="3200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Tamaño del conjunto C(x)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Vía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Interpretación operativa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|C(x)| = 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Automática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Evidencia suficiente; el sistema actúa solo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|C(x)| = 2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Asistida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Diagnóstico parcial útil: 'es HDF u OSF, no otra cosa'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|C(x)| &gt; 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Humana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Sin evidencia discriminante; escalamiento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|C(x)| = 0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Humana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0B0B0B"/>
                          </a:solidFill>
                        </a:defRPr>
                      </a:pPr>
                      <a:r>
                        <a:t>Observación atípica para todas las clases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El conjunto de dos etiquetas no es un fracaso: descarta el resto del espacio de diagnóstico con garantía.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La abstención es la fracción de ciclos con tamaño distinto de 1: la carga que el sistema traslada a personas.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Datos: AI4I 2020 y lo que la auditoría encontró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1.5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5486400"/>
              </a:tblGrid>
              <a:tr h="3200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Hallazgo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Conteo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Decisión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Registros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10 000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6 predictores; IDs solo para trazabilidad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Machine failure = 1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339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330 con modo físico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Fallas sin ningún modo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Excluidas: no admiten etiqueta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RNF puro (todos con Machine failure = 0)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Excluidas: ruido sin firma física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Modos físicos simultáneos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Prioridad por escasez: TWF &gt; PWF &gt; OSF &gt; HDF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Temperatura del aire, autocorrelación lag 1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Partición aleatoria; garantía no temporal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977639"/>
          <a:ext cx="5486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Clase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Entren.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Calib.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Prueba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0B0B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4 821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2 893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1 929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9 643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0B0B"/>
                          </a:solidFill>
                        </a:defRPr>
                      </a:pPr>
                      <a:r>
                        <a:t>TWF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0B0B"/>
                          </a:solidFill>
                        </a:defRPr>
                      </a:pPr>
                      <a:r>
                        <a:t>HDF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0B0B"/>
                          </a:solidFill>
                        </a:defRPr>
                      </a:pPr>
                      <a:r>
                        <a:t>PWF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0B0B"/>
                          </a:solidFill>
                        </a:defRPr>
                      </a:pPr>
                      <a:r>
                        <a:t>OSF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4023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Partición estratificada 0.50 / 0.30 / 0.20, semilla 42. TWF con 14 ejemplos de calibración es la clase que limita el nivel de confianza alcanzable: con α = 0.05 hacen falta al menos 19.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Método: split conformal y Mondrian desde cero en NumPy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Puntuación de no conformidad: s(x, y) = 1 − p(y | x), con el modelo ya entrenado.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Umbral: estadístico de orden de rango ⌈(n + 1)(1 − α)⌉ de las puntuaciones de calibración, sin interpolación.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Conjunto: C(x) = { y : s(x, y) ≤ q̂ }. Si el rango supera n, el umbral es infinito y la clase entra siempre.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Garantía: si calibración y nuevo caso son intercambiables, P(Y ∈ C(X)) ≥ 1 − α. No depende del modelo.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Split: un umbral global. Mondrian: un umbral por clase, calibrado solo con los ejemplos de esa clase.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Ejemplo real: split, hgb, α = 0.05 → n = 2 992, rango 2 844, umbral 0.0019.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Mondrian, TWF, α = 0.05 → n = 14, rango 15 &gt; 14 → umbral infinito.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Calibración separada del entrenamiento y del bloque de prueba. Nada se selecciona con prueba.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Dos clasificadores, una capa conforme, un paquete reproducible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B0B0B"/>
                </a:solidFill>
              </a:defRPr>
            </a:pPr>
            <a:r>
              <a:t>• HistGradientBoosting (base aprobado) y un MLP 64-64 en PyTorch entrenado en RTX 5070 Ti (extensión).</a:t>
            </a:r>
          </a:p>
          <a:p>
            <a:pPr>
              <a:spcAft>
                <a:spcPts val="800"/>
              </a:spcAft>
              <a:defRPr sz="1900">
                <a:solidFill>
                  <a:srgbClr val="0B0B0B"/>
                </a:solidFill>
              </a:defRPr>
            </a:pPr>
            <a:r>
              <a:t>• Ambos exponen fit, predict_proba y classes_; la capa conforme no distingue cuál la alimenta.</a:t>
            </a:r>
          </a:p>
          <a:p>
            <a:pPr>
              <a:spcAft>
                <a:spcPts val="800"/>
              </a:spcAft>
              <a:defRPr sz="1900">
                <a:solidFill>
                  <a:srgbClr val="0B0B0B"/>
                </a:solidFill>
              </a:defRPr>
            </a:pPr>
            <a:r>
              <a:t>• Preprocesamiento ajustado solo con entrenamiento: one-hot de Type y escalado numérico para el MLP.</a:t>
            </a:r>
          </a:p>
          <a:p>
            <a:pPr>
              <a:spcAft>
                <a:spcPts val="800"/>
              </a:spcAft>
              <a:defRPr sz="1900">
                <a:solidFill>
                  <a:srgbClr val="0B0B0B"/>
                </a:solidFill>
              </a:defRPr>
            </a:pPr>
            <a:r>
              <a:t>• Paquete instalable con uv, 112 pruebas (cuantil, empates, clases ausentes, particiones, métricas, integración).</a:t>
            </a:r>
          </a:p>
          <a:p>
            <a:pPr>
              <a:spcAft>
                <a:spcPts val="800"/>
              </a:spcAft>
              <a:defRPr sz="1900">
                <a:solidFill>
                  <a:srgbClr val="0B0B0B"/>
                </a:solidFill>
              </a:defRPr>
            </a:pPr>
            <a:r>
              <a:t>• Cada ejecución guarda hash de datos, índices, umbrales, probabilidades, métricas, figuras y versiones.</a:t>
            </a:r>
          </a:p>
          <a:p>
            <a:pPr>
              <a:spcAft>
                <a:spcPts val="800"/>
              </a:spcAft>
              <a:defRPr sz="1900">
                <a:solidFill>
                  <a:srgbClr val="0B0B0B"/>
                </a:solidFill>
              </a:defRPr>
            </a:pPr>
            <a:r>
              <a:t>• Reproducir: uv sync --extra torch &amp;&amp; uv run python -m conformal_fault_inference_with_abstention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Resultado 1: coberturas cerca del nominal con ambos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1.0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914400"/>
                <a:gridCol w="2743200"/>
                <a:gridCol w="219456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Variante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α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Cobertura marginal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Tamaño medio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Abstención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hgb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0.909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0.088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hgb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mondrian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0.917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1.32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0.305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0.902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0.096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mondrian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0.903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1.07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0.085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hgb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0.041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hgb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mondrian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0.959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2.64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En esta partición, las 12 combinaciones quedan a menos de 0.02 del nominal (n = 1 995; desviación típica ≈ 0.007).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Consistente con la garantía, que es una afirmación en probabilidad bajo intercambiabilidad; una partición la ilustra, no la demuestra.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Árbol y MLP difieren en tamaño y abstención, no en cobertura: la incertidumbre se traduce en tamaño.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Resultado 2: split ignora las fallas; Mondrian las cubre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2.0 min</a:t>
            </a:r>
          </a:p>
        </p:txBody>
      </p:sp>
      <p:pic>
        <p:nvPicPr>
          <p:cNvPr id="4" name="Picture 3" descr="coverage_by_class_h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3213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2514E"/>
                </a:solidFill>
              </a:defRPr>
            </a:pPr>
            <a:r>
              <a:t>Con α = 0.10 y hgb: cobertura marginal 0.909, pero TWF y PWF con 0.000 y HDF con 0.143. Normal absorbe la garantía. Mondrian lleva las cuatro fallas a 0.95–1.00. Con α = 0.05, TWF entra siempre por umbral infinito.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Resultado 3: el precio de la garantía es el tamaño del conjunto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1.0 min</a:t>
            </a:r>
          </a:p>
        </p:txBody>
      </p:sp>
      <p:pic>
        <p:nvPicPr>
          <p:cNvPr id="4" name="Picture 3" descr="global_metrics_h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3374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Mondrian con α = 0.05 abstiene el 100 %: TWF acompaña a Normal en casi todos los conjuntos. Con α = 0.10 resuelve el 69.5 % de forma automática y deriva el 28.6 % a la vía asistida. Split solo produce vía humana por conjuntos vacíos, no porque distinga fallas.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534924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1188720"/>
                <a:gridCol w="1005840"/>
                <a:gridCol w="38404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Error entre decisiones automáticas, α = 0.10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Automáticas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Erróneas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Tasa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Tipo de error dominante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hgb · split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1 819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0.3 %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5 fallas enviadas como Normal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hgb · mondrian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1 387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5.9 %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81 normales enviados como falla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mlp · mondrian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1 825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8.2 %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149 normales enviados como falla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Entrenamiento del MLP: traza y CPU frente a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1.5 min</a:t>
            </a:r>
          </a:p>
        </p:txBody>
      </p:sp>
      <p:pic>
        <p:nvPicPr>
          <p:cNvPr id="4" name="Picture 3" descr="training_trace_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589520" cy="215036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38160" y="1188720"/>
          <a:ext cx="374904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00584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Dispositivo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Mediana de 3 (s)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Pérdida final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0.0209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cuda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0.0209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66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5 061 parámetros y lotes de 256: el costo de lanzar kernels supera al cálculo. La GPU no gana; se mide, no se asume.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CPU y CUDA no coinciden a 1e-4 tras 200 épocas (diferencia 0.027 en parámetros), pero la clase coincide en 99.98 %.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Exactitud de entrenamiento 0.995 frente a 0.967 de responder siempre Normal; TWF baja de 0.22 a 0.13.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Conceptos del curso aplicados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1.0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Dónde se usa en el proyecto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Tensores, capas lineales, activaciones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MLP con nn.Linear y ReLU sobre lotes de 256 filas en GPU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Autodiferenciación y ciclo de entrenamiento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backward(), zero_grad(), Adam; traza de pérdida, norma del gradiente y cambio de parámetros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CPU frente a GPU, precisión float32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Mediana de repeticiones, parámetros comparados con tolerancia, costo de transferencias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Cuantiles, estadísticos de orden, probabilidad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Rango ⌈(n + 1)(1 − α)⌉ y argumento de intercambiabilidad del cuantil conforme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Comparación de modelos y métricas por clase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HGB frente a MLP con la misma capa conforme; cobertura, tamaño, abstención, error automático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Pipelines y fuga de información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Preprocesamiento ajustado solo con entrenamiento; calibración y prueba separadas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Reproducibilidad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uv.lock, semillas, hash SHA-256 del CSV, manifiesto con versiones y GPU, 112 pruebas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Fuera del alcance reducido: Docker, SQL, SVD y autovalores, embeddings aprendidos. Tema adicional investigado: predicción conforme (Vovk et al. 2005; Lei et al. 2018; Angelopoulos y Bates 2021).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Propuesta frente a entregado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0.5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4114800"/>
              </a:tblGrid>
              <a:tr h="32003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Objetivo de la propuesta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Fundamento matemático y cobertura marginal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Cumplido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Split conformal y Mondrian en NumPy; APS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Cumplido; APS pospuesto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Cobertura independiente del clasificador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Adaptado: MLP en lugar de GaussianNB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Split subcubre minoritarias, Mondrian corrige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Cumplido y cuantificado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Ablación física y política de costos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Pospuestas por observación docente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Paquete instalable y ejecución reproducible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Cumplido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194560"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2743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DDE6F5"/>
                </a:solidFill>
              </a:defRPr>
            </a:pPr>
            <a:r>
              <a:t>1.0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Coberturas consistentes con la garantía y sin depender del clasificador; la calidad del modelo se ve en el tamaño.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La cobertura marginal es insuficiente para diagnóstico de fallas: puede cumplirse ignorando todas las fallas.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Mondrian con α = 0.10: garantía por clase, 70–90 % de decisiones automáticas, con 6–8 % de falsas alarmas entre ellas.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La abstención es el precio de la garantía y depende de los datos escasos: TWF fija el α alcanzable.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Recomendaciones: repetir particiones con varias semillas; reunir más TWF; pasar a APS para evitar conjuntos vacíos;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y definir la política de costos para elegir α por costo esperado, no solo por cobertura.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Límites: una partición, datos sintéticos, dependencia temporal no evaluada, sin selección de hiperparámetros.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