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JAIME · 0:00–0:20. Presentarse ambos en una frase. Leer la pregunta central en voz alta: el proyecto no pregunta si se puede clasificar fallas, sino cuándo el sistema debe decidir solo. Anunciar el reparto: Jaime problema, datos y método; Roberth implementación, resultados y conclusiones.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JAIME · 0:20–0:35. Anunciar el reparto y los seis bloques. No leer la agenda entera: señalar los dos bloques y seguir.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JAIME · 0:30–1:15. Tres errores con costos distintos. Insistir en que la probabilidad del softmax no está calibrada y que el desbalance la vuelve optimista donde menos conviene. Cerrar con la necesidad de un mecanismo principiado para abstenerse.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JAIME · 1:15–2:15. Recorrer las tres vías. Enfatizar la vía asistida como información accionable y que la abstención es medible: es lo que después se reporta como métrica.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JAIME · 2:15–3:30. Criterio 2b. Abrir con una frase sobre el dataset (10 000 ciclos de una fresadora, 6 predictores, 3.4 % de fallas, sintético con mecanismos físicos reales, hash registrado). Luego SOLO tres filas de la tabla: RNF, fallas sin modo y solapamientos. El resto está en el apéndice. Tres hallazgos clave: RNF no activa Machine failure, nueve fallas sin modo, y 23 solapamientos resueltos por escasez. La autocorrelación justifica por qué la garantía es para partición aleatoria y no para el tiempo.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JAIME · 3:30–5:00. Recorrer los tres pasos con la recta numérica: cinco puntuaciones ordenadas, el rango 4 marca el umbral 0.30, la zona sombreada es lo que entra al conjunto. Luego los dos casos nuevos. Cerrar con el número real: q̂ = 0.0019 porque el modelo es muy confiado en Normal.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RELEVO · 5:00–5:10. Jaime cierra: «hasta aquí el método; Roberth cuenta si funciona». Cambio de orador. No leer la diapositiva.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ROBERTH · 5:10–6:00. Criterio 2d. Recorrer el pipeline de izquierda a derecha en 20 segundos. Mencionar los dos clasificadores (HistGradientBoosting como base y un MLP en PyTorch en GPU como extensión) y que ambos alimentan la misma capa conforme. Luego las cinco cifras. Detalles de arquitectura y benchmark CPU/GPU están en el apéndice. Enfatizar contratos por módulo, una sola línea para reproducir y el manifiesto con hash y versiones. Las pruebas incluyen casos calculados a mano.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ROBERTH · 6:00–6:45. Leer la curva de cobertura pegada a la línea 1 − α. Moderar la afirmación: consistente con la garantía, no demostración. Tamaño y abstención sí dependen del modelo.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ROBERTH · 6:45–8:00. Diapositiva central; si el tiempo aprieta, esta es la que NO se recorta. Señalar las barras azules en cero y las naranjas sobre la línea. Es el objetivo 4 de la propuesta, cuantificado. Mencionar el soporte de TWF.</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ROBERTH · 8:00–8:45. El hallazgo que cambia la lectura: automatizar 69.5 % o 91.5 % debe ir con su error entre automáticas. Explicar el mecanismo del umbral de Normal. Cuál conviene depende de costos que el proyecto no fija.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ROBERTH · 8:45–9:10. Traducir las métricas a operación: cuántos ciclos van a cada vía y con qué error. Cerrar con que la decisión final necesita costos.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ROBERTH · 9:10–9:45. Cinco conclusiones, cada una con su número. Volver a la pregunta de la portada: el sistema sabe cuándo abstenerse, y sabemos cuánto cuesta.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ROBERTH · 9:45–10:00. Responder la pregunta de la portada en una frase y abrir preguntas. El apéndice tiene tablas completas, umbrales, benchmark y el mapa de la rúbrica.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forma parte del tiempo de exposición.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Respaldo. Criterio 2a: qué se prometió y qué se entregó, con el recorte aprobado explícito. Si preguntan por GaussianNB: la propuesta lo quería precisamente por estar mal calibrado, para demostrar que la garantía no depende del modelo; el MLP no cumple ese papel porque resulta tan bueno como el árbol, así que el contraste de calidad que se observa es menor que el previsto. Lo que sí se comprobó es que dos modelos distintos dan la misma cobertura y difieren en tamaño y abstención.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2:45–3:15. Dataset sintético pero generado con mecanismos físicos reales. Cinco clases construidas a partir de cuatro indicadores binarios. Mencionar hash y procedencia: parte del criterio de reproducibilidad.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4:15–4:45. TWF es la restricción de todo el proyecto. La decisión de fracciones se tomó con esta tabla antes de entrenar, como exige el plan.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5:45–6:45. Izquierda: por qué la garantía marginal no basta. Derecha: Mondrian con los umbrales reales; TWF infinito. Abajo, el argumento de simetría que justifica el rango: es el fundamento matemático del criterio 3b.</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7:30–8:00. Ambos exponen fit, predict_proba y classes_. La exactitud es solo referencia: el predictor conforme no se evalúa por exactitud.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8:00–8:30. Resultado honesto: la CPU fue 1.4 veces más rápida. Explicar por qué y conectar con el ejercicio de la semana 3 y sus tolerancias.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12:15–12:45. Criterio 3c y 3d: metodología honesta. Decir explícitamente qué no se evaluó.</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12:45–13:15. Criterios 3a y 3b. Recorrer la tabla en bloques de dos filas; nombrar las referencias del informe.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14:00–14:30. Recomendaciones concretas y límites declarados. Criterio 3d.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Respaldo: tabla completa de metrics.csv.</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Respaldo: metrics_by_class.csv. La figura del MLP está en el informe.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Respaldo: thresholds.csv y la sección de umbrales del informe.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Respaldo: para el docente, dónde está cada criterio.</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Respaldo: referencias completas, también en RESULTADOS.md.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20040" cy="6858000"/>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731520"/>
            <a:ext cx="10058400" cy="365760"/>
          </a:xfrm>
          <a:prstGeom prst="rect">
            <a:avLst/>
          </a:prstGeom>
          <a:noFill/>
        </p:spPr>
        <p:txBody>
          <a:bodyPr wrap="square" anchor="t" lIns="45720" rIns="45720" tIns="27432" bIns="27432">
            <a:spAutoFit/>
          </a:bodyPr>
          <a:lstStyle/>
          <a:p>
            <a:pPr algn="l">
              <a:lnSpc>
                <a:spcPct val="110000"/>
              </a:lnSpc>
              <a:defRPr sz="1200" b="1" i="0">
                <a:solidFill>
                  <a:srgbClr val="C9D6E8"/>
                </a:solidFill>
                <a:latin typeface="Calibri"/>
              </a:defRPr>
            </a:pPr>
            <a:r>
              <a:t>MSDS 6014 · MATEMÁTICAS Y PROGRAMACIÓN IA · PROYECTO FINAL</a:t>
            </a:r>
          </a:p>
        </p:txBody>
      </p:sp>
      <p:sp>
        <p:nvSpPr>
          <p:cNvPr id="5" name="TextBox 4"/>
          <p:cNvSpPr txBox="1"/>
          <p:nvPr/>
        </p:nvSpPr>
        <p:spPr>
          <a:xfrm>
            <a:off x="914400" y="1554480"/>
            <a:ext cx="10515600" cy="1005840"/>
          </a:xfrm>
          <a:prstGeom prst="rect">
            <a:avLst/>
          </a:prstGeom>
          <a:noFill/>
        </p:spPr>
        <p:txBody>
          <a:bodyPr wrap="square" anchor="t" lIns="45720" rIns="45720" tIns="27432" bIns="27432">
            <a:spAutoFit/>
          </a:bodyPr>
          <a:lstStyle/>
          <a:p>
            <a:pPr algn="l">
              <a:lnSpc>
                <a:spcPct val="110000"/>
              </a:lnSpc>
              <a:defRPr sz="4600" b="1" i="0">
                <a:solidFill>
                  <a:srgbClr val="FFFFFF"/>
                </a:solidFill>
                <a:latin typeface="Calibri"/>
              </a:defRPr>
            </a:pPr>
            <a:r>
              <a:t>IA industrial consciente del riesgo</a:t>
            </a:r>
          </a:p>
        </p:txBody>
      </p:sp>
      <p:sp>
        <p:nvSpPr>
          <p:cNvPr id="6" name="TextBox 5"/>
          <p:cNvSpPr txBox="1"/>
          <p:nvPr/>
        </p:nvSpPr>
        <p:spPr>
          <a:xfrm>
            <a:off x="914400" y="2606040"/>
            <a:ext cx="10332720" cy="914400"/>
          </a:xfrm>
          <a:prstGeom prst="rect">
            <a:avLst/>
          </a:prstGeom>
          <a:noFill/>
        </p:spPr>
        <p:txBody>
          <a:bodyPr wrap="square" anchor="t" lIns="45720" rIns="45720" tIns="27432" bIns="27432">
            <a:spAutoFit/>
          </a:bodyPr>
          <a:lstStyle/>
          <a:p>
            <a:pPr algn="l">
              <a:lnSpc>
                <a:spcPct val="110000"/>
              </a:lnSpc>
              <a:defRPr sz="2200" b="0" i="0">
                <a:solidFill>
                  <a:srgbClr val="DDE6F5"/>
                </a:solidFill>
                <a:latin typeface="Calibri"/>
              </a:defRPr>
            </a:pPr>
            <a:r>
              <a:t>Predicción conforme y abstención selectiva para diagnóstico de fallas bajo incertidumbre</a:t>
            </a:r>
          </a:p>
        </p:txBody>
      </p:sp>
      <p:sp>
        <p:nvSpPr>
          <p:cNvPr id="7" name="Rectangle 6"/>
          <p:cNvSpPr/>
          <p:nvPr/>
        </p:nvSpPr>
        <p:spPr>
          <a:xfrm>
            <a:off x="914400" y="3794760"/>
            <a:ext cx="822960" cy="54864"/>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3977639"/>
            <a:ext cx="10332720" cy="731520"/>
          </a:xfrm>
          <a:prstGeom prst="rect">
            <a:avLst/>
          </a:prstGeom>
          <a:noFill/>
        </p:spPr>
        <p:txBody>
          <a:bodyPr wrap="square" anchor="t" lIns="45720" rIns="45720" tIns="27432" bIns="27432">
            <a:spAutoFit/>
          </a:bodyPr>
          <a:lstStyle/>
          <a:p>
            <a:pPr algn="l">
              <a:lnSpc>
                <a:spcPct val="110000"/>
              </a:lnSpc>
              <a:defRPr sz="1800" b="0" i="1">
                <a:solidFill>
                  <a:srgbClr val="FFFFFF"/>
                </a:solidFill>
                <a:latin typeface="Calibri"/>
              </a:defRPr>
            </a:pPr>
            <a:r>
              <a:t>¿Cuándo debe un sistema de IA decidir solo, y cuándo abstenerse y pedir intervención humana?</a:t>
            </a:r>
          </a:p>
        </p:txBody>
      </p:sp>
      <p:sp>
        <p:nvSpPr>
          <p:cNvPr id="9" name="TextBox 8"/>
          <p:cNvSpPr txBox="1"/>
          <p:nvPr/>
        </p:nvSpPr>
        <p:spPr>
          <a:xfrm>
            <a:off x="914400" y="5120640"/>
            <a:ext cx="7315200" cy="457200"/>
          </a:xfrm>
          <a:prstGeom prst="rect">
            <a:avLst/>
          </a:prstGeom>
          <a:noFill/>
        </p:spPr>
        <p:txBody>
          <a:bodyPr wrap="square" anchor="t" lIns="45720" rIns="45720" tIns="27432" bIns="27432">
            <a:spAutoFit/>
          </a:bodyPr>
          <a:lstStyle/>
          <a:p>
            <a:pPr algn="l">
              <a:lnSpc>
                <a:spcPct val="110000"/>
              </a:lnSpc>
              <a:defRPr sz="2000" b="1" i="0">
                <a:solidFill>
                  <a:srgbClr val="FFFFFF"/>
                </a:solidFill>
                <a:latin typeface="Calibri"/>
              </a:defRPr>
            </a:pPr>
            <a:r>
              <a:t>Jaime Astudillo  ·  Roberth Chachalo</a:t>
            </a:r>
          </a:p>
        </p:txBody>
      </p:sp>
      <p:sp>
        <p:nvSpPr>
          <p:cNvPr id="10" name="TextBox 9"/>
          <p:cNvSpPr txBox="1"/>
          <p:nvPr/>
        </p:nvSpPr>
        <p:spPr>
          <a:xfrm>
            <a:off x="914400" y="5532120"/>
            <a:ext cx="7315200" cy="320040"/>
          </a:xfrm>
          <a:prstGeom prst="rect">
            <a:avLst/>
          </a:prstGeom>
          <a:noFill/>
        </p:spPr>
        <p:txBody>
          <a:bodyPr wrap="square" anchor="t" lIns="45720" rIns="45720" tIns="27432" bIns="27432">
            <a:spAutoFit/>
          </a:bodyPr>
          <a:lstStyle/>
          <a:p>
            <a:pPr algn="l">
              <a:lnSpc>
                <a:spcPct val="110000"/>
              </a:lnSpc>
              <a:defRPr sz="1300" b="0" i="0">
                <a:solidFill>
                  <a:srgbClr val="EB6834"/>
                </a:solidFill>
                <a:latin typeface="Calibri"/>
              </a:defRPr>
            </a:pPr>
            <a:r>
              <a:t>Bloque 1 (5 min): Jaime · Bloque 2 (5 min): Roberth</a:t>
            </a:r>
          </a:p>
        </p:txBody>
      </p:sp>
      <p:sp>
        <p:nvSpPr>
          <p:cNvPr id="11" name="TextBox 10"/>
          <p:cNvSpPr txBox="1"/>
          <p:nvPr/>
        </p:nvSpPr>
        <p:spPr>
          <a:xfrm>
            <a:off x="914400" y="5897880"/>
            <a:ext cx="9144000" cy="365760"/>
          </a:xfrm>
          <a:prstGeom prst="rect">
            <a:avLst/>
          </a:prstGeom>
          <a:noFill/>
        </p:spPr>
        <p:txBody>
          <a:bodyPr wrap="square" anchor="t" lIns="45720" rIns="45720" tIns="27432" bIns="27432">
            <a:spAutoFit/>
          </a:bodyPr>
          <a:lstStyle/>
          <a:p>
            <a:pPr algn="l">
              <a:lnSpc>
                <a:spcPct val="110000"/>
              </a:lnSpc>
              <a:defRPr sz="1300" b="0" i="0">
                <a:solidFill>
                  <a:srgbClr val="C9D6E8"/>
                </a:solidFill>
                <a:latin typeface="Calibri"/>
              </a:defRPr>
            </a:pPr>
            <a:r>
              <a:t>Septiembre de 2026 · Repositorio: github.com/betochalo/Conformal_Prediction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1170432"/>
            <a:ext cx="548640" cy="45720"/>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7315200" cy="274320"/>
          </a:xfrm>
          <a:prstGeom prst="rect">
            <a:avLst/>
          </a:prstGeom>
          <a:noFill/>
        </p:spPr>
        <p:txBody>
          <a:bodyPr wrap="square" anchor="t" lIns="45720" rIns="45720" tIns="27432" bIns="27432">
            <a:spAutoFit/>
          </a:bodyPr>
          <a:lstStyle/>
          <a:p>
            <a:pPr algn="l">
              <a:lnSpc>
                <a:spcPct val="110000"/>
              </a:lnSpc>
              <a:defRPr sz="1100" b="1" i="0">
                <a:solidFill>
                  <a:srgbClr val="EB6834"/>
                </a:solidFill>
                <a:latin typeface="Calibri"/>
              </a:defRPr>
            </a:pPr>
            <a:r>
              <a:t>AGENDA</a:t>
            </a:r>
          </a:p>
        </p:txBody>
      </p:sp>
      <p:sp>
        <p:nvSpPr>
          <p:cNvPr id="5" name="TextBox 4"/>
          <p:cNvSpPr txBox="1"/>
          <p:nvPr/>
        </p:nvSpPr>
        <p:spPr>
          <a:xfrm>
            <a:off x="640080" y="566928"/>
            <a:ext cx="10058400" cy="640080"/>
          </a:xfrm>
          <a:prstGeom prst="rect">
            <a:avLst/>
          </a:prstGeom>
          <a:noFill/>
        </p:spPr>
        <p:txBody>
          <a:bodyPr wrap="square" anchor="t" lIns="45720" rIns="45720" tIns="27432" bIns="27432">
            <a:spAutoFit/>
          </a:bodyPr>
          <a:lstStyle/>
          <a:p>
            <a:pPr algn="l">
              <a:lnSpc>
                <a:spcPct val="110000"/>
              </a:lnSpc>
              <a:defRPr sz="2400" b="1" i="0">
                <a:solidFill>
                  <a:srgbClr val="0F2A4A"/>
                </a:solidFill>
                <a:latin typeface="Calibri"/>
              </a:defRPr>
            </a:pPr>
            <a:r>
              <a:t>Diez minutos en dos bloques</a:t>
            </a:r>
          </a:p>
        </p:txBody>
      </p:sp>
      <p:sp>
        <p:nvSpPr>
          <p:cNvPr id="6" name="TextBox 5"/>
          <p:cNvSpPr txBox="1"/>
          <p:nvPr/>
        </p:nvSpPr>
        <p:spPr>
          <a:xfrm>
            <a:off x="10881360" y="411480"/>
            <a:ext cx="731520" cy="274320"/>
          </a:xfrm>
          <a:prstGeom prst="rect">
            <a:avLst/>
          </a:prstGeom>
          <a:noFill/>
        </p:spPr>
        <p:txBody>
          <a:bodyPr wrap="square" anchor="t" lIns="45720" rIns="45720" tIns="27432" bIns="27432">
            <a:spAutoFit/>
          </a:bodyPr>
          <a:lstStyle/>
          <a:p>
            <a:pPr algn="r">
              <a:lnSpc>
                <a:spcPct val="110000"/>
              </a:lnSpc>
              <a:defRPr sz="1000" b="0" i="0">
                <a:solidFill>
                  <a:srgbClr val="898781"/>
                </a:solidFill>
                <a:latin typeface="Calibri"/>
              </a:defRPr>
            </a:pPr>
            <a:r>
              <a:t>0.2 min</a:t>
            </a:r>
          </a:p>
        </p:txBody>
      </p:sp>
      <p:sp>
        <p:nvSpPr>
          <p:cNvPr id="7" name="Rectangle 6"/>
          <p:cNvSpPr/>
          <p:nvPr/>
        </p:nvSpPr>
        <p:spPr>
          <a:xfrm>
            <a:off x="0" y="6537960"/>
            <a:ext cx="12191695" cy="320040"/>
          </a:xfrm>
          <a:prstGeom prst="rect">
            <a:avLst/>
          </a:prstGeom>
          <a:solidFill>
            <a:srgbClr val="0F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574536"/>
            <a:ext cx="7315200" cy="256032"/>
          </a:xfrm>
          <a:prstGeom prst="rect">
            <a:avLst/>
          </a:prstGeom>
          <a:noFill/>
        </p:spPr>
        <p:txBody>
          <a:bodyPr wrap="square" anchor="t" lIns="45720" rIns="45720" tIns="27432" bIns="27432">
            <a:spAutoFit/>
          </a:bodyPr>
          <a:lstStyle/>
          <a:p>
            <a:pPr algn="l">
              <a:lnSpc>
                <a:spcPct val="110000"/>
              </a:lnSpc>
              <a:defRPr sz="900" b="0" i="0">
                <a:solidFill>
                  <a:srgbClr val="C9D6E8"/>
                </a:solidFill>
                <a:latin typeface="Calibri"/>
              </a:defRPr>
            </a:pPr>
            <a:r>
              <a:t>Predicción conforme y abstención selectiva · AI4I 2020</a:t>
            </a:r>
          </a:p>
        </p:txBody>
      </p:sp>
      <p:sp>
        <p:nvSpPr>
          <p:cNvPr id="9" name="TextBox 8"/>
          <p:cNvSpPr txBox="1"/>
          <p:nvPr/>
        </p:nvSpPr>
        <p:spPr>
          <a:xfrm>
            <a:off x="11155680" y="6574536"/>
            <a:ext cx="457200" cy="256032"/>
          </a:xfrm>
          <a:prstGeom prst="rect">
            <a:avLst/>
          </a:prstGeom>
          <a:noFill/>
        </p:spPr>
        <p:txBody>
          <a:bodyPr wrap="square" anchor="t" lIns="45720" rIns="45720" tIns="27432" bIns="27432">
            <a:spAutoFit/>
          </a:bodyPr>
          <a:lstStyle/>
          <a:p>
            <a:pPr algn="r">
              <a:lnSpc>
                <a:spcPct val="110000"/>
              </a:lnSpc>
              <a:defRPr sz="900" b="0" i="0">
                <a:solidFill>
                  <a:srgbClr val="C9D6E8"/>
                </a:solidFill>
                <a:latin typeface="Calibri"/>
              </a:defRPr>
            </a:pPr>
            <a:r>
              <a:t>2</a:t>
            </a:r>
          </a:p>
        </p:txBody>
      </p:sp>
      <p:sp>
        <p:nvSpPr>
          <p:cNvPr id="10" name="Rounded Rectangle 9"/>
          <p:cNvSpPr/>
          <p:nvPr/>
        </p:nvSpPr>
        <p:spPr>
          <a:xfrm>
            <a:off x="640080" y="1508760"/>
            <a:ext cx="10881360" cy="1783080"/>
          </a:xfrm>
          <a:prstGeom prst="roundRect">
            <a:avLst>
              <a:gd name="adj" fmla="val 4000"/>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40080" y="1508760"/>
            <a:ext cx="82296" cy="1783080"/>
          </a:xfrm>
          <a:prstGeom prst="roundRect">
            <a:avLst>
              <a:gd name="adj" fmla="val 50000"/>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1618488"/>
            <a:ext cx="4572000" cy="365760"/>
          </a:xfrm>
          <a:prstGeom prst="rect">
            <a:avLst/>
          </a:prstGeom>
          <a:noFill/>
        </p:spPr>
        <p:txBody>
          <a:bodyPr wrap="square" anchor="t" lIns="45720" rIns="45720" tIns="27432" bIns="27432">
            <a:spAutoFit/>
          </a:bodyPr>
          <a:lstStyle/>
          <a:p>
            <a:pPr algn="l">
              <a:lnSpc>
                <a:spcPct val="110000"/>
              </a:lnSpc>
              <a:defRPr sz="1600" b="1" i="0">
                <a:solidFill>
                  <a:srgbClr val="0F2A4A"/>
                </a:solidFill>
                <a:latin typeface="Calibri"/>
              </a:defRPr>
            </a:pPr>
            <a:r>
              <a:t>Bloque 1 · Jaime · 5 min</a:t>
            </a:r>
          </a:p>
        </p:txBody>
      </p:sp>
      <p:sp>
        <p:nvSpPr>
          <p:cNvPr id="13" name="Oval 12"/>
          <p:cNvSpPr/>
          <p:nvPr/>
        </p:nvSpPr>
        <p:spPr>
          <a:xfrm>
            <a:off x="868680" y="2103120"/>
            <a:ext cx="384048" cy="384048"/>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defRPr sz="1300" b="1">
                <a:solidFill>
                  <a:srgbClr val="FFFFFF"/>
                </a:solidFill>
                <a:latin typeface="Calibri"/>
              </a:defRPr>
            </a:pPr>
            <a:r>
              <a:t>1</a:t>
            </a:r>
          </a:p>
        </p:txBody>
      </p:sp>
      <p:sp>
        <p:nvSpPr>
          <p:cNvPr id="14" name="TextBox 13"/>
          <p:cNvSpPr txBox="1"/>
          <p:nvPr/>
        </p:nvSpPr>
        <p:spPr>
          <a:xfrm>
            <a:off x="1371600" y="2112264"/>
            <a:ext cx="2103120" cy="320040"/>
          </a:xfrm>
          <a:prstGeom prst="rect">
            <a:avLst/>
          </a:prstGeom>
          <a:noFill/>
        </p:spPr>
        <p:txBody>
          <a:bodyPr wrap="square" anchor="t" lIns="45720" rIns="45720" tIns="27432" bIns="27432">
            <a:spAutoFit/>
          </a:bodyPr>
          <a:lstStyle/>
          <a:p>
            <a:pPr algn="l">
              <a:lnSpc>
                <a:spcPct val="110000"/>
              </a:lnSpc>
              <a:defRPr sz="1400" b="1" i="0">
                <a:solidFill>
                  <a:srgbClr val="0F2A4A"/>
                </a:solidFill>
                <a:latin typeface="Calibri"/>
              </a:defRPr>
            </a:pPr>
            <a:r>
              <a:t>Problema</a:t>
            </a:r>
          </a:p>
        </p:txBody>
      </p:sp>
      <p:sp>
        <p:nvSpPr>
          <p:cNvPr id="15" name="TextBox 14"/>
          <p:cNvSpPr txBox="1"/>
          <p:nvPr/>
        </p:nvSpPr>
        <p:spPr>
          <a:xfrm>
            <a:off x="1371600" y="2423160"/>
            <a:ext cx="2103120" cy="822960"/>
          </a:xfrm>
          <a:prstGeom prst="rect">
            <a:avLst/>
          </a:prstGeom>
          <a:noFill/>
        </p:spPr>
        <p:txBody>
          <a:bodyPr wrap="square" anchor="t" lIns="45720" rIns="45720" tIns="27432" bIns="27432">
            <a:spAutoFit/>
          </a:bodyPr>
          <a:lstStyle/>
          <a:p>
            <a:pPr algn="l">
              <a:lnSpc>
                <a:spcPct val="110000"/>
              </a:lnSpc>
              <a:defRPr sz="1000" b="0" i="0">
                <a:solidFill>
                  <a:srgbClr val="52514E"/>
                </a:solidFill>
                <a:latin typeface="Calibri"/>
              </a:defRPr>
            </a:pPr>
            <a:r>
              <a:t>Costos asimétricos y probabilidades sin garantía</a:t>
            </a:r>
          </a:p>
        </p:txBody>
      </p:sp>
      <p:sp>
        <p:nvSpPr>
          <p:cNvPr id="16" name="Oval 15"/>
          <p:cNvSpPr/>
          <p:nvPr/>
        </p:nvSpPr>
        <p:spPr>
          <a:xfrm>
            <a:off x="3538728" y="2103120"/>
            <a:ext cx="384048" cy="384048"/>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defRPr sz="1300" b="1">
                <a:solidFill>
                  <a:srgbClr val="FFFFFF"/>
                </a:solidFill>
                <a:latin typeface="Calibri"/>
              </a:defRPr>
            </a:pPr>
            <a:r>
              <a:t>2</a:t>
            </a:r>
          </a:p>
        </p:txBody>
      </p:sp>
      <p:sp>
        <p:nvSpPr>
          <p:cNvPr id="17" name="TextBox 16"/>
          <p:cNvSpPr txBox="1"/>
          <p:nvPr/>
        </p:nvSpPr>
        <p:spPr>
          <a:xfrm>
            <a:off x="4041648" y="2112264"/>
            <a:ext cx="2103120" cy="320040"/>
          </a:xfrm>
          <a:prstGeom prst="rect">
            <a:avLst/>
          </a:prstGeom>
          <a:noFill/>
        </p:spPr>
        <p:txBody>
          <a:bodyPr wrap="square" anchor="t" lIns="45720" rIns="45720" tIns="27432" bIns="27432">
            <a:spAutoFit/>
          </a:bodyPr>
          <a:lstStyle/>
          <a:p>
            <a:pPr algn="l">
              <a:lnSpc>
                <a:spcPct val="110000"/>
              </a:lnSpc>
              <a:defRPr sz="1400" b="1" i="0">
                <a:solidFill>
                  <a:srgbClr val="0F2A4A"/>
                </a:solidFill>
                <a:latin typeface="Calibri"/>
              </a:defRPr>
            </a:pPr>
            <a:r>
              <a:t>Idea central</a:t>
            </a:r>
          </a:p>
        </p:txBody>
      </p:sp>
      <p:sp>
        <p:nvSpPr>
          <p:cNvPr id="18" name="TextBox 17"/>
          <p:cNvSpPr txBox="1"/>
          <p:nvPr/>
        </p:nvSpPr>
        <p:spPr>
          <a:xfrm>
            <a:off x="4041648" y="2423160"/>
            <a:ext cx="2103120" cy="822960"/>
          </a:xfrm>
          <a:prstGeom prst="rect">
            <a:avLst/>
          </a:prstGeom>
          <a:noFill/>
        </p:spPr>
        <p:txBody>
          <a:bodyPr wrap="square" anchor="t" lIns="45720" rIns="45720" tIns="27432" bIns="27432">
            <a:spAutoFit/>
          </a:bodyPr>
          <a:lstStyle/>
          <a:p>
            <a:pPr algn="l">
              <a:lnSpc>
                <a:spcPct val="110000"/>
              </a:lnSpc>
              <a:defRPr sz="1000" b="0" i="0">
                <a:solidFill>
                  <a:srgbClr val="52514E"/>
                </a:solidFill>
                <a:latin typeface="Calibri"/>
              </a:defRPr>
            </a:pPr>
            <a:r>
              <a:t>La política de tres vías por tamaño del conjunto</a:t>
            </a:r>
          </a:p>
        </p:txBody>
      </p:sp>
      <p:sp>
        <p:nvSpPr>
          <p:cNvPr id="19" name="Oval 18"/>
          <p:cNvSpPr/>
          <p:nvPr/>
        </p:nvSpPr>
        <p:spPr>
          <a:xfrm>
            <a:off x="6208776" y="2103120"/>
            <a:ext cx="384048" cy="384048"/>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defRPr sz="1300" b="1">
                <a:solidFill>
                  <a:srgbClr val="FFFFFF"/>
                </a:solidFill>
                <a:latin typeface="Calibri"/>
              </a:defRPr>
            </a:pPr>
            <a:r>
              <a:t>3</a:t>
            </a:r>
          </a:p>
        </p:txBody>
      </p:sp>
      <p:sp>
        <p:nvSpPr>
          <p:cNvPr id="20" name="TextBox 19"/>
          <p:cNvSpPr txBox="1"/>
          <p:nvPr/>
        </p:nvSpPr>
        <p:spPr>
          <a:xfrm>
            <a:off x="6711696" y="2112264"/>
            <a:ext cx="2103120" cy="320040"/>
          </a:xfrm>
          <a:prstGeom prst="rect">
            <a:avLst/>
          </a:prstGeom>
          <a:noFill/>
        </p:spPr>
        <p:txBody>
          <a:bodyPr wrap="square" anchor="t" lIns="45720" rIns="45720" tIns="27432" bIns="27432">
            <a:spAutoFit/>
          </a:bodyPr>
          <a:lstStyle/>
          <a:p>
            <a:pPr algn="l">
              <a:lnSpc>
                <a:spcPct val="110000"/>
              </a:lnSpc>
              <a:defRPr sz="1400" b="1" i="0">
                <a:solidFill>
                  <a:srgbClr val="0F2A4A"/>
                </a:solidFill>
                <a:latin typeface="Calibri"/>
              </a:defRPr>
            </a:pPr>
            <a:r>
              <a:t>Datos</a:t>
            </a:r>
          </a:p>
        </p:txBody>
      </p:sp>
      <p:sp>
        <p:nvSpPr>
          <p:cNvPr id="21" name="TextBox 20"/>
          <p:cNvSpPr txBox="1"/>
          <p:nvPr/>
        </p:nvSpPr>
        <p:spPr>
          <a:xfrm>
            <a:off x="6711696" y="2423160"/>
            <a:ext cx="2103120" cy="822960"/>
          </a:xfrm>
          <a:prstGeom prst="rect">
            <a:avLst/>
          </a:prstGeom>
          <a:noFill/>
        </p:spPr>
        <p:txBody>
          <a:bodyPr wrap="square" anchor="t" lIns="45720" rIns="45720" tIns="27432" bIns="27432">
            <a:spAutoFit/>
          </a:bodyPr>
          <a:lstStyle/>
          <a:p>
            <a:pPr algn="l">
              <a:lnSpc>
                <a:spcPct val="110000"/>
              </a:lnSpc>
              <a:defRPr sz="1000" b="0" i="0">
                <a:solidFill>
                  <a:srgbClr val="52514E"/>
                </a:solidFill>
                <a:latin typeface="Calibri"/>
              </a:defRPr>
            </a:pPr>
            <a:r>
              <a:t>AI4I 2020 y lo que encontró la auditoría</a:t>
            </a:r>
          </a:p>
        </p:txBody>
      </p:sp>
      <p:sp>
        <p:nvSpPr>
          <p:cNvPr id="22" name="Oval 21"/>
          <p:cNvSpPr/>
          <p:nvPr/>
        </p:nvSpPr>
        <p:spPr>
          <a:xfrm>
            <a:off x="8878824" y="2103120"/>
            <a:ext cx="384048" cy="384048"/>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defRPr sz="1300" b="1">
                <a:solidFill>
                  <a:srgbClr val="FFFFFF"/>
                </a:solidFill>
                <a:latin typeface="Calibri"/>
              </a:defRPr>
            </a:pPr>
            <a:r>
              <a:t>4</a:t>
            </a:r>
          </a:p>
        </p:txBody>
      </p:sp>
      <p:sp>
        <p:nvSpPr>
          <p:cNvPr id="23" name="TextBox 22"/>
          <p:cNvSpPr txBox="1"/>
          <p:nvPr/>
        </p:nvSpPr>
        <p:spPr>
          <a:xfrm>
            <a:off x="9381744" y="2112264"/>
            <a:ext cx="2103120" cy="320040"/>
          </a:xfrm>
          <a:prstGeom prst="rect">
            <a:avLst/>
          </a:prstGeom>
          <a:noFill/>
        </p:spPr>
        <p:txBody>
          <a:bodyPr wrap="square" anchor="t" lIns="45720" rIns="45720" tIns="27432" bIns="27432">
            <a:spAutoFit/>
          </a:bodyPr>
          <a:lstStyle/>
          <a:p>
            <a:pPr algn="l">
              <a:lnSpc>
                <a:spcPct val="110000"/>
              </a:lnSpc>
              <a:defRPr sz="1400" b="1" i="0">
                <a:solidFill>
                  <a:srgbClr val="0F2A4A"/>
                </a:solidFill>
                <a:latin typeface="Calibri"/>
              </a:defRPr>
            </a:pPr>
            <a:r>
              <a:t>Método</a:t>
            </a:r>
          </a:p>
        </p:txBody>
      </p:sp>
      <p:sp>
        <p:nvSpPr>
          <p:cNvPr id="24" name="TextBox 23"/>
          <p:cNvSpPr txBox="1"/>
          <p:nvPr/>
        </p:nvSpPr>
        <p:spPr>
          <a:xfrm>
            <a:off x="9381744" y="2423160"/>
            <a:ext cx="2103120" cy="822960"/>
          </a:xfrm>
          <a:prstGeom prst="rect">
            <a:avLst/>
          </a:prstGeom>
          <a:noFill/>
        </p:spPr>
        <p:txBody>
          <a:bodyPr wrap="square" anchor="t" lIns="45720" rIns="45720" tIns="27432" bIns="27432">
            <a:spAutoFit/>
          </a:bodyPr>
          <a:lstStyle/>
          <a:p>
            <a:pPr algn="l">
              <a:lnSpc>
                <a:spcPct val="110000"/>
              </a:lnSpc>
              <a:defRPr sz="1000" b="0" i="0">
                <a:solidFill>
                  <a:srgbClr val="52514E"/>
                </a:solidFill>
                <a:latin typeface="Calibri"/>
              </a:defRPr>
            </a:pPr>
            <a:r>
              <a:t>El cuantil conforme y las dos variantes</a:t>
            </a:r>
          </a:p>
        </p:txBody>
      </p:sp>
      <p:sp>
        <p:nvSpPr>
          <p:cNvPr id="25" name="Rounded Rectangle 24"/>
          <p:cNvSpPr/>
          <p:nvPr/>
        </p:nvSpPr>
        <p:spPr>
          <a:xfrm>
            <a:off x="640080" y="3474720"/>
            <a:ext cx="10881360" cy="1783080"/>
          </a:xfrm>
          <a:prstGeom prst="roundRect">
            <a:avLst>
              <a:gd name="adj" fmla="val 4000"/>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40080" y="3474720"/>
            <a:ext cx="82296" cy="1783080"/>
          </a:xfrm>
          <a:prstGeom prst="roundRect">
            <a:avLst>
              <a:gd name="adj" fmla="val 50000"/>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8680" y="3584448"/>
            <a:ext cx="4572000" cy="365760"/>
          </a:xfrm>
          <a:prstGeom prst="rect">
            <a:avLst/>
          </a:prstGeom>
          <a:noFill/>
        </p:spPr>
        <p:txBody>
          <a:bodyPr wrap="square" anchor="t" lIns="45720" rIns="45720" tIns="27432" bIns="27432">
            <a:spAutoFit/>
          </a:bodyPr>
          <a:lstStyle/>
          <a:p>
            <a:pPr algn="l">
              <a:lnSpc>
                <a:spcPct val="110000"/>
              </a:lnSpc>
              <a:defRPr sz="1600" b="1" i="0">
                <a:solidFill>
                  <a:srgbClr val="0F2A4A"/>
                </a:solidFill>
                <a:latin typeface="Calibri"/>
              </a:defRPr>
            </a:pPr>
            <a:r>
              <a:t>Bloque 2 · Roberth · 5 min</a:t>
            </a:r>
          </a:p>
        </p:txBody>
      </p:sp>
      <p:sp>
        <p:nvSpPr>
          <p:cNvPr id="28" name="Oval 27"/>
          <p:cNvSpPr/>
          <p:nvPr/>
        </p:nvSpPr>
        <p:spPr>
          <a:xfrm>
            <a:off x="868680" y="4069080"/>
            <a:ext cx="384048" cy="384048"/>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defRPr sz="1300" b="1">
                <a:solidFill>
                  <a:srgbClr val="FFFFFF"/>
                </a:solidFill>
                <a:latin typeface="Calibri"/>
              </a:defRPr>
            </a:pPr>
            <a:r>
              <a:t>1</a:t>
            </a:r>
          </a:p>
        </p:txBody>
      </p:sp>
      <p:sp>
        <p:nvSpPr>
          <p:cNvPr id="29" name="TextBox 28"/>
          <p:cNvSpPr txBox="1"/>
          <p:nvPr/>
        </p:nvSpPr>
        <p:spPr>
          <a:xfrm>
            <a:off x="1371600" y="4078224"/>
            <a:ext cx="2103120" cy="320040"/>
          </a:xfrm>
          <a:prstGeom prst="rect">
            <a:avLst/>
          </a:prstGeom>
          <a:noFill/>
        </p:spPr>
        <p:txBody>
          <a:bodyPr wrap="square" anchor="t" lIns="45720" rIns="45720" tIns="27432" bIns="27432">
            <a:spAutoFit/>
          </a:bodyPr>
          <a:lstStyle/>
          <a:p>
            <a:pPr algn="l">
              <a:lnSpc>
                <a:spcPct val="110000"/>
              </a:lnSpc>
              <a:defRPr sz="1400" b="1" i="0">
                <a:solidFill>
                  <a:srgbClr val="0F2A4A"/>
                </a:solidFill>
                <a:latin typeface="Calibri"/>
              </a:defRPr>
            </a:pPr>
            <a:r>
              <a:t>Implementación</a:t>
            </a:r>
          </a:p>
        </p:txBody>
      </p:sp>
      <p:sp>
        <p:nvSpPr>
          <p:cNvPr id="30" name="TextBox 29"/>
          <p:cNvSpPr txBox="1"/>
          <p:nvPr/>
        </p:nvSpPr>
        <p:spPr>
          <a:xfrm>
            <a:off x="1371600" y="4389120"/>
            <a:ext cx="2103120" cy="822960"/>
          </a:xfrm>
          <a:prstGeom prst="rect">
            <a:avLst/>
          </a:prstGeom>
          <a:noFill/>
        </p:spPr>
        <p:txBody>
          <a:bodyPr wrap="square" anchor="t" lIns="45720" rIns="45720" tIns="27432" bIns="27432">
            <a:spAutoFit/>
          </a:bodyPr>
          <a:lstStyle/>
          <a:p>
            <a:pPr algn="l">
              <a:lnSpc>
                <a:spcPct val="110000"/>
              </a:lnSpc>
              <a:defRPr sz="1000" b="0" i="0">
                <a:solidFill>
                  <a:srgbClr val="52514E"/>
                </a:solidFill>
                <a:latin typeface="Calibri"/>
              </a:defRPr>
            </a:pPr>
            <a:r>
              <a:t>Paquete reproducible, dos clasificadores, GPU</a:t>
            </a:r>
          </a:p>
        </p:txBody>
      </p:sp>
      <p:sp>
        <p:nvSpPr>
          <p:cNvPr id="31" name="Oval 30"/>
          <p:cNvSpPr/>
          <p:nvPr/>
        </p:nvSpPr>
        <p:spPr>
          <a:xfrm>
            <a:off x="3538728" y="4069080"/>
            <a:ext cx="384048" cy="384048"/>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defRPr sz="1300" b="1">
                <a:solidFill>
                  <a:srgbClr val="FFFFFF"/>
                </a:solidFill>
                <a:latin typeface="Calibri"/>
              </a:defRPr>
            </a:pPr>
            <a:r>
              <a:t>2</a:t>
            </a:r>
          </a:p>
        </p:txBody>
      </p:sp>
      <p:sp>
        <p:nvSpPr>
          <p:cNvPr id="32" name="TextBox 31"/>
          <p:cNvSpPr txBox="1"/>
          <p:nvPr/>
        </p:nvSpPr>
        <p:spPr>
          <a:xfrm>
            <a:off x="4041648" y="4078224"/>
            <a:ext cx="2103120" cy="320040"/>
          </a:xfrm>
          <a:prstGeom prst="rect">
            <a:avLst/>
          </a:prstGeom>
          <a:noFill/>
        </p:spPr>
        <p:txBody>
          <a:bodyPr wrap="square" anchor="t" lIns="45720" rIns="45720" tIns="27432" bIns="27432">
            <a:spAutoFit/>
          </a:bodyPr>
          <a:lstStyle/>
          <a:p>
            <a:pPr algn="l">
              <a:lnSpc>
                <a:spcPct val="110000"/>
              </a:lnSpc>
              <a:defRPr sz="1400" b="1" i="0">
                <a:solidFill>
                  <a:srgbClr val="0F2A4A"/>
                </a:solidFill>
                <a:latin typeface="Calibri"/>
              </a:defRPr>
            </a:pPr>
            <a:r>
              <a:t>Resultados</a:t>
            </a:r>
          </a:p>
        </p:txBody>
      </p:sp>
      <p:sp>
        <p:nvSpPr>
          <p:cNvPr id="33" name="TextBox 32"/>
          <p:cNvSpPr txBox="1"/>
          <p:nvPr/>
        </p:nvSpPr>
        <p:spPr>
          <a:xfrm>
            <a:off x="4041648" y="4389120"/>
            <a:ext cx="2103120" cy="822960"/>
          </a:xfrm>
          <a:prstGeom prst="rect">
            <a:avLst/>
          </a:prstGeom>
          <a:noFill/>
        </p:spPr>
        <p:txBody>
          <a:bodyPr wrap="square" anchor="t" lIns="45720" rIns="45720" tIns="27432" bIns="27432">
            <a:spAutoFit/>
          </a:bodyPr>
          <a:lstStyle/>
          <a:p>
            <a:pPr algn="l">
              <a:lnSpc>
                <a:spcPct val="110000"/>
              </a:lnSpc>
              <a:defRPr sz="1000" b="0" i="0">
                <a:solidFill>
                  <a:srgbClr val="52514E"/>
                </a:solidFill>
                <a:latin typeface="Calibri"/>
              </a:defRPr>
            </a:pPr>
            <a:r>
              <a:t>Cobertura por clase, tamaño, abstención, errores</a:t>
            </a:r>
          </a:p>
        </p:txBody>
      </p:sp>
      <p:sp>
        <p:nvSpPr>
          <p:cNvPr id="34" name="Oval 33"/>
          <p:cNvSpPr/>
          <p:nvPr/>
        </p:nvSpPr>
        <p:spPr>
          <a:xfrm>
            <a:off x="6208776" y="4069080"/>
            <a:ext cx="384048" cy="384048"/>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defRPr sz="1300" b="1">
                <a:solidFill>
                  <a:srgbClr val="FFFFFF"/>
                </a:solidFill>
                <a:latin typeface="Calibri"/>
              </a:defRPr>
            </a:pPr>
            <a:r>
              <a:t>3</a:t>
            </a:r>
          </a:p>
        </p:txBody>
      </p:sp>
      <p:sp>
        <p:nvSpPr>
          <p:cNvPr id="35" name="TextBox 34"/>
          <p:cNvSpPr txBox="1"/>
          <p:nvPr/>
        </p:nvSpPr>
        <p:spPr>
          <a:xfrm>
            <a:off x="6711696" y="4078224"/>
            <a:ext cx="2103120" cy="320040"/>
          </a:xfrm>
          <a:prstGeom prst="rect">
            <a:avLst/>
          </a:prstGeom>
          <a:noFill/>
        </p:spPr>
        <p:txBody>
          <a:bodyPr wrap="square" anchor="t" lIns="45720" rIns="45720" tIns="27432" bIns="27432">
            <a:spAutoFit/>
          </a:bodyPr>
          <a:lstStyle/>
          <a:p>
            <a:pPr algn="l">
              <a:lnSpc>
                <a:spcPct val="110000"/>
              </a:lnSpc>
              <a:defRPr sz="1400" b="1" i="0">
                <a:solidFill>
                  <a:srgbClr val="0F2A4A"/>
                </a:solidFill>
                <a:latin typeface="Calibri"/>
              </a:defRPr>
            </a:pPr>
            <a:r>
              <a:t>En planta</a:t>
            </a:r>
          </a:p>
        </p:txBody>
      </p:sp>
      <p:sp>
        <p:nvSpPr>
          <p:cNvPr id="36" name="TextBox 35"/>
          <p:cNvSpPr txBox="1"/>
          <p:nvPr/>
        </p:nvSpPr>
        <p:spPr>
          <a:xfrm>
            <a:off x="6711696" y="4389120"/>
            <a:ext cx="2103120" cy="822960"/>
          </a:xfrm>
          <a:prstGeom prst="rect">
            <a:avLst/>
          </a:prstGeom>
          <a:noFill/>
        </p:spPr>
        <p:txBody>
          <a:bodyPr wrap="square" anchor="t" lIns="45720" rIns="45720" tIns="27432" bIns="27432">
            <a:spAutoFit/>
          </a:bodyPr>
          <a:lstStyle/>
          <a:p>
            <a:pPr algn="l">
              <a:lnSpc>
                <a:spcPct val="110000"/>
              </a:lnSpc>
              <a:defRPr sz="1000" b="0" i="0">
                <a:solidFill>
                  <a:srgbClr val="52514E"/>
                </a:solidFill>
                <a:latin typeface="Calibri"/>
              </a:defRPr>
            </a:pPr>
            <a:r>
              <a:t>Cómo se repartirían 1 995 ciclos</a:t>
            </a:r>
          </a:p>
        </p:txBody>
      </p:sp>
      <p:sp>
        <p:nvSpPr>
          <p:cNvPr id="37" name="Oval 36"/>
          <p:cNvSpPr/>
          <p:nvPr/>
        </p:nvSpPr>
        <p:spPr>
          <a:xfrm>
            <a:off x="8878824" y="4069080"/>
            <a:ext cx="384048" cy="384048"/>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defRPr sz="1300" b="1">
                <a:solidFill>
                  <a:srgbClr val="FFFFFF"/>
                </a:solidFill>
                <a:latin typeface="Calibri"/>
              </a:defRPr>
            </a:pPr>
            <a:r>
              <a:t>4</a:t>
            </a:r>
          </a:p>
        </p:txBody>
      </p:sp>
      <p:sp>
        <p:nvSpPr>
          <p:cNvPr id="38" name="TextBox 37"/>
          <p:cNvSpPr txBox="1"/>
          <p:nvPr/>
        </p:nvSpPr>
        <p:spPr>
          <a:xfrm>
            <a:off x="9381744" y="4078224"/>
            <a:ext cx="2103120" cy="320040"/>
          </a:xfrm>
          <a:prstGeom prst="rect">
            <a:avLst/>
          </a:prstGeom>
          <a:noFill/>
        </p:spPr>
        <p:txBody>
          <a:bodyPr wrap="square" anchor="t" lIns="45720" rIns="45720" tIns="27432" bIns="27432">
            <a:spAutoFit/>
          </a:bodyPr>
          <a:lstStyle/>
          <a:p>
            <a:pPr algn="l">
              <a:lnSpc>
                <a:spcPct val="110000"/>
              </a:lnSpc>
              <a:defRPr sz="1400" b="1" i="0">
                <a:solidFill>
                  <a:srgbClr val="0F2A4A"/>
                </a:solidFill>
                <a:latin typeface="Calibri"/>
              </a:defRPr>
            </a:pPr>
            <a:r>
              <a:t>Conclusiones</a:t>
            </a:r>
          </a:p>
        </p:txBody>
      </p:sp>
      <p:sp>
        <p:nvSpPr>
          <p:cNvPr id="39" name="TextBox 38"/>
          <p:cNvSpPr txBox="1"/>
          <p:nvPr/>
        </p:nvSpPr>
        <p:spPr>
          <a:xfrm>
            <a:off x="9381744" y="4389120"/>
            <a:ext cx="2103120" cy="822960"/>
          </a:xfrm>
          <a:prstGeom prst="rect">
            <a:avLst/>
          </a:prstGeom>
          <a:noFill/>
        </p:spPr>
        <p:txBody>
          <a:bodyPr wrap="square" anchor="t" lIns="45720" rIns="45720" tIns="27432" bIns="27432">
            <a:spAutoFit/>
          </a:bodyPr>
          <a:lstStyle/>
          <a:p>
            <a:pPr algn="l">
              <a:lnSpc>
                <a:spcPct val="110000"/>
              </a:lnSpc>
              <a:defRPr sz="1000" b="0" i="0">
                <a:solidFill>
                  <a:srgbClr val="52514E"/>
                </a:solidFill>
                <a:latin typeface="Calibri"/>
              </a:defRPr>
            </a:pPr>
            <a:r>
              <a:t>Qué se sostiene y qué recomendamos</a:t>
            </a:r>
          </a:p>
        </p:txBody>
      </p:sp>
      <p:sp>
        <p:nvSpPr>
          <p:cNvPr id="40" name="Rounded Rectangle 39"/>
          <p:cNvSpPr/>
          <p:nvPr/>
        </p:nvSpPr>
        <p:spPr>
          <a:xfrm>
            <a:off x="640080" y="5623560"/>
            <a:ext cx="10881360" cy="777240"/>
          </a:xfrm>
          <a:prstGeom prst="roundRect">
            <a:avLst>
              <a:gd name="adj" fmla="val 6000"/>
            </a:avLst>
          </a:prstGeom>
          <a:solidFill>
            <a:srgbClr val="DC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68680" y="5705856"/>
            <a:ext cx="10515600" cy="640080"/>
          </a:xfrm>
          <a:prstGeom prst="rect">
            <a:avLst/>
          </a:prstGeom>
          <a:noFill/>
        </p:spPr>
        <p:txBody>
          <a:bodyPr wrap="square" anchor="t" lIns="45720" rIns="45720" tIns="27432" bIns="27432">
            <a:spAutoFit/>
          </a:bodyPr>
          <a:lstStyle/>
          <a:p>
            <a:pPr algn="l">
              <a:lnSpc>
                <a:spcPct val="110000"/>
              </a:lnSpc>
              <a:defRPr sz="1100" b="0" i="0">
                <a:solidFill>
                  <a:srgbClr val="0B0B0B"/>
                </a:solidFill>
                <a:latin typeface="Calibri"/>
              </a:defRPr>
            </a:pPr>
            <a:r>
              <a:t>Quince diapositivas de apéndice quedan como respaldo para preguntas: métricas completas, cobertura por clase, umbrales, objetivos de la propuesta,</a:t>
            </a:r>
          </a:p>
          <a:p>
            <a:pPr algn="l">
              <a:lnSpc>
                <a:spcPct val="110000"/>
              </a:lnSpc>
              <a:defRPr sz="1100" b="0" i="0">
                <a:solidFill>
                  <a:srgbClr val="0B0B0B"/>
                </a:solidFill>
                <a:latin typeface="Calibri"/>
              </a:defRPr>
            </a:pPr>
            <a:r>
              <a:t>particiones, split frente a Mondrian, los dos modelos, benchmark CPU/GPU, hipótesis, conceptos del curso, recomendaciones, mapa de la rúbrica y referencias.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1170432"/>
            <a:ext cx="548640" cy="45720"/>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7315200" cy="274320"/>
          </a:xfrm>
          <a:prstGeom prst="rect">
            <a:avLst/>
          </a:prstGeom>
          <a:noFill/>
        </p:spPr>
        <p:txBody>
          <a:bodyPr wrap="square" anchor="t" lIns="45720" rIns="45720" tIns="27432" bIns="27432">
            <a:spAutoFit/>
          </a:bodyPr>
          <a:lstStyle/>
          <a:p>
            <a:pPr algn="l">
              <a:lnSpc>
                <a:spcPct val="110000"/>
              </a:lnSpc>
              <a:defRPr sz="1100" b="1" i="0">
                <a:solidFill>
                  <a:srgbClr val="EB6834"/>
                </a:solidFill>
                <a:latin typeface="Calibri"/>
              </a:defRPr>
            </a:pPr>
            <a:r>
              <a:t>1 · PROBLEMA</a:t>
            </a:r>
          </a:p>
        </p:txBody>
      </p:sp>
      <p:sp>
        <p:nvSpPr>
          <p:cNvPr id="5" name="TextBox 4"/>
          <p:cNvSpPr txBox="1"/>
          <p:nvPr/>
        </p:nvSpPr>
        <p:spPr>
          <a:xfrm>
            <a:off x="640080" y="566928"/>
            <a:ext cx="10058400" cy="640080"/>
          </a:xfrm>
          <a:prstGeom prst="rect">
            <a:avLst/>
          </a:prstGeom>
          <a:noFill/>
        </p:spPr>
        <p:txBody>
          <a:bodyPr wrap="square" anchor="t" lIns="45720" rIns="45720" tIns="27432" bIns="27432">
            <a:spAutoFit/>
          </a:bodyPr>
          <a:lstStyle/>
          <a:p>
            <a:pPr algn="l">
              <a:lnSpc>
                <a:spcPct val="110000"/>
              </a:lnSpc>
              <a:defRPr sz="2400" b="1" i="0">
                <a:solidFill>
                  <a:srgbClr val="0F2A4A"/>
                </a:solidFill>
                <a:latin typeface="Calibri"/>
              </a:defRPr>
            </a:pPr>
            <a:r>
              <a:t>Equivocarse cuesta distinto según la dirección del error</a:t>
            </a:r>
          </a:p>
        </p:txBody>
      </p:sp>
      <p:sp>
        <p:nvSpPr>
          <p:cNvPr id="6" name="TextBox 5"/>
          <p:cNvSpPr txBox="1"/>
          <p:nvPr/>
        </p:nvSpPr>
        <p:spPr>
          <a:xfrm>
            <a:off x="10881360" y="411480"/>
            <a:ext cx="731520" cy="274320"/>
          </a:xfrm>
          <a:prstGeom prst="rect">
            <a:avLst/>
          </a:prstGeom>
          <a:noFill/>
        </p:spPr>
        <p:txBody>
          <a:bodyPr wrap="square" anchor="t" lIns="45720" rIns="45720" tIns="27432" bIns="27432">
            <a:spAutoFit/>
          </a:bodyPr>
          <a:lstStyle/>
          <a:p>
            <a:pPr algn="r">
              <a:lnSpc>
                <a:spcPct val="110000"/>
              </a:lnSpc>
              <a:defRPr sz="1000" b="0" i="0">
                <a:solidFill>
                  <a:srgbClr val="898781"/>
                </a:solidFill>
                <a:latin typeface="Calibri"/>
              </a:defRPr>
            </a:pPr>
            <a:r>
              <a:t>0.75 min</a:t>
            </a:r>
          </a:p>
        </p:txBody>
      </p:sp>
      <p:sp>
        <p:nvSpPr>
          <p:cNvPr id="7" name="Rectangle 6"/>
          <p:cNvSpPr/>
          <p:nvPr/>
        </p:nvSpPr>
        <p:spPr>
          <a:xfrm>
            <a:off x="0" y="6537960"/>
            <a:ext cx="12191695" cy="320040"/>
          </a:xfrm>
          <a:prstGeom prst="rect">
            <a:avLst/>
          </a:prstGeom>
          <a:solidFill>
            <a:srgbClr val="0F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574536"/>
            <a:ext cx="7315200" cy="256032"/>
          </a:xfrm>
          <a:prstGeom prst="rect">
            <a:avLst/>
          </a:prstGeom>
          <a:noFill/>
        </p:spPr>
        <p:txBody>
          <a:bodyPr wrap="square" anchor="t" lIns="45720" rIns="45720" tIns="27432" bIns="27432">
            <a:spAutoFit/>
          </a:bodyPr>
          <a:lstStyle/>
          <a:p>
            <a:pPr algn="l">
              <a:lnSpc>
                <a:spcPct val="110000"/>
              </a:lnSpc>
              <a:defRPr sz="900" b="0" i="0">
                <a:solidFill>
                  <a:srgbClr val="C9D6E8"/>
                </a:solidFill>
                <a:latin typeface="Calibri"/>
              </a:defRPr>
            </a:pPr>
            <a:r>
              <a:t>Predicción conforme y abstención selectiva · AI4I 2020</a:t>
            </a:r>
          </a:p>
        </p:txBody>
      </p:sp>
      <p:sp>
        <p:nvSpPr>
          <p:cNvPr id="9" name="TextBox 8"/>
          <p:cNvSpPr txBox="1"/>
          <p:nvPr/>
        </p:nvSpPr>
        <p:spPr>
          <a:xfrm>
            <a:off x="11155680" y="6574536"/>
            <a:ext cx="457200" cy="256032"/>
          </a:xfrm>
          <a:prstGeom prst="rect">
            <a:avLst/>
          </a:prstGeom>
          <a:noFill/>
        </p:spPr>
        <p:txBody>
          <a:bodyPr wrap="square" anchor="t" lIns="45720" rIns="45720" tIns="27432" bIns="27432">
            <a:spAutoFit/>
          </a:bodyPr>
          <a:lstStyle/>
          <a:p>
            <a:pPr algn="r">
              <a:lnSpc>
                <a:spcPct val="110000"/>
              </a:lnSpc>
              <a:defRPr sz="900" b="0" i="0">
                <a:solidFill>
                  <a:srgbClr val="C9D6E8"/>
                </a:solidFill>
                <a:latin typeface="Calibri"/>
              </a:defRPr>
            </a:pPr>
            <a:r>
              <a:t>3</a:t>
            </a:r>
          </a:p>
        </p:txBody>
      </p:sp>
      <p:sp>
        <p:nvSpPr>
          <p:cNvPr id="10" name="Rounded Rectangle 9"/>
          <p:cNvSpPr/>
          <p:nvPr/>
        </p:nvSpPr>
        <p:spPr>
          <a:xfrm>
            <a:off x="10314432" y="713232"/>
            <a:ext cx="1188720" cy="274320"/>
          </a:xfrm>
          <a:prstGeom prst="roundRect">
            <a:avLst>
              <a:gd name="adj" fmla="val 30000"/>
            </a:avLst>
          </a:prstGeom>
          <a:solidFill>
            <a:srgbClr val="DC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14432" y="740664"/>
            <a:ext cx="1188720" cy="237744"/>
          </a:xfrm>
          <a:prstGeom prst="rect">
            <a:avLst/>
          </a:prstGeom>
          <a:noFill/>
        </p:spPr>
        <p:txBody>
          <a:bodyPr wrap="square" anchor="t" lIns="45720" rIns="45720" tIns="27432" bIns="27432">
            <a:spAutoFit/>
          </a:bodyPr>
          <a:lstStyle/>
          <a:p>
            <a:pPr algn="ctr">
              <a:lnSpc>
                <a:spcPct val="110000"/>
              </a:lnSpc>
              <a:defRPr sz="900" b="1" i="0">
                <a:solidFill>
                  <a:srgbClr val="1C5CAB"/>
                </a:solidFill>
                <a:latin typeface="Calibri"/>
              </a:defRPr>
            </a:pPr>
            <a:r>
              <a:t>Jaime</a:t>
            </a:r>
          </a:p>
        </p:txBody>
      </p:sp>
      <p:sp>
        <p:nvSpPr>
          <p:cNvPr id="12" name="Rounded Rectangle 11"/>
          <p:cNvSpPr/>
          <p:nvPr/>
        </p:nvSpPr>
        <p:spPr>
          <a:xfrm>
            <a:off x="640080" y="1463040"/>
            <a:ext cx="3520440" cy="1600200"/>
          </a:xfrm>
          <a:prstGeom prst="roundRect">
            <a:avLst>
              <a:gd name="adj" fmla="val 6000"/>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40080" y="1463040"/>
            <a:ext cx="82296" cy="1600200"/>
          </a:xfrm>
          <a:prstGeom prst="roundRect">
            <a:avLst>
              <a:gd name="adj" fmla="val 50000"/>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1554480"/>
            <a:ext cx="3246120" cy="411480"/>
          </a:xfrm>
          <a:prstGeom prst="rect">
            <a:avLst/>
          </a:prstGeom>
          <a:noFill/>
        </p:spPr>
        <p:txBody>
          <a:bodyPr wrap="square" anchor="t" lIns="45720" rIns="45720" tIns="27432" bIns="27432">
            <a:spAutoFit/>
          </a:bodyPr>
          <a:lstStyle/>
          <a:p>
            <a:pPr algn="l">
              <a:lnSpc>
                <a:spcPct val="110000"/>
              </a:lnSpc>
              <a:defRPr sz="1500" b="1" i="0">
                <a:solidFill>
                  <a:srgbClr val="0B0B0B"/>
                </a:solidFill>
                <a:latin typeface="Calibri"/>
              </a:defRPr>
            </a:pPr>
            <a:r>
              <a:t>Detener sin motivo</a:t>
            </a:r>
          </a:p>
        </p:txBody>
      </p:sp>
      <p:sp>
        <p:nvSpPr>
          <p:cNvPr id="15" name="TextBox 14"/>
          <p:cNvSpPr txBox="1"/>
          <p:nvPr/>
        </p:nvSpPr>
        <p:spPr>
          <a:xfrm>
            <a:off x="822959" y="1965960"/>
            <a:ext cx="3246120" cy="1051560"/>
          </a:xfrm>
          <a:prstGeom prst="rect">
            <a:avLst/>
          </a:prstGeom>
          <a:noFill/>
        </p:spPr>
        <p:txBody>
          <a:bodyPr wrap="square" anchor="t" lIns="45720" rIns="45720" tIns="27432" bIns="27432">
            <a:spAutoFit/>
          </a:bodyPr>
          <a:lstStyle/>
          <a:p>
            <a:pPr algn="l">
              <a:lnSpc>
                <a:spcPct val="110000"/>
              </a:lnSpc>
              <a:defRPr sz="1200" b="0" i="0">
                <a:solidFill>
                  <a:srgbClr val="52514E"/>
                </a:solidFill>
                <a:latin typeface="Calibri"/>
              </a:defRPr>
            </a:pPr>
            <a:r>
              <a:t>Parar la línea por una falsa alarma cuesta producción y confianza en el sistema.</a:t>
            </a:r>
          </a:p>
        </p:txBody>
      </p:sp>
      <p:sp>
        <p:nvSpPr>
          <p:cNvPr id="16" name="Rounded Rectangle 15"/>
          <p:cNvSpPr/>
          <p:nvPr/>
        </p:nvSpPr>
        <p:spPr>
          <a:xfrm>
            <a:off x="4297680" y="1463040"/>
            <a:ext cx="3520440" cy="1600200"/>
          </a:xfrm>
          <a:prstGeom prst="roundRect">
            <a:avLst>
              <a:gd name="adj" fmla="val 6000"/>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297680" y="1463040"/>
            <a:ext cx="82296" cy="1600200"/>
          </a:xfrm>
          <a:prstGeom prst="roundRect">
            <a:avLst>
              <a:gd name="adj" fmla="val 50000"/>
            </a:avLst>
          </a:prstGeom>
          <a:solidFill>
            <a:srgbClr val="1C5C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80560" y="1554480"/>
            <a:ext cx="3246120" cy="411480"/>
          </a:xfrm>
          <a:prstGeom prst="rect">
            <a:avLst/>
          </a:prstGeom>
          <a:noFill/>
        </p:spPr>
        <p:txBody>
          <a:bodyPr wrap="square" anchor="t" lIns="45720" rIns="45720" tIns="27432" bIns="27432">
            <a:spAutoFit/>
          </a:bodyPr>
          <a:lstStyle/>
          <a:p>
            <a:pPr algn="l">
              <a:lnSpc>
                <a:spcPct val="110000"/>
              </a:lnSpc>
              <a:defRPr sz="1500" b="1" i="0">
                <a:solidFill>
                  <a:srgbClr val="0B0B0B"/>
                </a:solidFill>
                <a:latin typeface="Calibri"/>
              </a:defRPr>
            </a:pPr>
            <a:r>
              <a:t>No detectar una falla</a:t>
            </a:r>
          </a:p>
        </p:txBody>
      </p:sp>
      <p:sp>
        <p:nvSpPr>
          <p:cNvPr id="19" name="TextBox 18"/>
          <p:cNvSpPr txBox="1"/>
          <p:nvPr/>
        </p:nvSpPr>
        <p:spPr>
          <a:xfrm>
            <a:off x="4480560" y="1965960"/>
            <a:ext cx="3246120" cy="1051560"/>
          </a:xfrm>
          <a:prstGeom prst="rect">
            <a:avLst/>
          </a:prstGeom>
          <a:noFill/>
        </p:spPr>
        <p:txBody>
          <a:bodyPr wrap="square" anchor="t" lIns="45720" rIns="45720" tIns="27432" bIns="27432">
            <a:spAutoFit/>
          </a:bodyPr>
          <a:lstStyle/>
          <a:p>
            <a:pPr algn="l">
              <a:lnSpc>
                <a:spcPct val="110000"/>
              </a:lnSpc>
              <a:defRPr sz="1200" b="0" i="0">
                <a:solidFill>
                  <a:srgbClr val="52514E"/>
                </a:solidFill>
                <a:latin typeface="Calibri"/>
              </a:defRPr>
            </a:pPr>
            <a:r>
              <a:t>Una falla inminente que pasa como operación normal es el error más caro: daño y parada no planificada.</a:t>
            </a:r>
          </a:p>
        </p:txBody>
      </p:sp>
      <p:sp>
        <p:nvSpPr>
          <p:cNvPr id="20" name="Rounded Rectangle 19"/>
          <p:cNvSpPr/>
          <p:nvPr/>
        </p:nvSpPr>
        <p:spPr>
          <a:xfrm>
            <a:off x="7955279" y="1463040"/>
            <a:ext cx="3520440" cy="1600200"/>
          </a:xfrm>
          <a:prstGeom prst="roundRect">
            <a:avLst>
              <a:gd name="adj" fmla="val 6000"/>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955279" y="1463040"/>
            <a:ext cx="82296" cy="1600200"/>
          </a:xfrm>
          <a:prstGeom prst="roundRect">
            <a:avLst>
              <a:gd name="adj" fmla="val 50000"/>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38159" y="1554480"/>
            <a:ext cx="3246120" cy="411480"/>
          </a:xfrm>
          <a:prstGeom prst="rect">
            <a:avLst/>
          </a:prstGeom>
          <a:noFill/>
        </p:spPr>
        <p:txBody>
          <a:bodyPr wrap="square" anchor="t" lIns="45720" rIns="45720" tIns="27432" bIns="27432">
            <a:spAutoFit/>
          </a:bodyPr>
          <a:lstStyle/>
          <a:p>
            <a:pPr algn="l">
              <a:lnSpc>
                <a:spcPct val="110000"/>
              </a:lnSpc>
              <a:defRPr sz="1500" b="1" i="0">
                <a:solidFill>
                  <a:srgbClr val="0B0B0B"/>
                </a:solidFill>
                <a:latin typeface="Calibri"/>
              </a:defRPr>
            </a:pPr>
            <a:r>
              <a:t>Confundir el modo</a:t>
            </a:r>
          </a:p>
        </p:txBody>
      </p:sp>
      <p:sp>
        <p:nvSpPr>
          <p:cNvPr id="23" name="TextBox 22"/>
          <p:cNvSpPr txBox="1"/>
          <p:nvPr/>
        </p:nvSpPr>
        <p:spPr>
          <a:xfrm>
            <a:off x="8138159" y="1965960"/>
            <a:ext cx="3246120" cy="1051560"/>
          </a:xfrm>
          <a:prstGeom prst="rect">
            <a:avLst/>
          </a:prstGeom>
          <a:noFill/>
        </p:spPr>
        <p:txBody>
          <a:bodyPr wrap="square" anchor="t" lIns="45720" rIns="45720" tIns="27432" bIns="27432">
            <a:spAutoFit/>
          </a:bodyPr>
          <a:lstStyle/>
          <a:p>
            <a:pPr algn="l">
              <a:lnSpc>
                <a:spcPct val="110000"/>
              </a:lnSpc>
              <a:defRPr sz="1200" b="0" i="0">
                <a:solidFill>
                  <a:srgbClr val="52514E"/>
                </a:solidFill>
                <a:latin typeface="Calibri"/>
              </a:defRPr>
            </a:pPr>
            <a:r>
              <a:t>Diagnosticar desgaste cuando es sobreesfuerzo envía al técnico equivocado con la herramienta equivocada.</a:t>
            </a:r>
          </a:p>
        </p:txBody>
      </p:sp>
      <p:sp>
        <p:nvSpPr>
          <p:cNvPr id="24" name="Rectangle 23"/>
          <p:cNvSpPr/>
          <p:nvPr/>
        </p:nvSpPr>
        <p:spPr>
          <a:xfrm>
            <a:off x="640080" y="3337560"/>
            <a:ext cx="10881360" cy="36576"/>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3566160"/>
            <a:ext cx="2377440" cy="640080"/>
          </a:xfrm>
          <a:prstGeom prst="rect">
            <a:avLst/>
          </a:prstGeom>
          <a:noFill/>
        </p:spPr>
        <p:txBody>
          <a:bodyPr wrap="square" anchor="t" lIns="45720" rIns="45720" tIns="27432" bIns="27432">
            <a:spAutoFit/>
          </a:bodyPr>
          <a:lstStyle/>
          <a:p>
            <a:pPr algn="l">
              <a:lnSpc>
                <a:spcPct val="110000"/>
              </a:lnSpc>
              <a:defRPr sz="3400" b="1" i="0">
                <a:solidFill>
                  <a:srgbClr val="EB6834"/>
                </a:solidFill>
                <a:latin typeface="Calibri"/>
              </a:defRPr>
            </a:pPr>
            <a:r>
              <a:t>96.7 %</a:t>
            </a:r>
          </a:p>
        </p:txBody>
      </p:sp>
      <p:sp>
        <p:nvSpPr>
          <p:cNvPr id="26" name="TextBox 25"/>
          <p:cNvSpPr txBox="1"/>
          <p:nvPr/>
        </p:nvSpPr>
        <p:spPr>
          <a:xfrm>
            <a:off x="731520" y="4187952"/>
            <a:ext cx="2377440" cy="457200"/>
          </a:xfrm>
          <a:prstGeom prst="rect">
            <a:avLst/>
          </a:prstGeom>
          <a:noFill/>
        </p:spPr>
        <p:txBody>
          <a:bodyPr wrap="square" anchor="t" lIns="45720" rIns="45720" tIns="27432" bIns="27432">
            <a:spAutoFit/>
          </a:bodyPr>
          <a:lstStyle/>
          <a:p>
            <a:pPr algn="l">
              <a:lnSpc>
                <a:spcPct val="110000"/>
              </a:lnSpc>
              <a:defRPr sz="1200" b="0" i="0">
                <a:solidFill>
                  <a:srgbClr val="52514E"/>
                </a:solidFill>
                <a:latin typeface="Calibri"/>
              </a:defRPr>
            </a:pPr>
            <a:r>
              <a:t>de los ciclos son normales: el desbalance es el régimen del problema</a:t>
            </a:r>
          </a:p>
        </p:txBody>
      </p:sp>
      <p:sp>
        <p:nvSpPr>
          <p:cNvPr id="27" name="TextBox 26"/>
          <p:cNvSpPr txBox="1"/>
          <p:nvPr/>
        </p:nvSpPr>
        <p:spPr>
          <a:xfrm>
            <a:off x="3383280" y="3520440"/>
            <a:ext cx="8138160" cy="2377440"/>
          </a:xfrm>
          <a:prstGeom prst="rect">
            <a:avLst/>
          </a:prstGeom>
          <a:noFill/>
        </p:spPr>
        <p:txBody>
          <a:bodyPr wrap="square" anchor="t" lIns="45720" rIns="45720" tIns="27432" bIns="27432">
            <a:spAutoFit/>
          </a:bodyPr>
          <a:lstStyle/>
          <a:p>
            <a:pPr algn="l">
              <a:lnSpc>
                <a:spcPct val="125000"/>
              </a:lnSpc>
              <a:defRPr sz="1500" b="0" i="0">
                <a:solidFill>
                  <a:srgbClr val="0B0B0B"/>
                </a:solidFill>
                <a:latin typeface="Calibri"/>
              </a:defRPr>
            </a:pPr>
            <a:r>
              <a:t>Un clasificador convencional siempre responde la clase más probable y no distingue cuándo esa respuesta es confiable.</a:t>
            </a:r>
          </a:p>
          <a:p>
            <a:pPr algn="l">
              <a:lnSpc>
                <a:spcPct val="125000"/>
              </a:lnSpc>
              <a:defRPr sz="1500" b="0" i="0">
                <a:solidFill>
                  <a:srgbClr val="0B0B0B"/>
                </a:solidFill>
                <a:latin typeface="Calibri"/>
              </a:defRPr>
            </a:pPr>
            <a:r>
              <a:t>La probabilidad que reporta es una salida del propio modelo, no una garantía. Con desbalance severo es optimista justo en las fallas.</a:t>
            </a:r>
          </a:p>
          <a:p>
            <a:pPr algn="l">
              <a:lnSpc>
                <a:spcPct val="125000"/>
              </a:lnSpc>
              <a:defRPr sz="1500" b="0" i="0">
                <a:solidFill>
                  <a:srgbClr val="0B0B0B"/>
                </a:solidFill>
                <a:latin typeface="Calibri"/>
              </a:defRPr>
            </a:pPr>
            <a:r>
              <a:t>Lo que hace falta: convertir la incertidumbre en una decisión operativa que sepa cuándo abstenerse.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1170432"/>
            <a:ext cx="548640" cy="45720"/>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7315200" cy="274320"/>
          </a:xfrm>
          <a:prstGeom prst="rect">
            <a:avLst/>
          </a:prstGeom>
          <a:noFill/>
        </p:spPr>
        <p:txBody>
          <a:bodyPr wrap="square" anchor="t" lIns="45720" rIns="45720" tIns="27432" bIns="27432">
            <a:spAutoFit/>
          </a:bodyPr>
          <a:lstStyle/>
          <a:p>
            <a:pPr algn="l">
              <a:lnSpc>
                <a:spcPct val="110000"/>
              </a:lnSpc>
              <a:defRPr sz="1100" b="1" i="0">
                <a:solidFill>
                  <a:srgbClr val="EB6834"/>
                </a:solidFill>
                <a:latin typeface="Calibri"/>
              </a:defRPr>
            </a:pPr>
            <a:r>
              <a:t>1 · IDEA CENTRAL</a:t>
            </a:r>
          </a:p>
        </p:txBody>
      </p:sp>
      <p:sp>
        <p:nvSpPr>
          <p:cNvPr id="5" name="TextBox 4"/>
          <p:cNvSpPr txBox="1"/>
          <p:nvPr/>
        </p:nvSpPr>
        <p:spPr>
          <a:xfrm>
            <a:off x="640080" y="566928"/>
            <a:ext cx="10058400" cy="640080"/>
          </a:xfrm>
          <a:prstGeom prst="rect">
            <a:avLst/>
          </a:prstGeom>
          <a:noFill/>
        </p:spPr>
        <p:txBody>
          <a:bodyPr wrap="square" anchor="t" lIns="45720" rIns="45720" tIns="27432" bIns="27432">
            <a:spAutoFit/>
          </a:bodyPr>
          <a:lstStyle/>
          <a:p>
            <a:pPr algn="l">
              <a:lnSpc>
                <a:spcPct val="110000"/>
              </a:lnSpc>
              <a:defRPr sz="2400" b="1" i="0">
                <a:solidFill>
                  <a:srgbClr val="0F2A4A"/>
                </a:solidFill>
                <a:latin typeface="Calibri"/>
              </a:defRPr>
            </a:pPr>
            <a:r>
              <a:t>La política de tres vías: el tamaño del conjunto decide quién actúa</a:t>
            </a:r>
          </a:p>
        </p:txBody>
      </p:sp>
      <p:sp>
        <p:nvSpPr>
          <p:cNvPr id="6" name="TextBox 5"/>
          <p:cNvSpPr txBox="1"/>
          <p:nvPr/>
        </p:nvSpPr>
        <p:spPr>
          <a:xfrm>
            <a:off x="10881360" y="411480"/>
            <a:ext cx="731520" cy="274320"/>
          </a:xfrm>
          <a:prstGeom prst="rect">
            <a:avLst/>
          </a:prstGeom>
          <a:noFill/>
        </p:spPr>
        <p:txBody>
          <a:bodyPr wrap="square" anchor="t" lIns="45720" rIns="45720" tIns="27432" bIns="27432">
            <a:spAutoFit/>
          </a:bodyPr>
          <a:lstStyle/>
          <a:p>
            <a:pPr algn="r">
              <a:lnSpc>
                <a:spcPct val="110000"/>
              </a:lnSpc>
              <a:defRPr sz="1000" b="0" i="0">
                <a:solidFill>
                  <a:srgbClr val="898781"/>
                </a:solidFill>
                <a:latin typeface="Calibri"/>
              </a:defRPr>
            </a:pPr>
            <a:r>
              <a:t>1 min</a:t>
            </a:r>
          </a:p>
        </p:txBody>
      </p:sp>
      <p:sp>
        <p:nvSpPr>
          <p:cNvPr id="7" name="Rectangle 6"/>
          <p:cNvSpPr/>
          <p:nvPr/>
        </p:nvSpPr>
        <p:spPr>
          <a:xfrm>
            <a:off x="0" y="6537960"/>
            <a:ext cx="12191695" cy="320040"/>
          </a:xfrm>
          <a:prstGeom prst="rect">
            <a:avLst/>
          </a:prstGeom>
          <a:solidFill>
            <a:srgbClr val="0F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574536"/>
            <a:ext cx="7315200" cy="256032"/>
          </a:xfrm>
          <a:prstGeom prst="rect">
            <a:avLst/>
          </a:prstGeom>
          <a:noFill/>
        </p:spPr>
        <p:txBody>
          <a:bodyPr wrap="square" anchor="t" lIns="45720" rIns="45720" tIns="27432" bIns="27432">
            <a:spAutoFit/>
          </a:bodyPr>
          <a:lstStyle/>
          <a:p>
            <a:pPr algn="l">
              <a:lnSpc>
                <a:spcPct val="110000"/>
              </a:lnSpc>
              <a:defRPr sz="900" b="0" i="0">
                <a:solidFill>
                  <a:srgbClr val="C9D6E8"/>
                </a:solidFill>
                <a:latin typeface="Calibri"/>
              </a:defRPr>
            </a:pPr>
            <a:r>
              <a:t>Predicción conforme y abstención selectiva · AI4I 2020</a:t>
            </a:r>
          </a:p>
        </p:txBody>
      </p:sp>
      <p:sp>
        <p:nvSpPr>
          <p:cNvPr id="9" name="TextBox 8"/>
          <p:cNvSpPr txBox="1"/>
          <p:nvPr/>
        </p:nvSpPr>
        <p:spPr>
          <a:xfrm>
            <a:off x="11155680" y="6574536"/>
            <a:ext cx="457200" cy="256032"/>
          </a:xfrm>
          <a:prstGeom prst="rect">
            <a:avLst/>
          </a:prstGeom>
          <a:noFill/>
        </p:spPr>
        <p:txBody>
          <a:bodyPr wrap="square" anchor="t" lIns="45720" rIns="45720" tIns="27432" bIns="27432">
            <a:spAutoFit/>
          </a:bodyPr>
          <a:lstStyle/>
          <a:p>
            <a:pPr algn="r">
              <a:lnSpc>
                <a:spcPct val="110000"/>
              </a:lnSpc>
              <a:defRPr sz="900" b="0" i="0">
                <a:solidFill>
                  <a:srgbClr val="C9D6E8"/>
                </a:solidFill>
                <a:latin typeface="Calibri"/>
              </a:defRPr>
            </a:pPr>
            <a:r>
              <a:t>4</a:t>
            </a:r>
          </a:p>
        </p:txBody>
      </p:sp>
      <p:sp>
        <p:nvSpPr>
          <p:cNvPr id="10" name="Rounded Rectangle 9"/>
          <p:cNvSpPr/>
          <p:nvPr/>
        </p:nvSpPr>
        <p:spPr>
          <a:xfrm>
            <a:off x="10314432" y="713232"/>
            <a:ext cx="1188720" cy="274320"/>
          </a:xfrm>
          <a:prstGeom prst="roundRect">
            <a:avLst>
              <a:gd name="adj" fmla="val 30000"/>
            </a:avLst>
          </a:prstGeom>
          <a:solidFill>
            <a:srgbClr val="DC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14432" y="740664"/>
            <a:ext cx="1188720" cy="237744"/>
          </a:xfrm>
          <a:prstGeom prst="rect">
            <a:avLst/>
          </a:prstGeom>
          <a:noFill/>
        </p:spPr>
        <p:txBody>
          <a:bodyPr wrap="square" anchor="t" lIns="45720" rIns="45720" tIns="27432" bIns="27432">
            <a:spAutoFit/>
          </a:bodyPr>
          <a:lstStyle/>
          <a:p>
            <a:pPr algn="ctr">
              <a:lnSpc>
                <a:spcPct val="110000"/>
              </a:lnSpc>
              <a:defRPr sz="900" b="1" i="0">
                <a:solidFill>
                  <a:srgbClr val="1C5CAB"/>
                </a:solidFill>
                <a:latin typeface="Calibri"/>
              </a:defRPr>
            </a:pPr>
            <a:r>
              <a:t>Jaime</a:t>
            </a:r>
          </a:p>
        </p:txBody>
      </p:sp>
      <p:sp>
        <p:nvSpPr>
          <p:cNvPr id="12" name="Rounded Rectangle 11"/>
          <p:cNvSpPr/>
          <p:nvPr/>
        </p:nvSpPr>
        <p:spPr>
          <a:xfrm>
            <a:off x="640080" y="2103120"/>
            <a:ext cx="2377440" cy="1371600"/>
          </a:xfrm>
          <a:prstGeom prst="roundRect">
            <a:avLst>
              <a:gd name="adj" fmla="val 8000"/>
            </a:avLst>
          </a:prstGeom>
          <a:solidFill>
            <a:srgbClr val="0F2A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defRPr sz="1400" b="1">
                <a:solidFill>
                  <a:srgbClr val="FFFFFF"/>
                </a:solidFill>
                <a:latin typeface="Calibri"/>
              </a:defRPr>
            </a:pPr>
            <a:r>
              <a:t>Conjunto de predicción C(x)</a:t>
            </a:r>
          </a:p>
          <a:p>
            <a:pPr algn="ctr">
              <a:defRPr sz="1100" b="0">
                <a:solidFill>
                  <a:srgbClr val="FFFFFF"/>
                </a:solidFill>
                <a:latin typeface="Calibri"/>
              </a:defRPr>
            </a:pPr>
            <a:r>
              <a:t>clases que el modelo no puede descartar con confianza 1 − α</a:t>
            </a:r>
          </a:p>
        </p:txBody>
      </p:sp>
      <p:cxnSp>
        <p:nvCxnSpPr>
          <p:cNvPr id="13" name="Connector 12"/>
          <p:cNvCxnSpPr/>
          <p:nvPr/>
        </p:nvCxnSpPr>
        <p:spPr>
          <a:xfrm flipV="1">
            <a:off x="3017520" y="1965960"/>
            <a:ext cx="1188720" cy="822960"/>
          </a:xfrm>
          <a:prstGeom prst="line">
            <a:avLst/>
          </a:prstGeom>
          <a:ln w="25400">
            <a:solidFill>
              <a:srgbClr val="2A78D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206240" y="1417320"/>
            <a:ext cx="1828800" cy="1097280"/>
          </a:xfrm>
          <a:prstGeom prst="roundRect">
            <a:avLst>
              <a:gd name="adj" fmla="val 10000"/>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defRPr sz="1500" b="1">
                <a:solidFill>
                  <a:srgbClr val="FFFFFF"/>
                </a:solidFill>
                <a:latin typeface="Calibri"/>
              </a:defRPr>
            </a:pPr>
            <a:r>
              <a:t>|C(x)| = 1</a:t>
            </a:r>
          </a:p>
        </p:txBody>
      </p:sp>
      <p:sp>
        <p:nvSpPr>
          <p:cNvPr id="15" name="Rounded Rectangle 14"/>
          <p:cNvSpPr/>
          <p:nvPr/>
        </p:nvSpPr>
        <p:spPr>
          <a:xfrm>
            <a:off x="6126480" y="1417320"/>
            <a:ext cx="5394960" cy="1097280"/>
          </a:xfrm>
          <a:prstGeom prst="roundRect">
            <a:avLst>
              <a:gd name="adj" fmla="val 8000"/>
            </a:avLst>
          </a:prstGeom>
          <a:solidFill>
            <a:srgbClr val="DC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60" y="1508760"/>
            <a:ext cx="5029200" cy="365760"/>
          </a:xfrm>
          <a:prstGeom prst="rect">
            <a:avLst/>
          </a:prstGeom>
          <a:noFill/>
        </p:spPr>
        <p:txBody>
          <a:bodyPr wrap="square" anchor="t" lIns="45720" rIns="45720" tIns="27432" bIns="27432">
            <a:spAutoFit/>
          </a:bodyPr>
          <a:lstStyle/>
          <a:p>
            <a:pPr algn="l">
              <a:lnSpc>
                <a:spcPct val="110000"/>
              </a:lnSpc>
              <a:defRPr sz="1600" b="1" i="0">
                <a:solidFill>
                  <a:srgbClr val="0B0B0B"/>
                </a:solidFill>
                <a:latin typeface="Calibri"/>
              </a:defRPr>
            </a:pPr>
            <a:r>
              <a:t>Automática</a:t>
            </a:r>
          </a:p>
        </p:txBody>
      </p:sp>
      <p:sp>
        <p:nvSpPr>
          <p:cNvPr id="17" name="TextBox 16"/>
          <p:cNvSpPr txBox="1"/>
          <p:nvPr/>
        </p:nvSpPr>
        <p:spPr>
          <a:xfrm>
            <a:off x="6309360" y="1874519"/>
            <a:ext cx="5029200" cy="640080"/>
          </a:xfrm>
          <a:prstGeom prst="rect">
            <a:avLst/>
          </a:prstGeom>
          <a:noFill/>
        </p:spPr>
        <p:txBody>
          <a:bodyPr wrap="square" anchor="t" lIns="45720" rIns="45720" tIns="27432" bIns="27432">
            <a:spAutoFit/>
          </a:bodyPr>
          <a:lstStyle/>
          <a:p>
            <a:pPr algn="l">
              <a:lnSpc>
                <a:spcPct val="110000"/>
              </a:lnSpc>
              <a:defRPr sz="1200" b="0" i="0">
                <a:solidFill>
                  <a:srgbClr val="52514E"/>
                </a:solidFill>
                <a:latin typeface="Calibri"/>
              </a:defRPr>
            </a:pPr>
            <a:r>
              <a:t>El sistema actúa solo. Ejemplo: {HDF}</a:t>
            </a:r>
          </a:p>
        </p:txBody>
      </p:sp>
      <p:cxnSp>
        <p:nvCxnSpPr>
          <p:cNvPr id="18" name="Connector 17"/>
          <p:cNvCxnSpPr/>
          <p:nvPr/>
        </p:nvCxnSpPr>
        <p:spPr>
          <a:xfrm>
            <a:off x="3017520" y="2788920"/>
            <a:ext cx="1188720" cy="685800"/>
          </a:xfrm>
          <a:prstGeom prst="line">
            <a:avLst/>
          </a:prstGeom>
          <a:ln w="25400">
            <a:solidFill>
              <a:srgbClr val="EB683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4206240" y="2926080"/>
            <a:ext cx="1828800" cy="1097280"/>
          </a:xfrm>
          <a:prstGeom prst="roundRect">
            <a:avLst>
              <a:gd name="adj" fmla="val 10000"/>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defRPr sz="1500" b="1">
                <a:solidFill>
                  <a:srgbClr val="FFFFFF"/>
                </a:solidFill>
                <a:latin typeface="Calibri"/>
              </a:defRPr>
            </a:pPr>
            <a:r>
              <a:t>|C(x)| = 2</a:t>
            </a:r>
          </a:p>
        </p:txBody>
      </p:sp>
      <p:sp>
        <p:nvSpPr>
          <p:cNvPr id="20" name="Rounded Rectangle 19"/>
          <p:cNvSpPr/>
          <p:nvPr/>
        </p:nvSpPr>
        <p:spPr>
          <a:xfrm>
            <a:off x="6126480" y="2926080"/>
            <a:ext cx="5394960" cy="1097280"/>
          </a:xfrm>
          <a:prstGeom prst="roundRect">
            <a:avLst>
              <a:gd name="adj" fmla="val 8000"/>
            </a:avLst>
          </a:prstGeom>
          <a:solidFill>
            <a:srgbClr val="FBE3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09360" y="3017520"/>
            <a:ext cx="5029200" cy="365760"/>
          </a:xfrm>
          <a:prstGeom prst="rect">
            <a:avLst/>
          </a:prstGeom>
          <a:noFill/>
        </p:spPr>
        <p:txBody>
          <a:bodyPr wrap="square" anchor="t" lIns="45720" rIns="45720" tIns="27432" bIns="27432">
            <a:spAutoFit/>
          </a:bodyPr>
          <a:lstStyle/>
          <a:p>
            <a:pPr algn="l">
              <a:lnSpc>
                <a:spcPct val="110000"/>
              </a:lnSpc>
              <a:defRPr sz="1600" b="1" i="0">
                <a:solidFill>
                  <a:srgbClr val="0B0B0B"/>
                </a:solidFill>
                <a:latin typeface="Calibri"/>
              </a:defRPr>
            </a:pPr>
            <a:r>
              <a:t>Asistida</a:t>
            </a:r>
          </a:p>
        </p:txBody>
      </p:sp>
      <p:sp>
        <p:nvSpPr>
          <p:cNvPr id="22" name="TextBox 21"/>
          <p:cNvSpPr txBox="1"/>
          <p:nvPr/>
        </p:nvSpPr>
        <p:spPr>
          <a:xfrm>
            <a:off x="6309360" y="3383280"/>
            <a:ext cx="5029200" cy="640080"/>
          </a:xfrm>
          <a:prstGeom prst="rect">
            <a:avLst/>
          </a:prstGeom>
          <a:noFill/>
        </p:spPr>
        <p:txBody>
          <a:bodyPr wrap="square" anchor="t" lIns="45720" rIns="45720" tIns="27432" bIns="27432">
            <a:spAutoFit/>
          </a:bodyPr>
          <a:lstStyle/>
          <a:p>
            <a:pPr algn="l">
              <a:lnSpc>
                <a:spcPct val="110000"/>
              </a:lnSpc>
              <a:defRPr sz="1200" b="0" i="0">
                <a:solidFill>
                  <a:srgbClr val="52514E"/>
                </a:solidFill>
                <a:latin typeface="Calibri"/>
              </a:defRPr>
            </a:pPr>
            <a:r>
              <a:t>Diagnóstico parcial útil: «es HDF u OSF, no otra cosa». Ejemplo: {HDF, OSF}</a:t>
            </a:r>
          </a:p>
        </p:txBody>
      </p:sp>
      <p:cxnSp>
        <p:nvCxnSpPr>
          <p:cNvPr id="23" name="Connector 22"/>
          <p:cNvCxnSpPr/>
          <p:nvPr/>
        </p:nvCxnSpPr>
        <p:spPr>
          <a:xfrm>
            <a:off x="3017520" y="2788920"/>
            <a:ext cx="1188720" cy="2194559"/>
          </a:xfrm>
          <a:prstGeom prst="line">
            <a:avLst/>
          </a:prstGeom>
          <a:ln w="25400">
            <a:solidFill>
              <a:srgbClr val="52514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4206240" y="4434840"/>
            <a:ext cx="1828800" cy="1097280"/>
          </a:xfrm>
          <a:prstGeom prst="roundRect">
            <a:avLst>
              <a:gd name="adj" fmla="val 10000"/>
            </a:avLst>
          </a:prstGeom>
          <a:solidFill>
            <a:srgbClr val="5251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defRPr sz="1500" b="1">
                <a:solidFill>
                  <a:srgbClr val="FFFFFF"/>
                </a:solidFill>
                <a:latin typeface="Calibri"/>
              </a:defRPr>
            </a:pPr>
            <a:r>
              <a:t>|C(x)| = 0 o &gt; 2</a:t>
            </a:r>
          </a:p>
        </p:txBody>
      </p:sp>
      <p:sp>
        <p:nvSpPr>
          <p:cNvPr id="25" name="Rounded Rectangle 24"/>
          <p:cNvSpPr/>
          <p:nvPr/>
        </p:nvSpPr>
        <p:spPr>
          <a:xfrm>
            <a:off x="6126480" y="4434840"/>
            <a:ext cx="5394960" cy="1097280"/>
          </a:xfrm>
          <a:prstGeom prst="roundRect">
            <a:avLst>
              <a:gd name="adj" fmla="val 8000"/>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09360" y="4526279"/>
            <a:ext cx="5029200" cy="365760"/>
          </a:xfrm>
          <a:prstGeom prst="rect">
            <a:avLst/>
          </a:prstGeom>
          <a:noFill/>
        </p:spPr>
        <p:txBody>
          <a:bodyPr wrap="square" anchor="t" lIns="45720" rIns="45720" tIns="27432" bIns="27432">
            <a:spAutoFit/>
          </a:bodyPr>
          <a:lstStyle/>
          <a:p>
            <a:pPr algn="l">
              <a:lnSpc>
                <a:spcPct val="110000"/>
              </a:lnSpc>
              <a:defRPr sz="1600" b="1" i="0">
                <a:solidFill>
                  <a:srgbClr val="0B0B0B"/>
                </a:solidFill>
                <a:latin typeface="Calibri"/>
              </a:defRPr>
            </a:pPr>
            <a:r>
              <a:t>Humana</a:t>
            </a:r>
          </a:p>
        </p:txBody>
      </p:sp>
      <p:sp>
        <p:nvSpPr>
          <p:cNvPr id="27" name="TextBox 26"/>
          <p:cNvSpPr txBox="1"/>
          <p:nvPr/>
        </p:nvSpPr>
        <p:spPr>
          <a:xfrm>
            <a:off x="6309360" y="4892040"/>
            <a:ext cx="5029200" cy="640080"/>
          </a:xfrm>
          <a:prstGeom prst="rect">
            <a:avLst/>
          </a:prstGeom>
          <a:noFill/>
        </p:spPr>
        <p:txBody>
          <a:bodyPr wrap="square" anchor="t" lIns="45720" rIns="45720" tIns="27432" bIns="27432">
            <a:spAutoFit/>
          </a:bodyPr>
          <a:lstStyle/>
          <a:p>
            <a:pPr algn="l">
              <a:lnSpc>
                <a:spcPct val="110000"/>
              </a:lnSpc>
              <a:defRPr sz="1200" b="0" i="0">
                <a:solidFill>
                  <a:srgbClr val="52514E"/>
                </a:solidFill>
                <a:latin typeface="Calibri"/>
              </a:defRPr>
            </a:pPr>
            <a:r>
              <a:t>Sin evidencia discriminante o caso atípico. Ejemplos: {} · {Normal, TWF, HDF}</a:t>
            </a:r>
          </a:p>
        </p:txBody>
      </p:sp>
      <p:sp>
        <p:nvSpPr>
          <p:cNvPr id="28" name="TextBox 27"/>
          <p:cNvSpPr txBox="1"/>
          <p:nvPr/>
        </p:nvSpPr>
        <p:spPr>
          <a:xfrm>
            <a:off x="640080" y="5897880"/>
            <a:ext cx="10881360" cy="594360"/>
          </a:xfrm>
          <a:prstGeom prst="rect">
            <a:avLst/>
          </a:prstGeom>
          <a:noFill/>
        </p:spPr>
        <p:txBody>
          <a:bodyPr wrap="square" anchor="t" lIns="45720" rIns="45720" tIns="27432" bIns="27432">
            <a:spAutoFit/>
          </a:bodyPr>
          <a:lstStyle/>
          <a:p>
            <a:pPr algn="l">
              <a:lnSpc>
                <a:spcPct val="110000"/>
              </a:lnSpc>
              <a:defRPr sz="1200" b="0" i="1">
                <a:solidFill>
                  <a:srgbClr val="52514E"/>
                </a:solidFill>
                <a:latin typeface="Calibri"/>
              </a:defRPr>
            </a:pPr>
            <a:r>
              <a:t>Abstención = fracción de ciclos con tamaño distinto de 1: la carga de trabajo que el sistema traslada a personas. El conjunto de dos etiquetas no es un fracaso: descarta el resto del espacio de diagnóstico con garantía.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1170432"/>
            <a:ext cx="548640" cy="45720"/>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7315200" cy="274320"/>
          </a:xfrm>
          <a:prstGeom prst="rect">
            <a:avLst/>
          </a:prstGeom>
          <a:noFill/>
        </p:spPr>
        <p:txBody>
          <a:bodyPr wrap="square" anchor="t" lIns="45720" rIns="45720" tIns="27432" bIns="27432">
            <a:spAutoFit/>
          </a:bodyPr>
          <a:lstStyle/>
          <a:p>
            <a:pPr algn="l">
              <a:lnSpc>
                <a:spcPct val="110000"/>
              </a:lnSpc>
              <a:defRPr sz="1100" b="1" i="0">
                <a:solidFill>
                  <a:srgbClr val="EB6834"/>
                </a:solidFill>
                <a:latin typeface="Calibri"/>
              </a:defRPr>
            </a:pPr>
            <a:r>
              <a:t>2 · DATOS</a:t>
            </a:r>
          </a:p>
        </p:txBody>
      </p:sp>
      <p:sp>
        <p:nvSpPr>
          <p:cNvPr id="5" name="TextBox 4"/>
          <p:cNvSpPr txBox="1"/>
          <p:nvPr/>
        </p:nvSpPr>
        <p:spPr>
          <a:xfrm>
            <a:off x="640080" y="566928"/>
            <a:ext cx="10058400" cy="640080"/>
          </a:xfrm>
          <a:prstGeom prst="rect">
            <a:avLst/>
          </a:prstGeom>
          <a:noFill/>
        </p:spPr>
        <p:txBody>
          <a:bodyPr wrap="square" anchor="t" lIns="45720" rIns="45720" tIns="27432" bIns="27432">
            <a:spAutoFit/>
          </a:bodyPr>
          <a:lstStyle/>
          <a:p>
            <a:pPr algn="l">
              <a:lnSpc>
                <a:spcPct val="110000"/>
              </a:lnSpc>
              <a:defRPr sz="2400" b="1" i="0">
                <a:solidFill>
                  <a:srgbClr val="0F2A4A"/>
                </a:solidFill>
                <a:latin typeface="Calibri"/>
              </a:defRPr>
            </a:pPr>
            <a:r>
              <a:t>AI4I 2020: 10 000 ciclos y lo que encontró la auditoría</a:t>
            </a:r>
          </a:p>
        </p:txBody>
      </p:sp>
      <p:sp>
        <p:nvSpPr>
          <p:cNvPr id="6" name="TextBox 5"/>
          <p:cNvSpPr txBox="1"/>
          <p:nvPr/>
        </p:nvSpPr>
        <p:spPr>
          <a:xfrm>
            <a:off x="10881360" y="411480"/>
            <a:ext cx="731520" cy="274320"/>
          </a:xfrm>
          <a:prstGeom prst="rect">
            <a:avLst/>
          </a:prstGeom>
          <a:noFill/>
        </p:spPr>
        <p:txBody>
          <a:bodyPr wrap="square" anchor="t" lIns="45720" rIns="45720" tIns="27432" bIns="27432">
            <a:spAutoFit/>
          </a:bodyPr>
          <a:lstStyle/>
          <a:p>
            <a:pPr algn="r">
              <a:lnSpc>
                <a:spcPct val="110000"/>
              </a:lnSpc>
              <a:defRPr sz="1000" b="0" i="0">
                <a:solidFill>
                  <a:srgbClr val="898781"/>
                </a:solidFill>
                <a:latin typeface="Calibri"/>
              </a:defRPr>
            </a:pPr>
            <a:r>
              <a:t>1.25 min</a:t>
            </a:r>
          </a:p>
        </p:txBody>
      </p:sp>
      <p:sp>
        <p:nvSpPr>
          <p:cNvPr id="7" name="Rectangle 6"/>
          <p:cNvSpPr/>
          <p:nvPr/>
        </p:nvSpPr>
        <p:spPr>
          <a:xfrm>
            <a:off x="0" y="6537960"/>
            <a:ext cx="12191695" cy="320040"/>
          </a:xfrm>
          <a:prstGeom prst="rect">
            <a:avLst/>
          </a:prstGeom>
          <a:solidFill>
            <a:srgbClr val="0F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574536"/>
            <a:ext cx="7315200" cy="256032"/>
          </a:xfrm>
          <a:prstGeom prst="rect">
            <a:avLst/>
          </a:prstGeom>
          <a:noFill/>
        </p:spPr>
        <p:txBody>
          <a:bodyPr wrap="square" anchor="t" lIns="45720" rIns="45720" tIns="27432" bIns="27432">
            <a:spAutoFit/>
          </a:bodyPr>
          <a:lstStyle/>
          <a:p>
            <a:pPr algn="l">
              <a:lnSpc>
                <a:spcPct val="110000"/>
              </a:lnSpc>
              <a:defRPr sz="900" b="0" i="0">
                <a:solidFill>
                  <a:srgbClr val="C9D6E8"/>
                </a:solidFill>
                <a:latin typeface="Calibri"/>
              </a:defRPr>
            </a:pPr>
            <a:r>
              <a:t>Predicción conforme y abstención selectiva · AI4I 2020</a:t>
            </a:r>
          </a:p>
        </p:txBody>
      </p:sp>
      <p:sp>
        <p:nvSpPr>
          <p:cNvPr id="9" name="TextBox 8"/>
          <p:cNvSpPr txBox="1"/>
          <p:nvPr/>
        </p:nvSpPr>
        <p:spPr>
          <a:xfrm>
            <a:off x="11155680" y="6574536"/>
            <a:ext cx="457200" cy="256032"/>
          </a:xfrm>
          <a:prstGeom prst="rect">
            <a:avLst/>
          </a:prstGeom>
          <a:noFill/>
        </p:spPr>
        <p:txBody>
          <a:bodyPr wrap="square" anchor="t" lIns="45720" rIns="45720" tIns="27432" bIns="27432">
            <a:spAutoFit/>
          </a:bodyPr>
          <a:lstStyle/>
          <a:p>
            <a:pPr algn="r">
              <a:lnSpc>
                <a:spcPct val="110000"/>
              </a:lnSpc>
              <a:defRPr sz="900" b="0" i="0">
                <a:solidFill>
                  <a:srgbClr val="C9D6E8"/>
                </a:solidFill>
                <a:latin typeface="Calibri"/>
              </a:defRPr>
            </a:pPr>
            <a:r>
              <a:t>5</a:t>
            </a:r>
          </a:p>
        </p:txBody>
      </p:sp>
      <p:sp>
        <p:nvSpPr>
          <p:cNvPr id="10" name="Rounded Rectangle 9"/>
          <p:cNvSpPr/>
          <p:nvPr/>
        </p:nvSpPr>
        <p:spPr>
          <a:xfrm>
            <a:off x="10314432" y="713232"/>
            <a:ext cx="1188720" cy="274320"/>
          </a:xfrm>
          <a:prstGeom prst="roundRect">
            <a:avLst>
              <a:gd name="adj" fmla="val 30000"/>
            </a:avLst>
          </a:prstGeom>
          <a:solidFill>
            <a:srgbClr val="DC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14432" y="740664"/>
            <a:ext cx="1188720" cy="237744"/>
          </a:xfrm>
          <a:prstGeom prst="rect">
            <a:avLst/>
          </a:prstGeom>
          <a:noFill/>
        </p:spPr>
        <p:txBody>
          <a:bodyPr wrap="square" anchor="t" lIns="45720" rIns="45720" tIns="27432" bIns="27432">
            <a:spAutoFit/>
          </a:bodyPr>
          <a:lstStyle/>
          <a:p>
            <a:pPr algn="ctr">
              <a:lnSpc>
                <a:spcPct val="110000"/>
              </a:lnSpc>
              <a:defRPr sz="900" b="1" i="0">
                <a:solidFill>
                  <a:srgbClr val="1C5CAB"/>
                </a:solidFill>
                <a:latin typeface="Calibri"/>
              </a:defRPr>
            </a:pPr>
            <a:r>
              <a:t>Jaime</a:t>
            </a:r>
          </a:p>
        </p:txBody>
      </p:sp>
      <p:graphicFrame>
        <p:nvGraphicFramePr>
          <p:cNvPr id="12" name="Table 11"/>
          <p:cNvGraphicFramePr>
            <a:graphicFrameLocks noGrp="1"/>
          </p:cNvGraphicFramePr>
          <p:nvPr/>
        </p:nvGraphicFramePr>
        <p:xfrm>
          <a:off x="640080" y="1417320"/>
          <a:ext cx="10881360" cy="2944368"/>
        </p:xfrm>
        <a:graphic>
          <a:graphicData uri="http://schemas.openxmlformats.org/drawingml/2006/table">
            <a:tbl>
              <a:tblPr firstRow="1" bandRow="1">
                <a:tableStyleId>{5C22544A-7EE6-4342-B048-85BDC9FD1C3A}</a:tableStyleId>
              </a:tblPr>
              <a:tblGrid>
                <a:gridCol w="4754880"/>
                <a:gridCol w="822960"/>
                <a:gridCol w="5303520"/>
              </a:tblGrid>
              <a:tr h="420624">
                <a:tc>
                  <a:txBody>
                    <a:bodyPr/>
                    <a:lstStyle/>
                    <a:p>
                      <a:pPr algn="l">
                        <a:defRPr sz="1100" b="1">
                          <a:solidFill>
                            <a:srgbClr val="FFFFFF"/>
                          </a:solidFill>
                          <a:latin typeface="Calibri"/>
                        </a:defRPr>
                      </a:pPr>
                      <a:r>
                        <a:t>Hallazgo de la auditoría</a:t>
                      </a:r>
                    </a:p>
                  </a:txBody>
                  <a:tcPr marL="54864" marR="54864" marT="18288" marB="18288" anchor="ctr">
                    <a:solidFill>
                      <a:srgbClr val="1C5CAB"/>
                    </a:solidFill>
                  </a:tcPr>
                </a:tc>
                <a:tc>
                  <a:txBody>
                    <a:bodyPr/>
                    <a:lstStyle/>
                    <a:p>
                      <a:pPr algn="ctr">
                        <a:defRPr sz="1100" b="1">
                          <a:solidFill>
                            <a:srgbClr val="FFFFFF"/>
                          </a:solidFill>
                          <a:latin typeface="Calibri"/>
                        </a:defRPr>
                      </a:pPr>
                      <a:r>
                        <a:t>Conteo</a:t>
                      </a:r>
                    </a:p>
                  </a:txBody>
                  <a:tcPr marL="54864" marR="54864" marT="18288" marB="18288" anchor="ctr">
                    <a:solidFill>
                      <a:srgbClr val="1C5CAB"/>
                    </a:solidFill>
                  </a:tcPr>
                </a:tc>
                <a:tc>
                  <a:txBody>
                    <a:bodyPr/>
                    <a:lstStyle/>
                    <a:p>
                      <a:pPr algn="ctr">
                        <a:defRPr sz="1100" b="1">
                          <a:solidFill>
                            <a:srgbClr val="FFFFFF"/>
                          </a:solidFill>
                          <a:latin typeface="Calibri"/>
                        </a:defRPr>
                      </a:pPr>
                      <a:r>
                        <a:t>Decisión y justificación</a:t>
                      </a:r>
                    </a:p>
                  </a:txBody>
                  <a:tcPr marL="54864" marR="54864" marT="18288" marB="18288" anchor="ctr">
                    <a:solidFill>
                      <a:srgbClr val="1C5CAB"/>
                    </a:solidFill>
                  </a:tcPr>
                </a:tc>
              </a:tr>
              <a:tr h="420624">
                <a:tc>
                  <a:txBody>
                    <a:bodyPr/>
                    <a:lstStyle/>
                    <a:p>
                      <a:pPr algn="l">
                        <a:defRPr sz="1100" b="0">
                          <a:solidFill>
                            <a:srgbClr val="0B0B0B"/>
                          </a:solidFill>
                          <a:latin typeface="Calibri"/>
                        </a:defRPr>
                      </a:pPr>
                      <a:r>
                        <a:t>Fallas con Machine failure = 1 y ningún modo activo</a:t>
                      </a:r>
                    </a:p>
                  </a:txBody>
                  <a:tcPr marL="54864" marR="54864" marT="18288" marB="18288" anchor="ctr">
                    <a:solidFill>
                      <a:srgbClr val="FFFFFF"/>
                    </a:solidFill>
                  </a:tcPr>
                </a:tc>
                <a:tc>
                  <a:txBody>
                    <a:bodyPr/>
                    <a:lstStyle/>
                    <a:p>
                      <a:pPr algn="ctr">
                        <a:defRPr sz="1100" b="0">
                          <a:solidFill>
                            <a:srgbClr val="0B0B0B"/>
                          </a:solidFill>
                          <a:latin typeface="Calibri"/>
                        </a:defRPr>
                      </a:pPr>
                      <a:r>
                        <a:t>9</a:t>
                      </a:r>
                    </a:p>
                  </a:txBody>
                  <a:tcPr marL="54864" marR="54864" marT="18288" marB="18288" anchor="ctr">
                    <a:solidFill>
                      <a:srgbClr val="FFFFFF"/>
                    </a:solidFill>
                  </a:tcPr>
                </a:tc>
                <a:tc>
                  <a:txBody>
                    <a:bodyPr/>
                    <a:lstStyle/>
                    <a:p>
                      <a:pPr algn="ctr">
                        <a:defRPr sz="1100" b="0">
                          <a:solidFill>
                            <a:srgbClr val="0B0B0B"/>
                          </a:solidFill>
                          <a:latin typeface="Calibri"/>
                        </a:defRPr>
                      </a:pPr>
                      <a:r>
                        <a:t>Excluidas: no admiten etiqueta de modo</a:t>
                      </a:r>
                    </a:p>
                  </a:txBody>
                  <a:tcPr marL="54864" marR="54864" marT="18288" marB="18288" anchor="ctr">
                    <a:solidFill>
                      <a:srgbClr val="FFFFFF"/>
                    </a:solidFill>
                  </a:tcPr>
                </a:tc>
              </a:tr>
              <a:tr h="420624">
                <a:tc>
                  <a:txBody>
                    <a:bodyPr/>
                    <a:lstStyle/>
                    <a:p>
                      <a:pPr algn="l">
                        <a:defRPr sz="1100" b="0">
                          <a:solidFill>
                            <a:srgbClr val="0B0B0B"/>
                          </a:solidFill>
                          <a:latin typeface="Calibri"/>
                        </a:defRPr>
                      </a:pPr>
                      <a:r>
                        <a:t>RNF puro (falla aleatoria); todos con Machine failure = 0</a:t>
                      </a:r>
                    </a:p>
                  </a:txBody>
                  <a:tcPr marL="54864" marR="54864" marT="18288" marB="18288" anchor="ctr">
                    <a:solidFill>
                      <a:srgbClr val="EEF1F6"/>
                    </a:solidFill>
                  </a:tcPr>
                </a:tc>
                <a:tc>
                  <a:txBody>
                    <a:bodyPr/>
                    <a:lstStyle/>
                    <a:p>
                      <a:pPr algn="ctr">
                        <a:defRPr sz="1100" b="0">
                          <a:solidFill>
                            <a:srgbClr val="0B0B0B"/>
                          </a:solidFill>
                          <a:latin typeface="Calibri"/>
                        </a:defRPr>
                      </a:pPr>
                      <a:r>
                        <a:t>18</a:t>
                      </a:r>
                    </a:p>
                  </a:txBody>
                  <a:tcPr marL="54864" marR="54864" marT="18288" marB="18288" anchor="ctr">
                    <a:solidFill>
                      <a:srgbClr val="EEF1F6"/>
                    </a:solidFill>
                  </a:tcPr>
                </a:tc>
                <a:tc>
                  <a:txBody>
                    <a:bodyPr/>
                    <a:lstStyle/>
                    <a:p>
                      <a:pPr algn="ctr">
                        <a:defRPr sz="1100" b="0">
                          <a:solidFill>
                            <a:srgbClr val="0B0B0B"/>
                          </a:solidFill>
                          <a:latin typeface="Calibri"/>
                        </a:defRPr>
                      </a:pPr>
                      <a:r>
                        <a:t>Excluidas: sin firma física, ruido irreducible que contaminaría Normal</a:t>
                      </a:r>
                    </a:p>
                  </a:txBody>
                  <a:tcPr marL="54864" marR="54864" marT="18288" marB="18288" anchor="ctr">
                    <a:solidFill>
                      <a:srgbClr val="EEF1F6"/>
                    </a:solidFill>
                  </a:tcPr>
                </a:tc>
              </a:tr>
              <a:tr h="420624">
                <a:tc>
                  <a:txBody>
                    <a:bodyPr/>
                    <a:lstStyle/>
                    <a:p>
                      <a:pPr algn="l">
                        <a:defRPr sz="1100" b="0">
                          <a:solidFill>
                            <a:srgbClr val="0B0B0B"/>
                          </a:solidFill>
                          <a:latin typeface="Calibri"/>
                        </a:defRPr>
                      </a:pPr>
                      <a:r>
                        <a:t>RNF junto con un modo físico</a:t>
                      </a:r>
                    </a:p>
                  </a:txBody>
                  <a:tcPr marL="54864" marR="54864" marT="18288" marB="18288" anchor="ctr">
                    <a:solidFill>
                      <a:srgbClr val="FFFFFF"/>
                    </a:solidFill>
                  </a:tcPr>
                </a:tc>
                <a:tc>
                  <a:txBody>
                    <a:bodyPr/>
                    <a:lstStyle/>
                    <a:p>
                      <a:pPr algn="ctr">
                        <a:defRPr sz="1100" b="0">
                          <a:solidFill>
                            <a:srgbClr val="0B0B0B"/>
                          </a:solidFill>
                          <a:latin typeface="Calibri"/>
                        </a:defRPr>
                      </a:pPr>
                      <a:r>
                        <a:t>1</a:t>
                      </a:r>
                    </a:p>
                  </a:txBody>
                  <a:tcPr marL="54864" marR="54864" marT="18288" marB="18288" anchor="ctr">
                    <a:solidFill>
                      <a:srgbClr val="FFFFFF"/>
                    </a:solidFill>
                  </a:tcPr>
                </a:tc>
                <a:tc>
                  <a:txBody>
                    <a:bodyPr/>
                    <a:lstStyle/>
                    <a:p>
                      <a:pPr algn="ctr">
                        <a:defRPr sz="1100" b="0">
                          <a:solidFill>
                            <a:srgbClr val="0B0B0B"/>
                          </a:solidFill>
                          <a:latin typeface="Calibri"/>
                        </a:defRPr>
                      </a:pPr>
                      <a:r>
                        <a:t>Conservado con su modo físico (exclude_only_rnf)</a:t>
                      </a:r>
                    </a:p>
                  </a:txBody>
                  <a:tcPr marL="54864" marR="54864" marT="18288" marB="18288" anchor="ctr">
                    <a:solidFill>
                      <a:srgbClr val="FFFFFF"/>
                    </a:solidFill>
                  </a:tcPr>
                </a:tc>
              </a:tr>
              <a:tr h="420624">
                <a:tc>
                  <a:txBody>
                    <a:bodyPr/>
                    <a:lstStyle/>
                    <a:p>
                      <a:pPr algn="l">
                        <a:defRPr sz="1100" b="0">
                          <a:solidFill>
                            <a:srgbClr val="0B0B0B"/>
                          </a:solidFill>
                          <a:latin typeface="Calibri"/>
                        </a:defRPr>
                      </a:pPr>
                      <a:r>
                        <a:t>Modos físicos simultáneos (PWF+OSF 11, HDF+OSF 6, HDF+PWF 3, TWF+OSF 2, triple 1)</a:t>
                      </a:r>
                    </a:p>
                  </a:txBody>
                  <a:tcPr marL="54864" marR="54864" marT="18288" marB="18288" anchor="ctr">
                    <a:solidFill>
                      <a:srgbClr val="EEF1F6"/>
                    </a:solidFill>
                  </a:tcPr>
                </a:tc>
                <a:tc>
                  <a:txBody>
                    <a:bodyPr/>
                    <a:lstStyle/>
                    <a:p>
                      <a:pPr algn="ctr">
                        <a:defRPr sz="1100" b="0">
                          <a:solidFill>
                            <a:srgbClr val="0B0B0B"/>
                          </a:solidFill>
                          <a:latin typeface="Calibri"/>
                        </a:defRPr>
                      </a:pPr>
                      <a:r>
                        <a:t>23</a:t>
                      </a:r>
                    </a:p>
                  </a:txBody>
                  <a:tcPr marL="54864" marR="54864" marT="18288" marB="18288" anchor="ctr">
                    <a:solidFill>
                      <a:srgbClr val="EEF1F6"/>
                    </a:solidFill>
                  </a:tcPr>
                </a:tc>
                <a:tc>
                  <a:txBody>
                    <a:bodyPr/>
                    <a:lstStyle/>
                    <a:p>
                      <a:pPr algn="ctr">
                        <a:defRPr sz="1100" b="0">
                          <a:solidFill>
                            <a:srgbClr val="0B0B0B"/>
                          </a:solidFill>
                          <a:latin typeface="Calibri"/>
                        </a:defRPr>
                      </a:pPr>
                      <a:r>
                        <a:t>Prioridad por escasez TWF &gt; PWF &gt; OSF &gt; HDF: no restar ejemplos a las clases escasas</a:t>
                      </a:r>
                    </a:p>
                  </a:txBody>
                  <a:tcPr marL="54864" marR="54864" marT="18288" marB="18288" anchor="ctr">
                    <a:solidFill>
                      <a:srgbClr val="EEF1F6"/>
                    </a:solidFill>
                  </a:tcPr>
                </a:tc>
              </a:tr>
              <a:tr h="420624">
                <a:tc>
                  <a:txBody>
                    <a:bodyPr/>
                    <a:lstStyle/>
                    <a:p>
                      <a:pPr algn="l">
                        <a:defRPr sz="1100" b="0">
                          <a:solidFill>
                            <a:srgbClr val="0B0B0B"/>
                          </a:solidFill>
                          <a:latin typeface="Calibri"/>
                        </a:defRPr>
                      </a:pPr>
                      <a:r>
                        <a:t>Modo activo con Machine failure = 0</a:t>
                      </a:r>
                    </a:p>
                  </a:txBody>
                  <a:tcPr marL="54864" marR="54864" marT="18288" marB="18288" anchor="ctr">
                    <a:solidFill>
                      <a:srgbClr val="FFFFFF"/>
                    </a:solidFill>
                  </a:tcPr>
                </a:tc>
                <a:tc>
                  <a:txBody>
                    <a:bodyPr/>
                    <a:lstStyle/>
                    <a:p>
                      <a:pPr algn="ctr">
                        <a:defRPr sz="1100" b="0">
                          <a:solidFill>
                            <a:srgbClr val="0B0B0B"/>
                          </a:solidFill>
                          <a:latin typeface="Calibri"/>
                        </a:defRPr>
                      </a:pPr>
                      <a:r>
                        <a:t>0</a:t>
                      </a:r>
                    </a:p>
                  </a:txBody>
                  <a:tcPr marL="54864" marR="54864" marT="18288" marB="18288" anchor="ctr">
                    <a:solidFill>
                      <a:srgbClr val="FFFFFF"/>
                    </a:solidFill>
                  </a:tcPr>
                </a:tc>
                <a:tc>
                  <a:txBody>
                    <a:bodyPr/>
                    <a:lstStyle/>
                    <a:p>
                      <a:pPr algn="ctr">
                        <a:defRPr sz="1100" b="0">
                          <a:solidFill>
                            <a:srgbClr val="0B0B0B"/>
                          </a:solidFill>
                          <a:latin typeface="Calibri"/>
                        </a:defRPr>
                      </a:pPr>
                      <a:r>
                        <a:t>La inconsistencia prevista no ocurre</a:t>
                      </a:r>
                    </a:p>
                  </a:txBody>
                  <a:tcPr marL="54864" marR="54864" marT="18288" marB="18288" anchor="ctr">
                    <a:solidFill>
                      <a:srgbClr val="FFFFFF"/>
                    </a:solidFill>
                  </a:tcPr>
                </a:tc>
              </a:tr>
              <a:tr h="420624">
                <a:tc>
                  <a:txBody>
                    <a:bodyPr/>
                    <a:lstStyle/>
                    <a:p>
                      <a:pPr algn="l">
                        <a:defRPr sz="1100" b="0">
                          <a:solidFill>
                            <a:srgbClr val="0B0B0B"/>
                          </a:solidFill>
                          <a:latin typeface="Calibri"/>
                        </a:defRPr>
                      </a:pPr>
                      <a:r>
                        <a:t>Autocorrelación lag-1 de la temperatura del aire</a:t>
                      </a:r>
                    </a:p>
                  </a:txBody>
                  <a:tcPr marL="54864" marR="54864" marT="18288" marB="18288" anchor="ctr">
                    <a:solidFill>
                      <a:srgbClr val="EEF1F6"/>
                    </a:solidFill>
                  </a:tcPr>
                </a:tc>
                <a:tc>
                  <a:txBody>
                    <a:bodyPr/>
                    <a:lstStyle/>
                    <a:p>
                      <a:pPr algn="ctr">
                        <a:defRPr sz="1100" b="0">
                          <a:solidFill>
                            <a:srgbClr val="0B0B0B"/>
                          </a:solidFill>
                          <a:latin typeface="Calibri"/>
                        </a:defRPr>
                      </a:pPr>
                      <a:r>
                        <a:t>0.999</a:t>
                      </a:r>
                    </a:p>
                  </a:txBody>
                  <a:tcPr marL="54864" marR="54864" marT="18288" marB="18288" anchor="ctr">
                    <a:solidFill>
                      <a:srgbClr val="EEF1F6"/>
                    </a:solidFill>
                  </a:tcPr>
                </a:tc>
                <a:tc>
                  <a:txBody>
                    <a:bodyPr/>
                    <a:lstStyle/>
                    <a:p>
                      <a:pPr algn="ctr">
                        <a:defRPr sz="1100" b="0">
                          <a:solidFill>
                            <a:srgbClr val="0B0B0B"/>
                          </a:solidFill>
                          <a:latin typeface="Calibri"/>
                        </a:defRPr>
                      </a:pPr>
                      <a:r>
                        <a:t>Estructura secuencial: partición aleatoria; la garantía no se afirma para despliegue temporal</a:t>
                      </a:r>
                    </a:p>
                  </a:txBody>
                  <a:tcPr marL="54864" marR="54864" marT="18288" marB="18288" anchor="ctr">
                    <a:solidFill>
                      <a:srgbClr val="EEF1F6"/>
                    </a:solidFill>
                  </a:tcPr>
                </a:tc>
              </a:tr>
            </a:tbl>
          </a:graphicData>
        </a:graphic>
      </p:graphicFrame>
      <p:sp>
        <p:nvSpPr>
          <p:cNvPr id="13" name="Rounded Rectangle 12"/>
          <p:cNvSpPr/>
          <p:nvPr/>
        </p:nvSpPr>
        <p:spPr>
          <a:xfrm>
            <a:off x="640080" y="4526280"/>
            <a:ext cx="5303520" cy="1417320"/>
          </a:xfrm>
          <a:prstGeom prst="roundRect">
            <a:avLst>
              <a:gd name="adj" fmla="val 6000"/>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40080" y="4526280"/>
            <a:ext cx="82296" cy="1417320"/>
          </a:xfrm>
          <a:prstGeom prst="roundRect">
            <a:avLst>
              <a:gd name="adj" fmla="val 50000"/>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59" y="4617720"/>
            <a:ext cx="5029200" cy="411480"/>
          </a:xfrm>
          <a:prstGeom prst="rect">
            <a:avLst/>
          </a:prstGeom>
          <a:noFill/>
        </p:spPr>
        <p:txBody>
          <a:bodyPr wrap="square" anchor="t" lIns="45720" rIns="45720" tIns="27432" bIns="27432">
            <a:spAutoFit/>
          </a:bodyPr>
          <a:lstStyle/>
          <a:p>
            <a:pPr algn="l">
              <a:lnSpc>
                <a:spcPct val="110000"/>
              </a:lnSpc>
              <a:defRPr sz="1500" b="1" i="0">
                <a:solidFill>
                  <a:srgbClr val="0B0B0B"/>
                </a:solidFill>
                <a:latin typeface="Calibri"/>
              </a:defRPr>
            </a:pPr>
            <a:r>
              <a:t>Representa fielmente el problema, con límites declarados</a:t>
            </a:r>
          </a:p>
        </p:txBody>
      </p:sp>
      <p:sp>
        <p:nvSpPr>
          <p:cNvPr id="16" name="TextBox 15"/>
          <p:cNvSpPr txBox="1"/>
          <p:nvPr/>
        </p:nvSpPr>
        <p:spPr>
          <a:xfrm>
            <a:off x="822959" y="5029200"/>
            <a:ext cx="5029200" cy="868680"/>
          </a:xfrm>
          <a:prstGeom prst="rect">
            <a:avLst/>
          </a:prstGeom>
          <a:noFill/>
        </p:spPr>
        <p:txBody>
          <a:bodyPr wrap="square" anchor="t" lIns="45720" rIns="45720" tIns="27432" bIns="27432">
            <a:spAutoFit/>
          </a:bodyPr>
          <a:lstStyle/>
          <a:p>
            <a:pPr algn="l">
              <a:lnSpc>
                <a:spcPct val="110000"/>
              </a:lnSpc>
              <a:defRPr sz="1200" b="0" i="0">
                <a:solidFill>
                  <a:srgbClr val="52514E"/>
                </a:solidFill>
                <a:latin typeface="Calibri"/>
              </a:defRPr>
            </a:pPr>
            <a:r>
              <a:t>Sintético con mecanismos físicos reales; desbalance 96.7 / 3.3 igual al de planta; etiquetas derivadas de umbrales sobre la fila actual, lo que sostiene la intercambiabilidad entre bloques aleatorios.</a:t>
            </a:r>
          </a:p>
        </p:txBody>
      </p:sp>
      <p:sp>
        <p:nvSpPr>
          <p:cNvPr id="17" name="Rounded Rectangle 16"/>
          <p:cNvSpPr/>
          <p:nvPr/>
        </p:nvSpPr>
        <p:spPr>
          <a:xfrm>
            <a:off x="6217920" y="4526280"/>
            <a:ext cx="5303520" cy="1417320"/>
          </a:xfrm>
          <a:prstGeom prst="roundRect">
            <a:avLst>
              <a:gd name="adj" fmla="val 6000"/>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217920" y="4526280"/>
            <a:ext cx="82296" cy="1417320"/>
          </a:xfrm>
          <a:prstGeom prst="roundRect">
            <a:avLst>
              <a:gd name="adj" fmla="val 50000"/>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0" y="4617720"/>
            <a:ext cx="5029200" cy="411480"/>
          </a:xfrm>
          <a:prstGeom prst="rect">
            <a:avLst/>
          </a:prstGeom>
          <a:noFill/>
        </p:spPr>
        <p:txBody>
          <a:bodyPr wrap="square" anchor="t" lIns="45720" rIns="45720" tIns="27432" bIns="27432">
            <a:spAutoFit/>
          </a:bodyPr>
          <a:lstStyle/>
          <a:p>
            <a:pPr algn="l">
              <a:lnSpc>
                <a:spcPct val="110000"/>
              </a:lnSpc>
              <a:defRPr sz="1500" b="1" i="0">
                <a:solidFill>
                  <a:srgbClr val="0B0B0B"/>
                </a:solidFill>
                <a:latin typeface="Calibri"/>
              </a:defRPr>
            </a:pPr>
            <a:r>
              <a:t>Distribución final: 9 973 filas</a:t>
            </a:r>
          </a:p>
        </p:txBody>
      </p:sp>
      <p:sp>
        <p:nvSpPr>
          <p:cNvPr id="20" name="TextBox 19"/>
          <p:cNvSpPr txBox="1"/>
          <p:nvPr/>
        </p:nvSpPr>
        <p:spPr>
          <a:xfrm>
            <a:off x="6400800" y="5029200"/>
            <a:ext cx="5029200" cy="868680"/>
          </a:xfrm>
          <a:prstGeom prst="rect">
            <a:avLst/>
          </a:prstGeom>
          <a:noFill/>
        </p:spPr>
        <p:txBody>
          <a:bodyPr wrap="square" anchor="t" lIns="45720" rIns="45720" tIns="27432" bIns="27432">
            <a:spAutoFit/>
          </a:bodyPr>
          <a:lstStyle/>
          <a:p>
            <a:pPr algn="l">
              <a:lnSpc>
                <a:spcPct val="110000"/>
              </a:lnSpc>
              <a:defRPr sz="1200" b="0" i="0">
                <a:solidFill>
                  <a:srgbClr val="52514E"/>
                </a:solidFill>
                <a:latin typeface="Calibri"/>
              </a:defRPr>
            </a:pPr>
            <a:r>
              <a:t>Normal 9 643 · TWF 46 · HDF 106 · PWF 94 · OSF 84. Los conteos de indicadores (354) no son los de las clases finales (330 con modo): la suma engaña si no se resuelven los solapamientos.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1170432"/>
            <a:ext cx="548640" cy="45720"/>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7315200" cy="274320"/>
          </a:xfrm>
          <a:prstGeom prst="rect">
            <a:avLst/>
          </a:prstGeom>
          <a:noFill/>
        </p:spPr>
        <p:txBody>
          <a:bodyPr wrap="square" anchor="t" lIns="45720" rIns="45720" tIns="27432" bIns="27432">
            <a:spAutoFit/>
          </a:bodyPr>
          <a:lstStyle/>
          <a:p>
            <a:pPr algn="l">
              <a:lnSpc>
                <a:spcPct val="110000"/>
              </a:lnSpc>
              <a:defRPr sz="1100" b="1" i="0">
                <a:solidFill>
                  <a:srgbClr val="EB6834"/>
                </a:solidFill>
                <a:latin typeface="Calibri"/>
              </a:defRPr>
            </a:pPr>
            <a:r>
              <a:t>3 · MÉTODO</a:t>
            </a:r>
          </a:p>
        </p:txBody>
      </p:sp>
      <p:sp>
        <p:nvSpPr>
          <p:cNvPr id="5" name="TextBox 4"/>
          <p:cNvSpPr txBox="1"/>
          <p:nvPr/>
        </p:nvSpPr>
        <p:spPr>
          <a:xfrm>
            <a:off x="640080" y="566928"/>
            <a:ext cx="10058400" cy="640080"/>
          </a:xfrm>
          <a:prstGeom prst="rect">
            <a:avLst/>
          </a:prstGeom>
          <a:noFill/>
        </p:spPr>
        <p:txBody>
          <a:bodyPr wrap="square" anchor="t" lIns="45720" rIns="45720" tIns="27432" bIns="27432">
            <a:spAutoFit/>
          </a:bodyPr>
          <a:lstStyle/>
          <a:p>
            <a:pPr algn="l">
              <a:lnSpc>
                <a:spcPct val="110000"/>
              </a:lnSpc>
              <a:defRPr sz="2400" b="1" i="0">
                <a:solidFill>
                  <a:srgbClr val="0F2A4A"/>
                </a:solidFill>
                <a:latin typeface="Calibri"/>
              </a:defRPr>
            </a:pPr>
            <a:r>
              <a:t>El cuantil conforme: un estadístico de orden con corrección finita</a:t>
            </a:r>
          </a:p>
        </p:txBody>
      </p:sp>
      <p:sp>
        <p:nvSpPr>
          <p:cNvPr id="6" name="TextBox 5"/>
          <p:cNvSpPr txBox="1"/>
          <p:nvPr/>
        </p:nvSpPr>
        <p:spPr>
          <a:xfrm>
            <a:off x="10881360" y="411480"/>
            <a:ext cx="731520" cy="274320"/>
          </a:xfrm>
          <a:prstGeom prst="rect">
            <a:avLst/>
          </a:prstGeom>
          <a:noFill/>
        </p:spPr>
        <p:txBody>
          <a:bodyPr wrap="square" anchor="t" lIns="45720" rIns="45720" tIns="27432" bIns="27432">
            <a:spAutoFit/>
          </a:bodyPr>
          <a:lstStyle/>
          <a:p>
            <a:pPr algn="r">
              <a:lnSpc>
                <a:spcPct val="110000"/>
              </a:lnSpc>
              <a:defRPr sz="1000" b="0" i="0">
                <a:solidFill>
                  <a:srgbClr val="898781"/>
                </a:solidFill>
                <a:latin typeface="Calibri"/>
              </a:defRPr>
            </a:pPr>
            <a:r>
              <a:t>1.5 min</a:t>
            </a:r>
          </a:p>
        </p:txBody>
      </p:sp>
      <p:sp>
        <p:nvSpPr>
          <p:cNvPr id="7" name="Rectangle 6"/>
          <p:cNvSpPr/>
          <p:nvPr/>
        </p:nvSpPr>
        <p:spPr>
          <a:xfrm>
            <a:off x="0" y="6537960"/>
            <a:ext cx="12191695" cy="320040"/>
          </a:xfrm>
          <a:prstGeom prst="rect">
            <a:avLst/>
          </a:prstGeom>
          <a:solidFill>
            <a:srgbClr val="0F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574536"/>
            <a:ext cx="7315200" cy="256032"/>
          </a:xfrm>
          <a:prstGeom prst="rect">
            <a:avLst/>
          </a:prstGeom>
          <a:noFill/>
        </p:spPr>
        <p:txBody>
          <a:bodyPr wrap="square" anchor="t" lIns="45720" rIns="45720" tIns="27432" bIns="27432">
            <a:spAutoFit/>
          </a:bodyPr>
          <a:lstStyle/>
          <a:p>
            <a:pPr algn="l">
              <a:lnSpc>
                <a:spcPct val="110000"/>
              </a:lnSpc>
              <a:defRPr sz="900" b="0" i="0">
                <a:solidFill>
                  <a:srgbClr val="C9D6E8"/>
                </a:solidFill>
                <a:latin typeface="Calibri"/>
              </a:defRPr>
            </a:pPr>
            <a:r>
              <a:t>Predicción conforme y abstención selectiva · AI4I 2020</a:t>
            </a:r>
          </a:p>
        </p:txBody>
      </p:sp>
      <p:sp>
        <p:nvSpPr>
          <p:cNvPr id="9" name="TextBox 8"/>
          <p:cNvSpPr txBox="1"/>
          <p:nvPr/>
        </p:nvSpPr>
        <p:spPr>
          <a:xfrm>
            <a:off x="11155680" y="6574536"/>
            <a:ext cx="457200" cy="256032"/>
          </a:xfrm>
          <a:prstGeom prst="rect">
            <a:avLst/>
          </a:prstGeom>
          <a:noFill/>
        </p:spPr>
        <p:txBody>
          <a:bodyPr wrap="square" anchor="t" lIns="45720" rIns="45720" tIns="27432" bIns="27432">
            <a:spAutoFit/>
          </a:bodyPr>
          <a:lstStyle/>
          <a:p>
            <a:pPr algn="r">
              <a:lnSpc>
                <a:spcPct val="110000"/>
              </a:lnSpc>
              <a:defRPr sz="900" b="0" i="0">
                <a:solidFill>
                  <a:srgbClr val="C9D6E8"/>
                </a:solidFill>
                <a:latin typeface="Calibri"/>
              </a:defRPr>
            </a:pPr>
            <a:r>
              <a:t>6</a:t>
            </a:r>
          </a:p>
        </p:txBody>
      </p:sp>
      <p:sp>
        <p:nvSpPr>
          <p:cNvPr id="10" name="Rounded Rectangle 9"/>
          <p:cNvSpPr/>
          <p:nvPr/>
        </p:nvSpPr>
        <p:spPr>
          <a:xfrm>
            <a:off x="10314432" y="713232"/>
            <a:ext cx="1188720" cy="274320"/>
          </a:xfrm>
          <a:prstGeom prst="roundRect">
            <a:avLst>
              <a:gd name="adj" fmla="val 30000"/>
            </a:avLst>
          </a:prstGeom>
          <a:solidFill>
            <a:srgbClr val="DC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14432" y="740664"/>
            <a:ext cx="1188720" cy="237744"/>
          </a:xfrm>
          <a:prstGeom prst="rect">
            <a:avLst/>
          </a:prstGeom>
          <a:noFill/>
        </p:spPr>
        <p:txBody>
          <a:bodyPr wrap="square" anchor="t" lIns="45720" rIns="45720" tIns="27432" bIns="27432">
            <a:spAutoFit/>
          </a:bodyPr>
          <a:lstStyle/>
          <a:p>
            <a:pPr algn="ctr">
              <a:lnSpc>
                <a:spcPct val="110000"/>
              </a:lnSpc>
              <a:defRPr sz="900" b="1" i="0">
                <a:solidFill>
                  <a:srgbClr val="1C5CAB"/>
                </a:solidFill>
                <a:latin typeface="Calibri"/>
              </a:defRPr>
            </a:pPr>
            <a:r>
              <a:t>Jaime</a:t>
            </a:r>
          </a:p>
        </p:txBody>
      </p:sp>
      <p:sp>
        <p:nvSpPr>
          <p:cNvPr id="12" name="TextBox 11"/>
          <p:cNvSpPr txBox="1"/>
          <p:nvPr/>
        </p:nvSpPr>
        <p:spPr>
          <a:xfrm>
            <a:off x="640080" y="1371600"/>
            <a:ext cx="5486400" cy="320040"/>
          </a:xfrm>
          <a:prstGeom prst="rect">
            <a:avLst/>
          </a:prstGeom>
          <a:noFill/>
        </p:spPr>
        <p:txBody>
          <a:bodyPr wrap="square" anchor="t" lIns="45720" rIns="45720" tIns="27432" bIns="27432">
            <a:spAutoFit/>
          </a:bodyPr>
          <a:lstStyle/>
          <a:p>
            <a:pPr algn="l">
              <a:lnSpc>
                <a:spcPct val="110000"/>
              </a:lnSpc>
              <a:defRPr sz="1400" b="1" i="0">
                <a:solidFill>
                  <a:srgbClr val="1C5CAB"/>
                </a:solidFill>
                <a:latin typeface="Calibri"/>
              </a:defRPr>
            </a:pPr>
            <a:r>
              <a:t>1. Puntuación de no conformidad</a:t>
            </a:r>
          </a:p>
        </p:txBody>
      </p:sp>
      <p:sp>
        <p:nvSpPr>
          <p:cNvPr id="13" name="TextBox 12"/>
          <p:cNvSpPr txBox="1"/>
          <p:nvPr/>
        </p:nvSpPr>
        <p:spPr>
          <a:xfrm>
            <a:off x="640080" y="1691640"/>
            <a:ext cx="5120640" cy="822960"/>
          </a:xfrm>
          <a:prstGeom prst="rect">
            <a:avLst/>
          </a:prstGeom>
          <a:noFill/>
        </p:spPr>
        <p:txBody>
          <a:bodyPr wrap="square" anchor="t" lIns="45720" rIns="45720" tIns="27432" bIns="27432">
            <a:spAutoFit/>
          </a:bodyPr>
          <a:lstStyle/>
          <a:p>
            <a:pPr algn="l">
              <a:lnSpc>
                <a:spcPct val="110000"/>
              </a:lnSpc>
              <a:defRPr sz="1200" b="0" i="0">
                <a:solidFill>
                  <a:srgbClr val="0B0B0B"/>
                </a:solidFill>
                <a:latin typeface="Calibri"/>
              </a:defRPr>
            </a:pPr>
            <a:r>
              <a:t>s(x, y) = 1 − p̂(y | x), con el modelo ya entrenado. Para cada ejemplo de calibración se toma la puntuación de su etiqueta verdadera.</a:t>
            </a:r>
          </a:p>
        </p:txBody>
      </p:sp>
      <p:sp>
        <p:nvSpPr>
          <p:cNvPr id="14" name="TextBox 13"/>
          <p:cNvSpPr txBox="1"/>
          <p:nvPr/>
        </p:nvSpPr>
        <p:spPr>
          <a:xfrm>
            <a:off x="640080" y="2514600"/>
            <a:ext cx="5486400" cy="320040"/>
          </a:xfrm>
          <a:prstGeom prst="rect">
            <a:avLst/>
          </a:prstGeom>
          <a:noFill/>
        </p:spPr>
        <p:txBody>
          <a:bodyPr wrap="square" anchor="t" lIns="45720" rIns="45720" tIns="27432" bIns="27432">
            <a:spAutoFit/>
          </a:bodyPr>
          <a:lstStyle/>
          <a:p>
            <a:pPr algn="l">
              <a:lnSpc>
                <a:spcPct val="110000"/>
              </a:lnSpc>
              <a:defRPr sz="1400" b="1" i="0">
                <a:solidFill>
                  <a:srgbClr val="1C5CAB"/>
                </a:solidFill>
                <a:latin typeface="Calibri"/>
              </a:defRPr>
            </a:pPr>
            <a:r>
              <a:t>2. Umbral</a:t>
            </a:r>
          </a:p>
        </p:txBody>
      </p:sp>
      <p:sp>
        <p:nvSpPr>
          <p:cNvPr id="15" name="TextBox 14"/>
          <p:cNvSpPr txBox="1"/>
          <p:nvPr/>
        </p:nvSpPr>
        <p:spPr>
          <a:xfrm>
            <a:off x="640080" y="2834640"/>
            <a:ext cx="5120640" cy="822960"/>
          </a:xfrm>
          <a:prstGeom prst="rect">
            <a:avLst/>
          </a:prstGeom>
          <a:noFill/>
        </p:spPr>
        <p:txBody>
          <a:bodyPr wrap="square" anchor="t" lIns="45720" rIns="45720" tIns="27432" bIns="27432">
            <a:spAutoFit/>
          </a:bodyPr>
          <a:lstStyle/>
          <a:p>
            <a:pPr algn="l">
              <a:lnSpc>
                <a:spcPct val="110000"/>
              </a:lnSpc>
              <a:defRPr sz="1200" b="0" i="0">
                <a:solidFill>
                  <a:srgbClr val="0B0B0B"/>
                </a:solidFill>
                <a:latin typeface="Calibri"/>
              </a:defRPr>
            </a:pPr>
            <a:r>
              <a:t>q̂ = puntuación de rango ⌈(n + 1)(1 − α)⌉ entre las n de calibración, sin interpolación. Si el rango supera n: q̂ = ∞.</a:t>
            </a:r>
          </a:p>
        </p:txBody>
      </p:sp>
      <p:sp>
        <p:nvSpPr>
          <p:cNvPr id="16" name="TextBox 15"/>
          <p:cNvSpPr txBox="1"/>
          <p:nvPr/>
        </p:nvSpPr>
        <p:spPr>
          <a:xfrm>
            <a:off x="640080" y="3657600"/>
            <a:ext cx="5486400" cy="320040"/>
          </a:xfrm>
          <a:prstGeom prst="rect">
            <a:avLst/>
          </a:prstGeom>
          <a:noFill/>
        </p:spPr>
        <p:txBody>
          <a:bodyPr wrap="square" anchor="t" lIns="45720" rIns="45720" tIns="27432" bIns="27432">
            <a:spAutoFit/>
          </a:bodyPr>
          <a:lstStyle/>
          <a:p>
            <a:pPr algn="l">
              <a:lnSpc>
                <a:spcPct val="110000"/>
              </a:lnSpc>
              <a:defRPr sz="1400" b="1" i="0">
                <a:solidFill>
                  <a:srgbClr val="1C5CAB"/>
                </a:solidFill>
                <a:latin typeface="Calibri"/>
              </a:defRPr>
            </a:pPr>
            <a:r>
              <a:t>3. Conjunto de predicción</a:t>
            </a:r>
          </a:p>
        </p:txBody>
      </p:sp>
      <p:sp>
        <p:nvSpPr>
          <p:cNvPr id="17" name="TextBox 16"/>
          <p:cNvSpPr txBox="1"/>
          <p:nvPr/>
        </p:nvSpPr>
        <p:spPr>
          <a:xfrm>
            <a:off x="640080" y="3977639"/>
            <a:ext cx="5120640" cy="548640"/>
          </a:xfrm>
          <a:prstGeom prst="rect">
            <a:avLst/>
          </a:prstGeom>
          <a:noFill/>
        </p:spPr>
        <p:txBody>
          <a:bodyPr wrap="square" anchor="t" lIns="45720" rIns="45720" tIns="27432" bIns="27432">
            <a:spAutoFit/>
          </a:bodyPr>
          <a:lstStyle/>
          <a:p>
            <a:pPr algn="l">
              <a:lnSpc>
                <a:spcPct val="110000"/>
              </a:lnSpc>
              <a:defRPr sz="1200" b="0" i="0">
                <a:solidFill>
                  <a:srgbClr val="0B0B0B"/>
                </a:solidFill>
                <a:latin typeface="Calibri"/>
              </a:defRPr>
            </a:pPr>
            <a:r>
              <a:t>C(x) = { y : s(x, y) ≤ q̂ }. Los empates se incluyen con ≤.</a:t>
            </a:r>
          </a:p>
        </p:txBody>
      </p:sp>
      <p:sp>
        <p:nvSpPr>
          <p:cNvPr id="18" name="Rounded Rectangle 17"/>
          <p:cNvSpPr/>
          <p:nvPr/>
        </p:nvSpPr>
        <p:spPr>
          <a:xfrm>
            <a:off x="640080" y="4709160"/>
            <a:ext cx="5120640" cy="1325880"/>
          </a:xfrm>
          <a:prstGeom prst="roundRect">
            <a:avLst>
              <a:gd name="adj" fmla="val 6000"/>
            </a:avLst>
          </a:prstGeom>
          <a:solidFill>
            <a:srgbClr val="DC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4773168"/>
            <a:ext cx="4754880" cy="320040"/>
          </a:xfrm>
          <a:prstGeom prst="rect">
            <a:avLst/>
          </a:prstGeom>
          <a:noFill/>
        </p:spPr>
        <p:txBody>
          <a:bodyPr wrap="square" anchor="t" lIns="45720" rIns="45720" tIns="27432" bIns="27432">
            <a:spAutoFit/>
          </a:bodyPr>
          <a:lstStyle/>
          <a:p>
            <a:pPr algn="l">
              <a:lnSpc>
                <a:spcPct val="110000"/>
              </a:lnSpc>
              <a:defRPr sz="1300" b="1" i="0">
                <a:solidFill>
                  <a:srgbClr val="1C5CAB"/>
                </a:solidFill>
                <a:latin typeface="Calibri"/>
              </a:defRPr>
            </a:pPr>
            <a:r>
              <a:t>Garantía (Vovk et al., 2005)</a:t>
            </a:r>
          </a:p>
        </p:txBody>
      </p:sp>
      <p:sp>
        <p:nvSpPr>
          <p:cNvPr id="20" name="TextBox 19"/>
          <p:cNvSpPr txBox="1"/>
          <p:nvPr/>
        </p:nvSpPr>
        <p:spPr>
          <a:xfrm>
            <a:off x="822960" y="5074920"/>
            <a:ext cx="4754880" cy="914400"/>
          </a:xfrm>
          <a:prstGeom prst="rect">
            <a:avLst/>
          </a:prstGeom>
          <a:noFill/>
        </p:spPr>
        <p:txBody>
          <a:bodyPr wrap="square" anchor="t" lIns="45720" rIns="45720" tIns="27432" bIns="27432">
            <a:spAutoFit/>
          </a:bodyPr>
          <a:lstStyle/>
          <a:p>
            <a:pPr algn="l">
              <a:lnSpc>
                <a:spcPct val="110000"/>
              </a:lnSpc>
              <a:defRPr sz="1100" b="0" i="0">
                <a:solidFill>
                  <a:srgbClr val="0B0B0B"/>
                </a:solidFill>
                <a:latin typeface="Calibri"/>
              </a:defRPr>
            </a:pPr>
            <a:r>
              <a:t>Si (X₁,Y₁), …, (Xₙ,Yₙ), (Xₙ₊₁,Yₙ₊₁) son intercambiables, P(Yₙ₊₁ ∈ C(Xₙ₊₁)) ≥ 1 − α. No depende de que el modelo sea bueno: un modelo malo produce conjuntos grandes, no conjuntos incorrectos.</a:t>
            </a:r>
          </a:p>
        </p:txBody>
      </p:sp>
      <p:sp>
        <p:nvSpPr>
          <p:cNvPr id="21" name="TextBox 20"/>
          <p:cNvSpPr txBox="1"/>
          <p:nvPr/>
        </p:nvSpPr>
        <p:spPr>
          <a:xfrm>
            <a:off x="6217920" y="1371600"/>
            <a:ext cx="5394960" cy="365760"/>
          </a:xfrm>
          <a:prstGeom prst="rect">
            <a:avLst/>
          </a:prstGeom>
          <a:noFill/>
        </p:spPr>
        <p:txBody>
          <a:bodyPr wrap="square" anchor="t" lIns="45720" rIns="45720" tIns="27432" bIns="27432">
            <a:spAutoFit/>
          </a:bodyPr>
          <a:lstStyle/>
          <a:p>
            <a:pPr algn="l">
              <a:lnSpc>
                <a:spcPct val="110000"/>
              </a:lnSpc>
              <a:defRPr sz="1300" b="1" i="0">
                <a:solidFill>
                  <a:srgbClr val="1C5CAB"/>
                </a:solidFill>
                <a:latin typeface="Calibri"/>
              </a:defRPr>
            </a:pPr>
            <a:r>
              <a:t>Ejemplo a mano: n = 5, α = 0.4 → rango ⌈6 × 0.6⌉ = 4</a:t>
            </a:r>
          </a:p>
        </p:txBody>
      </p:sp>
      <p:sp>
        <p:nvSpPr>
          <p:cNvPr id="22" name="Rectangle 21"/>
          <p:cNvSpPr/>
          <p:nvPr/>
        </p:nvSpPr>
        <p:spPr>
          <a:xfrm>
            <a:off x="6400800" y="2999232"/>
            <a:ext cx="2468880" cy="548640"/>
          </a:xfrm>
          <a:prstGeom prst="rect">
            <a:avLst/>
          </a:prstGeom>
          <a:solidFill>
            <a:srgbClr val="FBE3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a:off x="6400800" y="3291839"/>
            <a:ext cx="5120640" cy="0"/>
          </a:xfrm>
          <a:prstGeom prst="line">
            <a:avLst/>
          </a:prstGeom>
          <a:ln w="15240">
            <a:solidFill>
              <a:srgbClr val="52514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6396228" y="3218688"/>
            <a:ext cx="9144" cy="146304"/>
          </a:xfrm>
          <a:prstGeom prst="rect">
            <a:avLst/>
          </a:prstGeom>
          <a:solidFill>
            <a:srgbClr val="5251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26480" y="3401568"/>
            <a:ext cx="548640" cy="274320"/>
          </a:xfrm>
          <a:prstGeom prst="rect">
            <a:avLst/>
          </a:prstGeom>
          <a:noFill/>
        </p:spPr>
        <p:txBody>
          <a:bodyPr wrap="square" anchor="t" lIns="45720" rIns="45720" tIns="27432" bIns="27432">
            <a:spAutoFit/>
          </a:bodyPr>
          <a:lstStyle/>
          <a:p>
            <a:pPr algn="ctr">
              <a:lnSpc>
                <a:spcPct val="110000"/>
              </a:lnSpc>
              <a:defRPr sz="900" b="0" i="0">
                <a:solidFill>
                  <a:srgbClr val="52514E"/>
                </a:solidFill>
                <a:latin typeface="Calibri"/>
              </a:defRPr>
            </a:pPr>
            <a:r>
              <a:t>0.0</a:t>
            </a:r>
          </a:p>
        </p:txBody>
      </p:sp>
      <p:sp>
        <p:nvSpPr>
          <p:cNvPr id="26" name="Rectangle 25"/>
          <p:cNvSpPr/>
          <p:nvPr/>
        </p:nvSpPr>
        <p:spPr>
          <a:xfrm>
            <a:off x="7219188" y="3218688"/>
            <a:ext cx="9144" cy="146304"/>
          </a:xfrm>
          <a:prstGeom prst="rect">
            <a:avLst/>
          </a:prstGeom>
          <a:solidFill>
            <a:srgbClr val="5251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949440" y="3401568"/>
            <a:ext cx="548640" cy="274320"/>
          </a:xfrm>
          <a:prstGeom prst="rect">
            <a:avLst/>
          </a:prstGeom>
          <a:noFill/>
        </p:spPr>
        <p:txBody>
          <a:bodyPr wrap="square" anchor="t" lIns="45720" rIns="45720" tIns="27432" bIns="27432">
            <a:spAutoFit/>
          </a:bodyPr>
          <a:lstStyle/>
          <a:p>
            <a:pPr algn="ctr">
              <a:lnSpc>
                <a:spcPct val="110000"/>
              </a:lnSpc>
              <a:defRPr sz="900" b="0" i="0">
                <a:solidFill>
                  <a:srgbClr val="52514E"/>
                </a:solidFill>
                <a:latin typeface="Calibri"/>
              </a:defRPr>
            </a:pPr>
            <a:r>
              <a:t>0.1</a:t>
            </a:r>
          </a:p>
        </p:txBody>
      </p:sp>
      <p:sp>
        <p:nvSpPr>
          <p:cNvPr id="28" name="Rectangle 27"/>
          <p:cNvSpPr/>
          <p:nvPr/>
        </p:nvSpPr>
        <p:spPr>
          <a:xfrm>
            <a:off x="8042148" y="3218688"/>
            <a:ext cx="9144" cy="146304"/>
          </a:xfrm>
          <a:prstGeom prst="rect">
            <a:avLst/>
          </a:prstGeom>
          <a:solidFill>
            <a:srgbClr val="5251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772400" y="3401568"/>
            <a:ext cx="548640" cy="274320"/>
          </a:xfrm>
          <a:prstGeom prst="rect">
            <a:avLst/>
          </a:prstGeom>
          <a:noFill/>
        </p:spPr>
        <p:txBody>
          <a:bodyPr wrap="square" anchor="t" lIns="45720" rIns="45720" tIns="27432" bIns="27432">
            <a:spAutoFit/>
          </a:bodyPr>
          <a:lstStyle/>
          <a:p>
            <a:pPr algn="ctr">
              <a:lnSpc>
                <a:spcPct val="110000"/>
              </a:lnSpc>
              <a:defRPr sz="900" b="0" i="0">
                <a:solidFill>
                  <a:srgbClr val="52514E"/>
                </a:solidFill>
                <a:latin typeface="Calibri"/>
              </a:defRPr>
            </a:pPr>
            <a:r>
              <a:t>0.2</a:t>
            </a:r>
          </a:p>
        </p:txBody>
      </p:sp>
      <p:sp>
        <p:nvSpPr>
          <p:cNvPr id="30" name="Rectangle 29"/>
          <p:cNvSpPr/>
          <p:nvPr/>
        </p:nvSpPr>
        <p:spPr>
          <a:xfrm>
            <a:off x="8865107" y="3218688"/>
            <a:ext cx="9144" cy="146304"/>
          </a:xfrm>
          <a:prstGeom prst="rect">
            <a:avLst/>
          </a:prstGeom>
          <a:solidFill>
            <a:srgbClr val="5251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95359" y="3401568"/>
            <a:ext cx="548640" cy="274320"/>
          </a:xfrm>
          <a:prstGeom prst="rect">
            <a:avLst/>
          </a:prstGeom>
          <a:noFill/>
        </p:spPr>
        <p:txBody>
          <a:bodyPr wrap="square" anchor="t" lIns="45720" rIns="45720" tIns="27432" bIns="27432">
            <a:spAutoFit/>
          </a:bodyPr>
          <a:lstStyle/>
          <a:p>
            <a:pPr algn="ctr">
              <a:lnSpc>
                <a:spcPct val="110000"/>
              </a:lnSpc>
              <a:defRPr sz="900" b="0" i="0">
                <a:solidFill>
                  <a:srgbClr val="52514E"/>
                </a:solidFill>
                <a:latin typeface="Calibri"/>
              </a:defRPr>
            </a:pPr>
            <a:r>
              <a:t>0.3</a:t>
            </a:r>
          </a:p>
        </p:txBody>
      </p:sp>
      <p:sp>
        <p:nvSpPr>
          <p:cNvPr id="32" name="Rectangle 31"/>
          <p:cNvSpPr/>
          <p:nvPr/>
        </p:nvSpPr>
        <p:spPr>
          <a:xfrm>
            <a:off x="9688068" y="3218688"/>
            <a:ext cx="9144" cy="146304"/>
          </a:xfrm>
          <a:prstGeom prst="rect">
            <a:avLst/>
          </a:prstGeom>
          <a:solidFill>
            <a:srgbClr val="5251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418320" y="3401568"/>
            <a:ext cx="548640" cy="274320"/>
          </a:xfrm>
          <a:prstGeom prst="rect">
            <a:avLst/>
          </a:prstGeom>
          <a:noFill/>
        </p:spPr>
        <p:txBody>
          <a:bodyPr wrap="square" anchor="t" lIns="45720" rIns="45720" tIns="27432" bIns="27432">
            <a:spAutoFit/>
          </a:bodyPr>
          <a:lstStyle/>
          <a:p>
            <a:pPr algn="ctr">
              <a:lnSpc>
                <a:spcPct val="110000"/>
              </a:lnSpc>
              <a:defRPr sz="900" b="0" i="0">
                <a:solidFill>
                  <a:srgbClr val="52514E"/>
                </a:solidFill>
                <a:latin typeface="Calibri"/>
              </a:defRPr>
            </a:pPr>
            <a:r>
              <a:t>0.4</a:t>
            </a:r>
          </a:p>
        </p:txBody>
      </p:sp>
      <p:sp>
        <p:nvSpPr>
          <p:cNvPr id="34" name="Rectangle 33"/>
          <p:cNvSpPr/>
          <p:nvPr/>
        </p:nvSpPr>
        <p:spPr>
          <a:xfrm>
            <a:off x="10511028" y="3218688"/>
            <a:ext cx="9144" cy="146304"/>
          </a:xfrm>
          <a:prstGeom prst="rect">
            <a:avLst/>
          </a:prstGeom>
          <a:solidFill>
            <a:srgbClr val="5251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241280" y="3401568"/>
            <a:ext cx="548640" cy="274320"/>
          </a:xfrm>
          <a:prstGeom prst="rect">
            <a:avLst/>
          </a:prstGeom>
          <a:noFill/>
        </p:spPr>
        <p:txBody>
          <a:bodyPr wrap="square" anchor="t" lIns="45720" rIns="45720" tIns="27432" bIns="27432">
            <a:spAutoFit/>
          </a:bodyPr>
          <a:lstStyle/>
          <a:p>
            <a:pPr algn="ctr">
              <a:lnSpc>
                <a:spcPct val="110000"/>
              </a:lnSpc>
              <a:defRPr sz="900" b="0" i="0">
                <a:solidFill>
                  <a:srgbClr val="52514E"/>
                </a:solidFill>
                <a:latin typeface="Calibri"/>
              </a:defRPr>
            </a:pPr>
            <a:r>
              <a:t>0.5</a:t>
            </a:r>
          </a:p>
        </p:txBody>
      </p:sp>
      <p:sp>
        <p:nvSpPr>
          <p:cNvPr id="36" name="Rectangle 35"/>
          <p:cNvSpPr/>
          <p:nvPr/>
        </p:nvSpPr>
        <p:spPr>
          <a:xfrm>
            <a:off x="11333988" y="3218688"/>
            <a:ext cx="9144" cy="146304"/>
          </a:xfrm>
          <a:prstGeom prst="rect">
            <a:avLst/>
          </a:prstGeom>
          <a:solidFill>
            <a:srgbClr val="5251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1064240" y="3401568"/>
            <a:ext cx="548640" cy="274320"/>
          </a:xfrm>
          <a:prstGeom prst="rect">
            <a:avLst/>
          </a:prstGeom>
          <a:noFill/>
        </p:spPr>
        <p:txBody>
          <a:bodyPr wrap="square" anchor="t" lIns="45720" rIns="45720" tIns="27432" bIns="27432">
            <a:spAutoFit/>
          </a:bodyPr>
          <a:lstStyle/>
          <a:p>
            <a:pPr algn="ctr">
              <a:lnSpc>
                <a:spcPct val="110000"/>
              </a:lnSpc>
              <a:defRPr sz="900" b="0" i="0">
                <a:solidFill>
                  <a:srgbClr val="52514E"/>
                </a:solidFill>
                <a:latin typeface="Calibri"/>
              </a:defRPr>
            </a:pPr>
            <a:r>
              <a:t>0.6</a:t>
            </a:r>
          </a:p>
        </p:txBody>
      </p:sp>
      <p:sp>
        <p:nvSpPr>
          <p:cNvPr id="38" name="Oval 37"/>
          <p:cNvSpPr/>
          <p:nvPr/>
        </p:nvSpPr>
        <p:spPr>
          <a:xfrm>
            <a:off x="7104888" y="3172968"/>
            <a:ext cx="237744" cy="237744"/>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defRPr sz="900" b="1">
                <a:solidFill>
                  <a:srgbClr val="FFFFFF"/>
                </a:solidFill>
                <a:latin typeface="Calibri"/>
              </a:defRPr>
            </a:pPr>
            <a:r>
              <a:t>1</a:t>
            </a:r>
          </a:p>
        </p:txBody>
      </p:sp>
      <p:sp>
        <p:nvSpPr>
          <p:cNvPr id="39" name="Oval 38"/>
          <p:cNvSpPr/>
          <p:nvPr/>
        </p:nvSpPr>
        <p:spPr>
          <a:xfrm>
            <a:off x="7310628" y="3172968"/>
            <a:ext cx="237744" cy="237744"/>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defRPr sz="900" b="1">
                <a:solidFill>
                  <a:srgbClr val="FFFFFF"/>
                </a:solidFill>
                <a:latin typeface="Calibri"/>
              </a:defRPr>
            </a:pPr>
            <a:r>
              <a:t>2</a:t>
            </a:r>
          </a:p>
        </p:txBody>
      </p:sp>
      <p:sp>
        <p:nvSpPr>
          <p:cNvPr id="40" name="Oval 39"/>
          <p:cNvSpPr/>
          <p:nvPr/>
        </p:nvSpPr>
        <p:spPr>
          <a:xfrm>
            <a:off x="8339327" y="3172968"/>
            <a:ext cx="237744" cy="237744"/>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defRPr sz="900" b="1">
                <a:solidFill>
                  <a:srgbClr val="FFFFFF"/>
                </a:solidFill>
                <a:latin typeface="Calibri"/>
              </a:defRPr>
            </a:pPr>
            <a:r>
              <a:t>3</a:t>
            </a:r>
          </a:p>
        </p:txBody>
      </p:sp>
      <p:sp>
        <p:nvSpPr>
          <p:cNvPr id="41" name="Oval 40"/>
          <p:cNvSpPr/>
          <p:nvPr/>
        </p:nvSpPr>
        <p:spPr>
          <a:xfrm>
            <a:off x="8750807" y="3172968"/>
            <a:ext cx="237744" cy="237744"/>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defRPr sz="900" b="1">
                <a:solidFill>
                  <a:srgbClr val="FFFFFF"/>
                </a:solidFill>
                <a:latin typeface="Calibri"/>
              </a:defRPr>
            </a:pPr>
            <a:r>
              <a:t>4</a:t>
            </a:r>
          </a:p>
        </p:txBody>
      </p:sp>
      <p:sp>
        <p:nvSpPr>
          <p:cNvPr id="42" name="Oval 41"/>
          <p:cNvSpPr/>
          <p:nvPr/>
        </p:nvSpPr>
        <p:spPr>
          <a:xfrm>
            <a:off x="10396728" y="3172968"/>
            <a:ext cx="237744" cy="237744"/>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defRPr sz="900" b="1">
                <a:solidFill>
                  <a:srgbClr val="FFFFFF"/>
                </a:solidFill>
                <a:latin typeface="Calibri"/>
              </a:defRPr>
            </a:pPr>
            <a:r>
              <a:t>5</a:t>
            </a:r>
          </a:p>
        </p:txBody>
      </p:sp>
      <p:sp>
        <p:nvSpPr>
          <p:cNvPr id="43" name="TextBox 42"/>
          <p:cNvSpPr txBox="1"/>
          <p:nvPr/>
        </p:nvSpPr>
        <p:spPr>
          <a:xfrm>
            <a:off x="8046719" y="2514600"/>
            <a:ext cx="1645920" cy="320040"/>
          </a:xfrm>
          <a:prstGeom prst="rect">
            <a:avLst/>
          </a:prstGeom>
          <a:noFill/>
        </p:spPr>
        <p:txBody>
          <a:bodyPr wrap="square" anchor="t" lIns="45720" rIns="45720" tIns="27432" bIns="27432">
            <a:spAutoFit/>
          </a:bodyPr>
          <a:lstStyle/>
          <a:p>
            <a:pPr algn="ctr">
              <a:lnSpc>
                <a:spcPct val="110000"/>
              </a:lnSpc>
              <a:defRPr sz="1100" b="1" i="0">
                <a:solidFill>
                  <a:srgbClr val="EB6834"/>
                </a:solidFill>
                <a:latin typeface="Calibri"/>
              </a:defRPr>
            </a:pPr>
            <a:r>
              <a:t>q̂ = 0.30 (rango 4)</a:t>
            </a:r>
          </a:p>
        </p:txBody>
      </p:sp>
      <p:sp>
        <p:nvSpPr>
          <p:cNvPr id="44" name="TextBox 43"/>
          <p:cNvSpPr txBox="1"/>
          <p:nvPr/>
        </p:nvSpPr>
        <p:spPr>
          <a:xfrm>
            <a:off x="6400800" y="3703320"/>
            <a:ext cx="4937760" cy="274320"/>
          </a:xfrm>
          <a:prstGeom prst="rect">
            <a:avLst/>
          </a:prstGeom>
          <a:noFill/>
        </p:spPr>
        <p:txBody>
          <a:bodyPr wrap="square" anchor="t" lIns="45720" rIns="45720" tIns="27432" bIns="27432">
            <a:spAutoFit/>
          </a:bodyPr>
          <a:lstStyle/>
          <a:p>
            <a:pPr algn="ctr">
              <a:lnSpc>
                <a:spcPct val="110000"/>
              </a:lnSpc>
              <a:defRPr sz="1000" b="0" i="0">
                <a:solidFill>
                  <a:srgbClr val="52514E"/>
                </a:solidFill>
                <a:latin typeface="Calibri"/>
              </a:defRPr>
            </a:pPr>
            <a:r>
              <a:t>puntuación s de la etiqueta verdadera en calibración</a:t>
            </a:r>
          </a:p>
        </p:txBody>
      </p:sp>
      <p:sp>
        <p:nvSpPr>
          <p:cNvPr id="45" name="TextBox 44"/>
          <p:cNvSpPr txBox="1"/>
          <p:nvPr/>
        </p:nvSpPr>
        <p:spPr>
          <a:xfrm>
            <a:off x="6217920" y="4206240"/>
            <a:ext cx="5394960" cy="1828800"/>
          </a:xfrm>
          <a:prstGeom prst="rect">
            <a:avLst/>
          </a:prstGeom>
          <a:noFill/>
        </p:spPr>
        <p:txBody>
          <a:bodyPr wrap="square" anchor="t" lIns="45720" rIns="45720" tIns="27432" bIns="27432">
            <a:spAutoFit/>
          </a:bodyPr>
          <a:lstStyle/>
          <a:p>
            <a:pPr algn="l">
              <a:lnSpc>
                <a:spcPct val="120000"/>
              </a:lnSpc>
              <a:defRPr sz="1100" b="0" i="0">
                <a:solidFill>
                  <a:srgbClr val="0B0B0B"/>
                </a:solidFill>
                <a:latin typeface="Calibri"/>
              </a:defRPr>
            </a:pPr>
            <a:r>
              <a:t>Caso nuevo con p̂ = (0.80, 0.20): s(Normal) = 0.20 ≤ 0.30 ✓, s(TWF) = 0.80 ✗ → C = {Normal}, vía automática.</a:t>
            </a:r>
          </a:p>
          <a:p>
            <a:pPr algn="l">
              <a:lnSpc>
                <a:spcPct val="120000"/>
              </a:lnSpc>
              <a:defRPr sz="1100" b="0" i="0">
                <a:solidFill>
                  <a:srgbClr val="0B0B0B"/>
                </a:solidFill>
                <a:latin typeface="Calibri"/>
              </a:defRPr>
            </a:pPr>
            <a:r>
              <a:t>Caso nuevo con p̂ = (0.55, 0.45): s = 0.45 y 0.55, ambas &gt; 0.30 → C = ∅, vía humana.</a:t>
            </a:r>
          </a:p>
          <a:p>
            <a:pPr algn="l">
              <a:lnSpc>
                <a:spcPct val="120000"/>
              </a:lnSpc>
              <a:defRPr sz="1100" b="0" i="0">
                <a:solidFill>
                  <a:srgbClr val="0B0B0B"/>
                </a:solidFill>
                <a:latin typeface="Calibri"/>
              </a:defRPr>
            </a:pPr>
            <a:r>
              <a:t>Con las mismas cifras reales del proyecto: split hgb, α = 0.05, n = 2 992, rango 2 844, q̂ = 0.0019.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2331720"/>
            <a:ext cx="822960" cy="54864"/>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468880"/>
            <a:ext cx="10058400" cy="640080"/>
          </a:xfrm>
          <a:prstGeom prst="rect">
            <a:avLst/>
          </a:prstGeom>
          <a:noFill/>
        </p:spPr>
        <p:txBody>
          <a:bodyPr wrap="square" anchor="t" lIns="45720" rIns="45720" tIns="27432" bIns="27432">
            <a:spAutoFit/>
          </a:bodyPr>
          <a:lstStyle/>
          <a:p>
            <a:pPr algn="l">
              <a:lnSpc>
                <a:spcPct val="110000"/>
              </a:lnSpc>
              <a:defRPr sz="3200" b="1" i="0">
                <a:solidFill>
                  <a:srgbClr val="FFFFFF"/>
                </a:solidFill>
                <a:latin typeface="Calibri"/>
              </a:defRPr>
            </a:pPr>
            <a:r>
              <a:t>Hasta aquí: el método</a:t>
            </a:r>
          </a:p>
        </p:txBody>
      </p:sp>
      <p:sp>
        <p:nvSpPr>
          <p:cNvPr id="5" name="TextBox 4"/>
          <p:cNvSpPr txBox="1"/>
          <p:nvPr/>
        </p:nvSpPr>
        <p:spPr>
          <a:xfrm>
            <a:off x="822960" y="3200400"/>
            <a:ext cx="10058400" cy="457200"/>
          </a:xfrm>
          <a:prstGeom prst="rect">
            <a:avLst/>
          </a:prstGeom>
          <a:noFill/>
        </p:spPr>
        <p:txBody>
          <a:bodyPr wrap="square" anchor="t" lIns="45720" rIns="45720" tIns="27432" bIns="27432">
            <a:spAutoFit/>
          </a:bodyPr>
          <a:lstStyle/>
          <a:p>
            <a:pPr algn="l">
              <a:lnSpc>
                <a:spcPct val="110000"/>
              </a:lnSpc>
              <a:defRPr sz="1700" b="0" i="0">
                <a:solidFill>
                  <a:srgbClr val="C9D6E8"/>
                </a:solidFill>
                <a:latin typeface="Calibri"/>
              </a:defRPr>
            </a:pPr>
            <a:r>
              <a:t>Conjuntos de predicción con garantía y una política de tres vías por su tamaño.</a:t>
            </a:r>
          </a:p>
        </p:txBody>
      </p:sp>
      <p:sp>
        <p:nvSpPr>
          <p:cNvPr id="6" name="Rounded Rectangle 5"/>
          <p:cNvSpPr/>
          <p:nvPr/>
        </p:nvSpPr>
        <p:spPr>
          <a:xfrm>
            <a:off x="822960" y="3977639"/>
            <a:ext cx="5120640" cy="1371600"/>
          </a:xfrm>
          <a:prstGeom prst="roundRect">
            <a:avLst>
              <a:gd name="adj" fmla="val 6000"/>
            </a:avLst>
          </a:prstGeom>
          <a:solidFill>
            <a:srgbClr val="1C5C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4114800"/>
            <a:ext cx="4663440" cy="411480"/>
          </a:xfrm>
          <a:prstGeom prst="rect">
            <a:avLst/>
          </a:prstGeom>
          <a:noFill/>
        </p:spPr>
        <p:txBody>
          <a:bodyPr wrap="square" anchor="t" lIns="45720" rIns="45720" tIns="27432" bIns="27432">
            <a:spAutoFit/>
          </a:bodyPr>
          <a:lstStyle/>
          <a:p>
            <a:pPr algn="l">
              <a:lnSpc>
                <a:spcPct val="110000"/>
              </a:lnSpc>
              <a:defRPr sz="2000" b="1" i="0">
                <a:solidFill>
                  <a:srgbClr val="FFFFFF"/>
                </a:solidFill>
                <a:latin typeface="Calibri"/>
              </a:defRPr>
            </a:pPr>
            <a:r>
              <a:t>Ahora: ¿funciona?</a:t>
            </a:r>
          </a:p>
        </p:txBody>
      </p:sp>
      <p:sp>
        <p:nvSpPr>
          <p:cNvPr id="8" name="TextBox 7"/>
          <p:cNvSpPr txBox="1"/>
          <p:nvPr/>
        </p:nvSpPr>
        <p:spPr>
          <a:xfrm>
            <a:off x="1051560" y="4553712"/>
            <a:ext cx="4663440" cy="640080"/>
          </a:xfrm>
          <a:prstGeom prst="rect">
            <a:avLst/>
          </a:prstGeom>
          <a:noFill/>
        </p:spPr>
        <p:txBody>
          <a:bodyPr wrap="square" anchor="t" lIns="45720" rIns="45720" tIns="27432" bIns="27432">
            <a:spAutoFit/>
          </a:bodyPr>
          <a:lstStyle/>
          <a:p>
            <a:pPr algn="l">
              <a:lnSpc>
                <a:spcPct val="110000"/>
              </a:lnSpc>
              <a:defRPr sz="1400" b="0" i="0">
                <a:solidFill>
                  <a:srgbClr val="C9D6E8"/>
                </a:solidFill>
                <a:latin typeface="Calibri"/>
              </a:defRPr>
            </a:pPr>
            <a:r>
              <a:t>Implementación, resultados y conclusiones.</a:t>
            </a:r>
          </a:p>
        </p:txBody>
      </p:sp>
      <p:sp>
        <p:nvSpPr>
          <p:cNvPr id="9" name="TextBox 8"/>
          <p:cNvSpPr txBox="1"/>
          <p:nvPr/>
        </p:nvSpPr>
        <p:spPr>
          <a:xfrm>
            <a:off x="6400800" y="4206240"/>
            <a:ext cx="4572000" cy="457200"/>
          </a:xfrm>
          <a:prstGeom prst="rect">
            <a:avLst/>
          </a:prstGeom>
          <a:noFill/>
        </p:spPr>
        <p:txBody>
          <a:bodyPr wrap="square" anchor="t" lIns="45720" rIns="45720" tIns="27432" bIns="27432">
            <a:spAutoFit/>
          </a:bodyPr>
          <a:lstStyle/>
          <a:p>
            <a:pPr algn="l">
              <a:lnSpc>
                <a:spcPct val="110000"/>
              </a:lnSpc>
              <a:defRPr sz="2200" b="1" i="0">
                <a:solidFill>
                  <a:srgbClr val="EB6834"/>
                </a:solidFill>
                <a:latin typeface="Calibri"/>
              </a:defRPr>
            </a:pPr>
            <a:r>
              <a:t>Roberth Chachalo</a:t>
            </a:r>
          </a:p>
        </p:txBody>
      </p:sp>
      <p:sp>
        <p:nvSpPr>
          <p:cNvPr id="10" name="TextBox 9"/>
          <p:cNvSpPr txBox="1"/>
          <p:nvPr/>
        </p:nvSpPr>
        <p:spPr>
          <a:xfrm>
            <a:off x="6400800" y="4663440"/>
            <a:ext cx="4572000" cy="365760"/>
          </a:xfrm>
          <a:prstGeom prst="rect">
            <a:avLst/>
          </a:prstGeom>
          <a:noFill/>
        </p:spPr>
        <p:txBody>
          <a:bodyPr wrap="square" anchor="t" lIns="45720" rIns="45720" tIns="27432" bIns="27432">
            <a:spAutoFit/>
          </a:bodyPr>
          <a:lstStyle/>
          <a:p>
            <a:pPr algn="l">
              <a:lnSpc>
                <a:spcPct val="110000"/>
              </a:lnSpc>
              <a:defRPr sz="1400" b="0" i="0">
                <a:solidFill>
                  <a:srgbClr val="C9D6E8"/>
                </a:solidFill>
                <a:latin typeface="Calibri"/>
              </a:defRPr>
            </a:pPr>
            <a:r>
              <a:t>Bloque 2 · 5 minutos</a:t>
            </a:r>
          </a:p>
        </p:txBody>
      </p:sp>
      <p:sp>
        <p:nvSpPr>
          <p:cNvPr id="11" name="TextBox 10"/>
          <p:cNvSpPr txBox="1"/>
          <p:nvPr/>
        </p:nvSpPr>
        <p:spPr>
          <a:xfrm>
            <a:off x="11155680" y="6446520"/>
            <a:ext cx="457200" cy="274320"/>
          </a:xfrm>
          <a:prstGeom prst="rect">
            <a:avLst/>
          </a:prstGeom>
          <a:noFill/>
        </p:spPr>
        <p:txBody>
          <a:bodyPr wrap="square" anchor="t" lIns="45720" rIns="45720" tIns="27432" bIns="27432">
            <a:spAutoFit/>
          </a:bodyPr>
          <a:lstStyle/>
          <a:p>
            <a:pPr algn="r">
              <a:lnSpc>
                <a:spcPct val="110000"/>
              </a:lnSpc>
              <a:defRPr sz="900" b="0" i="0">
                <a:solidFill>
                  <a:srgbClr val="8FA6C4"/>
                </a:solidFill>
                <a:latin typeface="Calibri"/>
              </a:defRPr>
            </a:pPr>
            <a: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1170432"/>
            <a:ext cx="548640" cy="45720"/>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7315200" cy="274320"/>
          </a:xfrm>
          <a:prstGeom prst="rect">
            <a:avLst/>
          </a:prstGeom>
          <a:noFill/>
        </p:spPr>
        <p:txBody>
          <a:bodyPr wrap="square" anchor="t" lIns="45720" rIns="45720" tIns="27432" bIns="27432">
            <a:spAutoFit/>
          </a:bodyPr>
          <a:lstStyle/>
          <a:p>
            <a:pPr algn="l">
              <a:lnSpc>
                <a:spcPct val="110000"/>
              </a:lnSpc>
              <a:defRPr sz="1100" b="1" i="0">
                <a:solidFill>
                  <a:srgbClr val="EB6834"/>
                </a:solidFill>
                <a:latin typeface="Calibri"/>
              </a:defRPr>
            </a:pPr>
            <a:r>
              <a:t>4 · IMPLEMENTACIÓN</a:t>
            </a:r>
          </a:p>
        </p:txBody>
      </p:sp>
      <p:sp>
        <p:nvSpPr>
          <p:cNvPr id="5" name="TextBox 4"/>
          <p:cNvSpPr txBox="1"/>
          <p:nvPr/>
        </p:nvSpPr>
        <p:spPr>
          <a:xfrm>
            <a:off x="640080" y="566928"/>
            <a:ext cx="10058400" cy="640080"/>
          </a:xfrm>
          <a:prstGeom prst="rect">
            <a:avLst/>
          </a:prstGeom>
          <a:noFill/>
        </p:spPr>
        <p:txBody>
          <a:bodyPr wrap="square" anchor="t" lIns="45720" rIns="45720" tIns="27432" bIns="27432">
            <a:spAutoFit/>
          </a:bodyPr>
          <a:lstStyle/>
          <a:p>
            <a:pPr algn="l">
              <a:lnSpc>
                <a:spcPct val="110000"/>
              </a:lnSpc>
              <a:defRPr sz="2400" b="1" i="0">
                <a:solidFill>
                  <a:srgbClr val="0F2A4A"/>
                </a:solidFill>
                <a:latin typeface="Calibri"/>
              </a:defRPr>
            </a:pPr>
            <a:r>
              <a:t>Pipeline reproducible: dos clasificadores, una capa conforme</a:t>
            </a:r>
          </a:p>
        </p:txBody>
      </p:sp>
      <p:sp>
        <p:nvSpPr>
          <p:cNvPr id="6" name="TextBox 5"/>
          <p:cNvSpPr txBox="1"/>
          <p:nvPr/>
        </p:nvSpPr>
        <p:spPr>
          <a:xfrm>
            <a:off x="10881360" y="411480"/>
            <a:ext cx="731520" cy="274320"/>
          </a:xfrm>
          <a:prstGeom prst="rect">
            <a:avLst/>
          </a:prstGeom>
          <a:noFill/>
        </p:spPr>
        <p:txBody>
          <a:bodyPr wrap="square" anchor="t" lIns="45720" rIns="45720" tIns="27432" bIns="27432">
            <a:spAutoFit/>
          </a:bodyPr>
          <a:lstStyle/>
          <a:p>
            <a:pPr algn="r">
              <a:lnSpc>
                <a:spcPct val="110000"/>
              </a:lnSpc>
              <a:defRPr sz="1000" b="0" i="0">
                <a:solidFill>
                  <a:srgbClr val="898781"/>
                </a:solidFill>
                <a:latin typeface="Calibri"/>
              </a:defRPr>
            </a:pPr>
            <a:r>
              <a:t>0.85 min</a:t>
            </a:r>
          </a:p>
        </p:txBody>
      </p:sp>
      <p:sp>
        <p:nvSpPr>
          <p:cNvPr id="7" name="Rectangle 6"/>
          <p:cNvSpPr/>
          <p:nvPr/>
        </p:nvSpPr>
        <p:spPr>
          <a:xfrm>
            <a:off x="0" y="6537960"/>
            <a:ext cx="12191695" cy="320040"/>
          </a:xfrm>
          <a:prstGeom prst="rect">
            <a:avLst/>
          </a:prstGeom>
          <a:solidFill>
            <a:srgbClr val="0F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574536"/>
            <a:ext cx="7315200" cy="256032"/>
          </a:xfrm>
          <a:prstGeom prst="rect">
            <a:avLst/>
          </a:prstGeom>
          <a:noFill/>
        </p:spPr>
        <p:txBody>
          <a:bodyPr wrap="square" anchor="t" lIns="45720" rIns="45720" tIns="27432" bIns="27432">
            <a:spAutoFit/>
          </a:bodyPr>
          <a:lstStyle/>
          <a:p>
            <a:pPr algn="l">
              <a:lnSpc>
                <a:spcPct val="110000"/>
              </a:lnSpc>
              <a:defRPr sz="900" b="0" i="0">
                <a:solidFill>
                  <a:srgbClr val="C9D6E8"/>
                </a:solidFill>
                <a:latin typeface="Calibri"/>
              </a:defRPr>
            </a:pPr>
            <a:r>
              <a:t>Predicción conforme y abstención selectiva · AI4I 2020</a:t>
            </a:r>
          </a:p>
        </p:txBody>
      </p:sp>
      <p:sp>
        <p:nvSpPr>
          <p:cNvPr id="9" name="TextBox 8"/>
          <p:cNvSpPr txBox="1"/>
          <p:nvPr/>
        </p:nvSpPr>
        <p:spPr>
          <a:xfrm>
            <a:off x="11155680" y="6574536"/>
            <a:ext cx="457200" cy="256032"/>
          </a:xfrm>
          <a:prstGeom prst="rect">
            <a:avLst/>
          </a:prstGeom>
          <a:noFill/>
        </p:spPr>
        <p:txBody>
          <a:bodyPr wrap="square" anchor="t" lIns="45720" rIns="45720" tIns="27432" bIns="27432">
            <a:spAutoFit/>
          </a:bodyPr>
          <a:lstStyle/>
          <a:p>
            <a:pPr algn="r">
              <a:lnSpc>
                <a:spcPct val="110000"/>
              </a:lnSpc>
              <a:defRPr sz="900" b="0" i="0">
                <a:solidFill>
                  <a:srgbClr val="C9D6E8"/>
                </a:solidFill>
                <a:latin typeface="Calibri"/>
              </a:defRPr>
            </a:pPr>
            <a:r>
              <a:t>8</a:t>
            </a:r>
          </a:p>
        </p:txBody>
      </p:sp>
      <p:sp>
        <p:nvSpPr>
          <p:cNvPr id="10" name="Rounded Rectangle 9"/>
          <p:cNvSpPr/>
          <p:nvPr/>
        </p:nvSpPr>
        <p:spPr>
          <a:xfrm>
            <a:off x="10314432" y="713232"/>
            <a:ext cx="1188720" cy="274320"/>
          </a:xfrm>
          <a:prstGeom prst="roundRect">
            <a:avLst>
              <a:gd name="adj" fmla="val 30000"/>
            </a:avLst>
          </a:prstGeom>
          <a:solidFill>
            <a:srgbClr val="FBE3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14432" y="740664"/>
            <a:ext cx="1188720" cy="237744"/>
          </a:xfrm>
          <a:prstGeom prst="rect">
            <a:avLst/>
          </a:prstGeom>
          <a:noFill/>
        </p:spPr>
        <p:txBody>
          <a:bodyPr wrap="square" anchor="t" lIns="45720" rIns="45720" tIns="27432" bIns="27432">
            <a:spAutoFit/>
          </a:bodyPr>
          <a:lstStyle/>
          <a:p>
            <a:pPr algn="ctr">
              <a:lnSpc>
                <a:spcPct val="110000"/>
              </a:lnSpc>
              <a:defRPr sz="900" b="1" i="0">
                <a:solidFill>
                  <a:srgbClr val="EB6834"/>
                </a:solidFill>
                <a:latin typeface="Calibri"/>
              </a:defRPr>
            </a:pPr>
            <a:r>
              <a:t>Roberth</a:t>
            </a:r>
          </a:p>
        </p:txBody>
      </p:sp>
      <p:sp>
        <p:nvSpPr>
          <p:cNvPr id="12" name="Rounded Rectangle 11"/>
          <p:cNvSpPr/>
          <p:nvPr/>
        </p:nvSpPr>
        <p:spPr>
          <a:xfrm>
            <a:off x="640080" y="1554480"/>
            <a:ext cx="1234440" cy="914400"/>
          </a:xfrm>
          <a:prstGeom prst="roundRect">
            <a:avLst>
              <a:gd name="adj" fmla="val 10000"/>
            </a:avLst>
          </a:prstGeom>
          <a:solidFill>
            <a:srgbClr val="1C5CA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defRPr sz="1100" b="1">
                <a:solidFill>
                  <a:srgbClr val="FFFFFF"/>
                </a:solidFill>
                <a:latin typeface="Calibri"/>
              </a:defRPr>
            </a:pPr>
            <a:r>
              <a:t>CSV + hash</a:t>
            </a:r>
          </a:p>
        </p:txBody>
      </p:sp>
      <p:sp>
        <p:nvSpPr>
          <p:cNvPr id="13" name="TextBox 12"/>
          <p:cNvSpPr txBox="1"/>
          <p:nvPr/>
        </p:nvSpPr>
        <p:spPr>
          <a:xfrm>
            <a:off x="594359" y="2514600"/>
            <a:ext cx="1325880" cy="457200"/>
          </a:xfrm>
          <a:prstGeom prst="rect">
            <a:avLst/>
          </a:prstGeom>
          <a:noFill/>
        </p:spPr>
        <p:txBody>
          <a:bodyPr wrap="square" anchor="t" lIns="45720" rIns="45720" tIns="27432" bIns="27432">
            <a:spAutoFit/>
          </a:bodyPr>
          <a:lstStyle/>
          <a:p>
            <a:pPr algn="ctr">
              <a:lnSpc>
                <a:spcPct val="110000"/>
              </a:lnSpc>
              <a:defRPr sz="900" b="0" i="0">
                <a:solidFill>
                  <a:srgbClr val="52514E"/>
                </a:solidFill>
                <a:latin typeface="Calibri"/>
              </a:defRPr>
            </a:pPr>
            <a:r>
              <a:t>data.py</a:t>
            </a:r>
          </a:p>
        </p:txBody>
      </p:sp>
      <p:cxnSp>
        <p:nvCxnSpPr>
          <p:cNvPr id="14" name="Connector 13"/>
          <p:cNvCxnSpPr/>
          <p:nvPr/>
        </p:nvCxnSpPr>
        <p:spPr>
          <a:xfrm>
            <a:off x="1892808" y="2011680"/>
            <a:ext cx="100583" cy="0"/>
          </a:xfrm>
          <a:prstGeom prst="line">
            <a:avLst/>
          </a:prstGeom>
          <a:ln w="19050">
            <a:solidFill>
              <a:srgbClr val="8987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2011680" y="1554480"/>
            <a:ext cx="1234440" cy="914400"/>
          </a:xfrm>
          <a:prstGeom prst="roundRect">
            <a:avLst>
              <a:gd name="adj" fmla="val 10000"/>
            </a:avLst>
          </a:prstGeom>
          <a:solidFill>
            <a:srgbClr val="1C5CA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defRPr sz="1100" b="1">
                <a:solidFill>
                  <a:srgbClr val="FFFFFF"/>
                </a:solidFill>
                <a:latin typeface="Calibri"/>
              </a:defRPr>
            </a:pPr>
            <a:r>
              <a:t>Auditoría y etiquetas</a:t>
            </a:r>
          </a:p>
        </p:txBody>
      </p:sp>
      <p:sp>
        <p:nvSpPr>
          <p:cNvPr id="16" name="TextBox 15"/>
          <p:cNvSpPr txBox="1"/>
          <p:nvPr/>
        </p:nvSpPr>
        <p:spPr>
          <a:xfrm>
            <a:off x="1965960" y="2514600"/>
            <a:ext cx="1325880" cy="457200"/>
          </a:xfrm>
          <a:prstGeom prst="rect">
            <a:avLst/>
          </a:prstGeom>
          <a:noFill/>
        </p:spPr>
        <p:txBody>
          <a:bodyPr wrap="square" anchor="t" lIns="45720" rIns="45720" tIns="27432" bIns="27432">
            <a:spAutoFit/>
          </a:bodyPr>
          <a:lstStyle/>
          <a:p>
            <a:pPr algn="ctr">
              <a:lnSpc>
                <a:spcPct val="110000"/>
              </a:lnSpc>
              <a:defRPr sz="900" b="0" i="0">
                <a:solidFill>
                  <a:srgbClr val="52514E"/>
                </a:solidFill>
                <a:latin typeface="Calibri"/>
              </a:defRPr>
            </a:pPr>
            <a:r>
              <a:t>data.py</a:t>
            </a:r>
          </a:p>
        </p:txBody>
      </p:sp>
      <p:cxnSp>
        <p:nvCxnSpPr>
          <p:cNvPr id="17" name="Connector 16"/>
          <p:cNvCxnSpPr/>
          <p:nvPr/>
        </p:nvCxnSpPr>
        <p:spPr>
          <a:xfrm>
            <a:off x="3264408" y="2011680"/>
            <a:ext cx="100584" cy="0"/>
          </a:xfrm>
          <a:prstGeom prst="line">
            <a:avLst/>
          </a:prstGeom>
          <a:ln w="19050">
            <a:solidFill>
              <a:srgbClr val="8987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3383280" y="1554480"/>
            <a:ext cx="1234440" cy="914400"/>
          </a:xfrm>
          <a:prstGeom prst="roundRect">
            <a:avLst>
              <a:gd name="adj" fmla="val 10000"/>
            </a:avLst>
          </a:prstGeom>
          <a:solidFill>
            <a:srgbClr val="1C5CA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defRPr sz="1100" b="1">
                <a:solidFill>
                  <a:srgbClr val="FFFFFF"/>
                </a:solidFill>
                <a:latin typeface="Calibri"/>
              </a:defRPr>
            </a:pPr>
            <a:r>
              <a:t>Particiones y viabilidad</a:t>
            </a:r>
          </a:p>
        </p:txBody>
      </p:sp>
      <p:sp>
        <p:nvSpPr>
          <p:cNvPr id="19" name="TextBox 18"/>
          <p:cNvSpPr txBox="1"/>
          <p:nvPr/>
        </p:nvSpPr>
        <p:spPr>
          <a:xfrm>
            <a:off x="3337560" y="2514600"/>
            <a:ext cx="1325880" cy="457200"/>
          </a:xfrm>
          <a:prstGeom prst="rect">
            <a:avLst/>
          </a:prstGeom>
          <a:noFill/>
        </p:spPr>
        <p:txBody>
          <a:bodyPr wrap="square" anchor="t" lIns="45720" rIns="45720" tIns="27432" bIns="27432">
            <a:spAutoFit/>
          </a:bodyPr>
          <a:lstStyle/>
          <a:p>
            <a:pPr algn="ctr">
              <a:lnSpc>
                <a:spcPct val="110000"/>
              </a:lnSpc>
              <a:defRPr sz="900" b="0" i="0">
                <a:solidFill>
                  <a:srgbClr val="52514E"/>
                </a:solidFill>
                <a:latin typeface="Calibri"/>
              </a:defRPr>
            </a:pPr>
            <a:r>
              <a:t>splitting.py</a:t>
            </a:r>
          </a:p>
        </p:txBody>
      </p:sp>
      <p:cxnSp>
        <p:nvCxnSpPr>
          <p:cNvPr id="20" name="Connector 19"/>
          <p:cNvCxnSpPr/>
          <p:nvPr/>
        </p:nvCxnSpPr>
        <p:spPr>
          <a:xfrm>
            <a:off x="4636008" y="2011680"/>
            <a:ext cx="100584" cy="0"/>
          </a:xfrm>
          <a:prstGeom prst="line">
            <a:avLst/>
          </a:prstGeom>
          <a:ln w="19050">
            <a:solidFill>
              <a:srgbClr val="8987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754880" y="1554480"/>
            <a:ext cx="1234440" cy="914400"/>
          </a:xfrm>
          <a:prstGeom prst="roundRect">
            <a:avLst>
              <a:gd name="adj" fmla="val 10000"/>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defRPr sz="1100" b="1">
                <a:solidFill>
                  <a:srgbClr val="FFFFFF"/>
                </a:solidFill>
                <a:latin typeface="Calibri"/>
              </a:defRPr>
            </a:pPr>
            <a:r>
              <a:t>HGB · MLP (GPU)</a:t>
            </a:r>
          </a:p>
        </p:txBody>
      </p:sp>
      <p:sp>
        <p:nvSpPr>
          <p:cNvPr id="22" name="TextBox 21"/>
          <p:cNvSpPr txBox="1"/>
          <p:nvPr/>
        </p:nvSpPr>
        <p:spPr>
          <a:xfrm>
            <a:off x="4709160" y="2514600"/>
            <a:ext cx="1325880" cy="457200"/>
          </a:xfrm>
          <a:prstGeom prst="rect">
            <a:avLst/>
          </a:prstGeom>
          <a:noFill/>
        </p:spPr>
        <p:txBody>
          <a:bodyPr wrap="square" anchor="t" lIns="45720" rIns="45720" tIns="27432" bIns="27432">
            <a:spAutoFit/>
          </a:bodyPr>
          <a:lstStyle/>
          <a:p>
            <a:pPr algn="ctr">
              <a:lnSpc>
                <a:spcPct val="110000"/>
              </a:lnSpc>
              <a:defRPr sz="900" b="0" i="0">
                <a:solidFill>
                  <a:srgbClr val="52514E"/>
                </a:solidFill>
                <a:latin typeface="Calibri"/>
              </a:defRPr>
            </a:pPr>
            <a:r>
              <a:t>model.py · torch_model.py</a:t>
            </a:r>
          </a:p>
        </p:txBody>
      </p:sp>
      <p:cxnSp>
        <p:nvCxnSpPr>
          <p:cNvPr id="23" name="Connector 22"/>
          <p:cNvCxnSpPr/>
          <p:nvPr/>
        </p:nvCxnSpPr>
        <p:spPr>
          <a:xfrm>
            <a:off x="6007608" y="2011680"/>
            <a:ext cx="100584" cy="0"/>
          </a:xfrm>
          <a:prstGeom prst="line">
            <a:avLst/>
          </a:prstGeom>
          <a:ln w="19050">
            <a:solidFill>
              <a:srgbClr val="8987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126480" y="1554480"/>
            <a:ext cx="1234440" cy="914400"/>
          </a:xfrm>
          <a:prstGeom prst="roundRect">
            <a:avLst>
              <a:gd name="adj" fmla="val 10000"/>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defRPr sz="1100" b="1">
                <a:solidFill>
                  <a:srgbClr val="FFFFFF"/>
                </a:solidFill>
                <a:latin typeface="Calibri"/>
              </a:defRPr>
            </a:pPr>
            <a:r>
              <a:t>Puntuaciones y cuantil</a:t>
            </a:r>
          </a:p>
        </p:txBody>
      </p:sp>
      <p:sp>
        <p:nvSpPr>
          <p:cNvPr id="25" name="TextBox 24"/>
          <p:cNvSpPr txBox="1"/>
          <p:nvPr/>
        </p:nvSpPr>
        <p:spPr>
          <a:xfrm>
            <a:off x="6080760" y="2514600"/>
            <a:ext cx="1325880" cy="457200"/>
          </a:xfrm>
          <a:prstGeom prst="rect">
            <a:avLst/>
          </a:prstGeom>
          <a:noFill/>
        </p:spPr>
        <p:txBody>
          <a:bodyPr wrap="square" anchor="t" lIns="45720" rIns="45720" tIns="27432" bIns="27432">
            <a:spAutoFit/>
          </a:bodyPr>
          <a:lstStyle/>
          <a:p>
            <a:pPr algn="ctr">
              <a:lnSpc>
                <a:spcPct val="110000"/>
              </a:lnSpc>
              <a:defRPr sz="900" b="0" i="0">
                <a:solidFill>
                  <a:srgbClr val="52514E"/>
                </a:solidFill>
                <a:latin typeface="Calibri"/>
              </a:defRPr>
            </a:pPr>
            <a:r>
              <a:t>scores.py · conformal.py</a:t>
            </a:r>
          </a:p>
        </p:txBody>
      </p:sp>
      <p:cxnSp>
        <p:nvCxnSpPr>
          <p:cNvPr id="26" name="Connector 25"/>
          <p:cNvCxnSpPr/>
          <p:nvPr/>
        </p:nvCxnSpPr>
        <p:spPr>
          <a:xfrm>
            <a:off x="7379208" y="2011680"/>
            <a:ext cx="100584" cy="0"/>
          </a:xfrm>
          <a:prstGeom prst="line">
            <a:avLst/>
          </a:prstGeom>
          <a:ln w="19050">
            <a:solidFill>
              <a:srgbClr val="8987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7498079" y="1554480"/>
            <a:ext cx="1234440" cy="914400"/>
          </a:xfrm>
          <a:prstGeom prst="roundRect">
            <a:avLst>
              <a:gd name="adj" fmla="val 10000"/>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defRPr sz="1100" b="1">
                <a:solidFill>
                  <a:srgbClr val="FFFFFF"/>
                </a:solidFill>
                <a:latin typeface="Calibri"/>
              </a:defRPr>
            </a:pPr>
            <a:r>
              <a:t>Split · Mondrian</a:t>
            </a:r>
          </a:p>
        </p:txBody>
      </p:sp>
      <p:sp>
        <p:nvSpPr>
          <p:cNvPr id="28" name="TextBox 27"/>
          <p:cNvSpPr txBox="1"/>
          <p:nvPr/>
        </p:nvSpPr>
        <p:spPr>
          <a:xfrm>
            <a:off x="7452359" y="2514600"/>
            <a:ext cx="1325880" cy="457200"/>
          </a:xfrm>
          <a:prstGeom prst="rect">
            <a:avLst/>
          </a:prstGeom>
          <a:noFill/>
        </p:spPr>
        <p:txBody>
          <a:bodyPr wrap="square" anchor="t" lIns="45720" rIns="45720" tIns="27432" bIns="27432">
            <a:spAutoFit/>
          </a:bodyPr>
          <a:lstStyle/>
          <a:p>
            <a:pPr algn="ctr">
              <a:lnSpc>
                <a:spcPct val="110000"/>
              </a:lnSpc>
              <a:defRPr sz="900" b="0" i="0">
                <a:solidFill>
                  <a:srgbClr val="52514E"/>
                </a:solidFill>
                <a:latin typeface="Calibri"/>
              </a:defRPr>
            </a:pPr>
            <a:r>
              <a:t>conformal.py</a:t>
            </a:r>
          </a:p>
        </p:txBody>
      </p:sp>
      <p:cxnSp>
        <p:nvCxnSpPr>
          <p:cNvPr id="29" name="Connector 28"/>
          <p:cNvCxnSpPr/>
          <p:nvPr/>
        </p:nvCxnSpPr>
        <p:spPr>
          <a:xfrm>
            <a:off x="8750808" y="2011680"/>
            <a:ext cx="100584" cy="0"/>
          </a:xfrm>
          <a:prstGeom prst="line">
            <a:avLst/>
          </a:prstGeom>
          <a:ln w="19050">
            <a:solidFill>
              <a:srgbClr val="8987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8869680" y="1554480"/>
            <a:ext cx="1234440" cy="914400"/>
          </a:xfrm>
          <a:prstGeom prst="roundRect">
            <a:avLst>
              <a:gd name="adj" fmla="val 10000"/>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defRPr sz="1100" b="1">
                <a:solidFill>
                  <a:srgbClr val="FFFFFF"/>
                </a:solidFill>
                <a:latin typeface="Calibri"/>
              </a:defRPr>
            </a:pPr>
            <a:r>
              <a:t>Tres vías</a:t>
            </a:r>
          </a:p>
        </p:txBody>
      </p:sp>
      <p:sp>
        <p:nvSpPr>
          <p:cNvPr id="31" name="TextBox 30"/>
          <p:cNvSpPr txBox="1"/>
          <p:nvPr/>
        </p:nvSpPr>
        <p:spPr>
          <a:xfrm>
            <a:off x="8823959" y="2514600"/>
            <a:ext cx="1325880" cy="457200"/>
          </a:xfrm>
          <a:prstGeom prst="rect">
            <a:avLst/>
          </a:prstGeom>
          <a:noFill/>
        </p:spPr>
        <p:txBody>
          <a:bodyPr wrap="square" anchor="t" lIns="45720" rIns="45720" tIns="27432" bIns="27432">
            <a:spAutoFit/>
          </a:bodyPr>
          <a:lstStyle/>
          <a:p>
            <a:pPr algn="ctr">
              <a:lnSpc>
                <a:spcPct val="110000"/>
              </a:lnSpc>
              <a:defRPr sz="900" b="0" i="0">
                <a:solidFill>
                  <a:srgbClr val="52514E"/>
                </a:solidFill>
                <a:latin typeface="Calibri"/>
              </a:defRPr>
            </a:pPr>
            <a:r>
              <a:t>decision.py</a:t>
            </a:r>
          </a:p>
        </p:txBody>
      </p:sp>
      <p:cxnSp>
        <p:nvCxnSpPr>
          <p:cNvPr id="32" name="Connector 31"/>
          <p:cNvCxnSpPr/>
          <p:nvPr/>
        </p:nvCxnSpPr>
        <p:spPr>
          <a:xfrm>
            <a:off x="10122408" y="2011680"/>
            <a:ext cx="100584" cy="0"/>
          </a:xfrm>
          <a:prstGeom prst="line">
            <a:avLst/>
          </a:prstGeom>
          <a:ln w="19050">
            <a:solidFill>
              <a:srgbClr val="8987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10241280" y="1554480"/>
            <a:ext cx="1234440" cy="914400"/>
          </a:xfrm>
          <a:prstGeom prst="roundRect">
            <a:avLst>
              <a:gd name="adj" fmla="val 10000"/>
            </a:avLst>
          </a:prstGeom>
          <a:solidFill>
            <a:srgbClr val="1C5CA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defRPr sz="1100" b="1">
                <a:solidFill>
                  <a:srgbClr val="FFFFFF"/>
                </a:solidFill>
                <a:latin typeface="Calibri"/>
              </a:defRPr>
            </a:pPr>
            <a:r>
              <a:t>Métricas y figuras</a:t>
            </a:r>
          </a:p>
        </p:txBody>
      </p:sp>
      <p:sp>
        <p:nvSpPr>
          <p:cNvPr id="34" name="TextBox 33"/>
          <p:cNvSpPr txBox="1"/>
          <p:nvPr/>
        </p:nvSpPr>
        <p:spPr>
          <a:xfrm>
            <a:off x="10195559" y="2514600"/>
            <a:ext cx="1325880" cy="457200"/>
          </a:xfrm>
          <a:prstGeom prst="rect">
            <a:avLst/>
          </a:prstGeom>
          <a:noFill/>
        </p:spPr>
        <p:txBody>
          <a:bodyPr wrap="square" anchor="t" lIns="45720" rIns="45720" tIns="27432" bIns="27432">
            <a:spAutoFit/>
          </a:bodyPr>
          <a:lstStyle/>
          <a:p>
            <a:pPr algn="ctr">
              <a:lnSpc>
                <a:spcPct val="110000"/>
              </a:lnSpc>
              <a:defRPr sz="900" b="0" i="0">
                <a:solidFill>
                  <a:srgbClr val="52514E"/>
                </a:solidFill>
                <a:latin typeface="Calibri"/>
              </a:defRPr>
            </a:pPr>
            <a:r>
              <a:t>evaluation.py · pipeline.py</a:t>
            </a:r>
          </a:p>
        </p:txBody>
      </p:sp>
      <p:sp>
        <p:nvSpPr>
          <p:cNvPr id="35" name="TextBox 34"/>
          <p:cNvSpPr txBox="1"/>
          <p:nvPr/>
        </p:nvSpPr>
        <p:spPr>
          <a:xfrm>
            <a:off x="640080" y="3017520"/>
            <a:ext cx="10881360" cy="548640"/>
          </a:xfrm>
          <a:prstGeom prst="rect">
            <a:avLst/>
          </a:prstGeom>
          <a:noFill/>
        </p:spPr>
        <p:txBody>
          <a:bodyPr wrap="square" anchor="t" lIns="45720" rIns="45720" tIns="27432" bIns="27432">
            <a:spAutoFit/>
          </a:bodyPr>
          <a:lstStyle/>
          <a:p>
            <a:pPr algn="l">
              <a:lnSpc>
                <a:spcPct val="110000"/>
              </a:lnSpc>
              <a:defRPr sz="1200" b="0" i="1">
                <a:solidFill>
                  <a:srgbClr val="52514E"/>
                </a:solidFill>
                <a:latin typeface="Calibri"/>
              </a:defRPr>
            </a:pPr>
            <a:r>
              <a:t>Un solo entrenamiento por modelo; probabilidades, particiones y alphas compartidos por ambas variantes. Calibración separada del ajuste y del bloque de prueba. Nada se selecciona con prueba.</a:t>
            </a:r>
          </a:p>
        </p:txBody>
      </p:sp>
      <p:sp>
        <p:nvSpPr>
          <p:cNvPr id="36" name="TextBox 35"/>
          <p:cNvSpPr txBox="1"/>
          <p:nvPr/>
        </p:nvSpPr>
        <p:spPr>
          <a:xfrm>
            <a:off x="640080" y="3749039"/>
            <a:ext cx="2103120" cy="640080"/>
          </a:xfrm>
          <a:prstGeom prst="rect">
            <a:avLst/>
          </a:prstGeom>
          <a:noFill/>
        </p:spPr>
        <p:txBody>
          <a:bodyPr wrap="square" anchor="t" lIns="45720" rIns="45720" tIns="27432" bIns="27432">
            <a:spAutoFit/>
          </a:bodyPr>
          <a:lstStyle/>
          <a:p>
            <a:pPr algn="l">
              <a:lnSpc>
                <a:spcPct val="110000"/>
              </a:lnSpc>
              <a:defRPr sz="3000" b="1" i="0">
                <a:solidFill>
                  <a:srgbClr val="2A78D6"/>
                </a:solidFill>
                <a:latin typeface="Calibri"/>
              </a:defRPr>
            </a:pPr>
            <a:r>
              <a:t>112</a:t>
            </a:r>
          </a:p>
        </p:txBody>
      </p:sp>
      <p:sp>
        <p:nvSpPr>
          <p:cNvPr id="37" name="TextBox 36"/>
          <p:cNvSpPr txBox="1"/>
          <p:nvPr/>
        </p:nvSpPr>
        <p:spPr>
          <a:xfrm>
            <a:off x="640080" y="4370831"/>
            <a:ext cx="2103120" cy="457200"/>
          </a:xfrm>
          <a:prstGeom prst="rect">
            <a:avLst/>
          </a:prstGeom>
          <a:noFill/>
        </p:spPr>
        <p:txBody>
          <a:bodyPr wrap="square" anchor="t" lIns="45720" rIns="45720" tIns="27432" bIns="27432">
            <a:spAutoFit/>
          </a:bodyPr>
          <a:lstStyle/>
          <a:p>
            <a:pPr algn="l">
              <a:lnSpc>
                <a:spcPct val="110000"/>
              </a:lnSpc>
              <a:defRPr sz="1200" b="0" i="0">
                <a:solidFill>
                  <a:srgbClr val="52514E"/>
                </a:solidFill>
                <a:latin typeface="Calibri"/>
              </a:defRPr>
            </a:pPr>
            <a:r>
              <a:t>pruebas: cuantil, empates, clases ausentes, particiones, métricas, CLI, integración</a:t>
            </a:r>
          </a:p>
        </p:txBody>
      </p:sp>
      <p:sp>
        <p:nvSpPr>
          <p:cNvPr id="38" name="TextBox 37"/>
          <p:cNvSpPr txBox="1"/>
          <p:nvPr/>
        </p:nvSpPr>
        <p:spPr>
          <a:xfrm>
            <a:off x="2926080" y="3749039"/>
            <a:ext cx="2103120" cy="640080"/>
          </a:xfrm>
          <a:prstGeom prst="rect">
            <a:avLst/>
          </a:prstGeom>
          <a:noFill/>
        </p:spPr>
        <p:txBody>
          <a:bodyPr wrap="square" anchor="t" lIns="45720" rIns="45720" tIns="27432" bIns="27432">
            <a:spAutoFit/>
          </a:bodyPr>
          <a:lstStyle/>
          <a:p>
            <a:pPr algn="l">
              <a:lnSpc>
                <a:spcPct val="110000"/>
              </a:lnSpc>
              <a:defRPr sz="3000" b="1" i="0">
                <a:solidFill>
                  <a:srgbClr val="2A78D6"/>
                </a:solidFill>
                <a:latin typeface="Calibri"/>
              </a:defRPr>
            </a:pPr>
            <a:r>
              <a:t>1</a:t>
            </a:r>
          </a:p>
        </p:txBody>
      </p:sp>
      <p:sp>
        <p:nvSpPr>
          <p:cNvPr id="39" name="TextBox 38"/>
          <p:cNvSpPr txBox="1"/>
          <p:nvPr/>
        </p:nvSpPr>
        <p:spPr>
          <a:xfrm>
            <a:off x="2926080" y="4370831"/>
            <a:ext cx="2103120" cy="457200"/>
          </a:xfrm>
          <a:prstGeom prst="rect">
            <a:avLst/>
          </a:prstGeom>
          <a:noFill/>
        </p:spPr>
        <p:txBody>
          <a:bodyPr wrap="square" anchor="t" lIns="45720" rIns="45720" tIns="27432" bIns="27432">
            <a:spAutoFit/>
          </a:bodyPr>
          <a:lstStyle/>
          <a:p>
            <a:pPr algn="l">
              <a:lnSpc>
                <a:spcPct val="110000"/>
              </a:lnSpc>
              <a:defRPr sz="1200" b="0" i="0">
                <a:solidFill>
                  <a:srgbClr val="52514E"/>
                </a:solidFill>
                <a:latin typeface="Calibri"/>
              </a:defRPr>
            </a:pPr>
            <a:r>
              <a:t>comando reproduce todo:</a:t>
            </a:r>
            <a:br/>
            <a:r>
              <a:t>python -m conformal_fault_inference_with_abstention</a:t>
            </a:r>
          </a:p>
        </p:txBody>
      </p:sp>
      <p:sp>
        <p:nvSpPr>
          <p:cNvPr id="40" name="TextBox 39"/>
          <p:cNvSpPr txBox="1"/>
          <p:nvPr/>
        </p:nvSpPr>
        <p:spPr>
          <a:xfrm>
            <a:off x="5212080" y="3749039"/>
            <a:ext cx="2103120" cy="640080"/>
          </a:xfrm>
          <a:prstGeom prst="rect">
            <a:avLst/>
          </a:prstGeom>
          <a:noFill/>
        </p:spPr>
        <p:txBody>
          <a:bodyPr wrap="square" anchor="t" lIns="45720" rIns="45720" tIns="27432" bIns="27432">
            <a:spAutoFit/>
          </a:bodyPr>
          <a:lstStyle/>
          <a:p>
            <a:pPr algn="l">
              <a:lnSpc>
                <a:spcPct val="110000"/>
              </a:lnSpc>
              <a:defRPr sz="2200" b="1" i="0">
                <a:solidFill>
                  <a:srgbClr val="1C5CAB"/>
                </a:solidFill>
                <a:latin typeface="Calibri"/>
              </a:defRPr>
            </a:pPr>
            <a:r>
              <a:t>SHA-256</a:t>
            </a:r>
          </a:p>
        </p:txBody>
      </p:sp>
      <p:sp>
        <p:nvSpPr>
          <p:cNvPr id="41" name="TextBox 40"/>
          <p:cNvSpPr txBox="1"/>
          <p:nvPr/>
        </p:nvSpPr>
        <p:spPr>
          <a:xfrm>
            <a:off x="5212080" y="4370831"/>
            <a:ext cx="2103120" cy="457200"/>
          </a:xfrm>
          <a:prstGeom prst="rect">
            <a:avLst/>
          </a:prstGeom>
          <a:noFill/>
        </p:spPr>
        <p:txBody>
          <a:bodyPr wrap="square" anchor="t" lIns="45720" rIns="45720" tIns="27432" bIns="27432">
            <a:spAutoFit/>
          </a:bodyPr>
          <a:lstStyle/>
          <a:p>
            <a:pPr algn="l">
              <a:lnSpc>
                <a:spcPct val="110000"/>
              </a:lnSpc>
              <a:defRPr sz="1200" b="0" i="0">
                <a:solidFill>
                  <a:srgbClr val="52514E"/>
                </a:solidFill>
                <a:latin typeface="Calibri"/>
              </a:defRPr>
            </a:pPr>
            <a:r>
              <a:t>del CSV, semillas, versiones y GPU en el manifiesto de cada ejecución</a:t>
            </a:r>
          </a:p>
        </p:txBody>
      </p:sp>
      <p:sp>
        <p:nvSpPr>
          <p:cNvPr id="42" name="TextBox 41"/>
          <p:cNvSpPr txBox="1"/>
          <p:nvPr/>
        </p:nvSpPr>
        <p:spPr>
          <a:xfrm>
            <a:off x="7498079" y="3749039"/>
            <a:ext cx="2103120" cy="640080"/>
          </a:xfrm>
          <a:prstGeom prst="rect">
            <a:avLst/>
          </a:prstGeom>
          <a:noFill/>
        </p:spPr>
        <p:txBody>
          <a:bodyPr wrap="square" anchor="t" lIns="45720" rIns="45720" tIns="27432" bIns="27432">
            <a:spAutoFit/>
          </a:bodyPr>
          <a:lstStyle/>
          <a:p>
            <a:pPr algn="l">
              <a:lnSpc>
                <a:spcPct val="110000"/>
              </a:lnSpc>
              <a:defRPr sz="3000" b="1" i="0">
                <a:solidFill>
                  <a:srgbClr val="EB6834"/>
                </a:solidFill>
                <a:latin typeface="Calibri"/>
              </a:defRPr>
            </a:pPr>
            <a:r>
              <a:t>0</a:t>
            </a:r>
          </a:p>
        </p:txBody>
      </p:sp>
      <p:sp>
        <p:nvSpPr>
          <p:cNvPr id="43" name="TextBox 42"/>
          <p:cNvSpPr txBox="1"/>
          <p:nvPr/>
        </p:nvSpPr>
        <p:spPr>
          <a:xfrm>
            <a:off x="7498079" y="4370831"/>
            <a:ext cx="2103120" cy="457200"/>
          </a:xfrm>
          <a:prstGeom prst="rect">
            <a:avLst/>
          </a:prstGeom>
          <a:noFill/>
        </p:spPr>
        <p:txBody>
          <a:bodyPr wrap="square" anchor="t" lIns="45720" rIns="45720" tIns="27432" bIns="27432">
            <a:spAutoFit/>
          </a:bodyPr>
          <a:lstStyle/>
          <a:p>
            <a:pPr algn="l">
              <a:lnSpc>
                <a:spcPct val="110000"/>
              </a:lnSpc>
              <a:defRPr sz="1200" b="0" i="0">
                <a:solidFill>
                  <a:srgbClr val="52514E"/>
                </a:solidFill>
                <a:latin typeface="Calibri"/>
              </a:defRPr>
            </a:pPr>
            <a:r>
              <a:t>bibliotecas conformes: NumPy propio, verificado contra cálculos a mano</a:t>
            </a:r>
          </a:p>
        </p:txBody>
      </p:sp>
      <p:sp>
        <p:nvSpPr>
          <p:cNvPr id="44" name="TextBox 43"/>
          <p:cNvSpPr txBox="1"/>
          <p:nvPr/>
        </p:nvSpPr>
        <p:spPr>
          <a:xfrm>
            <a:off x="9692640" y="3749039"/>
            <a:ext cx="1920240" cy="640080"/>
          </a:xfrm>
          <a:prstGeom prst="rect">
            <a:avLst/>
          </a:prstGeom>
          <a:noFill/>
        </p:spPr>
        <p:txBody>
          <a:bodyPr wrap="square" anchor="t" lIns="45720" rIns="45720" tIns="27432" bIns="27432">
            <a:spAutoFit/>
          </a:bodyPr>
          <a:lstStyle/>
          <a:p>
            <a:pPr algn="l">
              <a:lnSpc>
                <a:spcPct val="110000"/>
              </a:lnSpc>
              <a:defRPr sz="2200" b="1" i="0">
                <a:solidFill>
                  <a:srgbClr val="1C5CAB"/>
                </a:solidFill>
                <a:latin typeface="Calibri"/>
              </a:defRPr>
            </a:pPr>
            <a:r>
              <a:t>1.9 MB</a:t>
            </a:r>
          </a:p>
        </p:txBody>
      </p:sp>
      <p:sp>
        <p:nvSpPr>
          <p:cNvPr id="45" name="TextBox 44"/>
          <p:cNvSpPr txBox="1"/>
          <p:nvPr/>
        </p:nvSpPr>
        <p:spPr>
          <a:xfrm>
            <a:off x="9692640" y="4370831"/>
            <a:ext cx="1920240" cy="457200"/>
          </a:xfrm>
          <a:prstGeom prst="rect">
            <a:avLst/>
          </a:prstGeom>
          <a:noFill/>
        </p:spPr>
        <p:txBody>
          <a:bodyPr wrap="square" anchor="t" lIns="45720" rIns="45720" tIns="27432" bIns="27432">
            <a:spAutoFit/>
          </a:bodyPr>
          <a:lstStyle/>
          <a:p>
            <a:pPr algn="l">
              <a:lnSpc>
                <a:spcPct val="110000"/>
              </a:lnSpc>
              <a:defRPr sz="1200" b="0" i="0">
                <a:solidFill>
                  <a:srgbClr val="52514E"/>
                </a:solidFill>
                <a:latin typeface="Calibri"/>
              </a:defRPr>
            </a:pPr>
            <a:r>
              <a:t>de resultados versionados: CSV, umbrales, probabilidades, figuras</a:t>
            </a:r>
          </a:p>
        </p:txBody>
      </p:sp>
      <p:sp>
        <p:nvSpPr>
          <p:cNvPr id="46" name="TextBox 45"/>
          <p:cNvSpPr txBox="1"/>
          <p:nvPr/>
        </p:nvSpPr>
        <p:spPr>
          <a:xfrm>
            <a:off x="640080" y="5257800"/>
            <a:ext cx="10881360" cy="1097280"/>
          </a:xfrm>
          <a:prstGeom prst="rect">
            <a:avLst/>
          </a:prstGeom>
          <a:noFill/>
        </p:spPr>
        <p:txBody>
          <a:bodyPr wrap="square" anchor="t" lIns="45720" rIns="45720" tIns="27432" bIns="27432">
            <a:spAutoFit/>
          </a:bodyPr>
          <a:lstStyle/>
          <a:p>
            <a:pPr algn="l">
              <a:lnSpc>
                <a:spcPct val="110000"/>
              </a:lnSpc>
              <a:defRPr sz="1100" b="0" i="0">
                <a:solidFill>
                  <a:srgbClr val="0B0B0B"/>
                </a:solidFill>
                <a:latin typeface="Calibri"/>
              </a:defRPr>
            </a:pPr>
            <a:r>
              <a:t>Entorno: uv con uv.lock, Python 3.13, ruff. Extra opcional torch (índice CUDA 12.8) para el MLP; sin él, el producto mínimo funciona igual.</a:t>
            </a:r>
          </a:p>
          <a:p>
            <a:pPr algn="l">
              <a:lnSpc>
                <a:spcPct val="110000"/>
              </a:lnSpc>
              <a:defRPr sz="1100" b="0" i="0">
                <a:solidFill>
                  <a:srgbClr val="0B0B0B"/>
                </a:solidFill>
                <a:latin typeface="Calibri"/>
              </a:defRPr>
            </a:pPr>
            <a:r>
              <a:t>Salidas por ejecución en artifacts/, sin sobrescritura accidental; notebook de análisis que reconstruye las métricas desde las probabilidades guardadas.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1170432"/>
            <a:ext cx="548640" cy="45720"/>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7315200" cy="274320"/>
          </a:xfrm>
          <a:prstGeom prst="rect">
            <a:avLst/>
          </a:prstGeom>
          <a:noFill/>
        </p:spPr>
        <p:txBody>
          <a:bodyPr wrap="square" anchor="t" lIns="45720" rIns="45720" tIns="27432" bIns="27432">
            <a:spAutoFit/>
          </a:bodyPr>
          <a:lstStyle/>
          <a:p>
            <a:pPr algn="l">
              <a:lnSpc>
                <a:spcPct val="110000"/>
              </a:lnSpc>
              <a:defRPr sz="1100" b="1" i="0">
                <a:solidFill>
                  <a:srgbClr val="EB6834"/>
                </a:solidFill>
                <a:latin typeface="Calibri"/>
              </a:defRPr>
            </a:pPr>
            <a:r>
              <a:t>5 · RESULTADO 1</a:t>
            </a:r>
          </a:p>
        </p:txBody>
      </p:sp>
      <p:sp>
        <p:nvSpPr>
          <p:cNvPr id="5" name="TextBox 4"/>
          <p:cNvSpPr txBox="1"/>
          <p:nvPr/>
        </p:nvSpPr>
        <p:spPr>
          <a:xfrm>
            <a:off x="640080" y="566928"/>
            <a:ext cx="10058400" cy="640080"/>
          </a:xfrm>
          <a:prstGeom prst="rect">
            <a:avLst/>
          </a:prstGeom>
          <a:noFill/>
        </p:spPr>
        <p:txBody>
          <a:bodyPr wrap="square" anchor="t" lIns="45720" rIns="45720" tIns="27432" bIns="27432">
            <a:spAutoFit/>
          </a:bodyPr>
          <a:lstStyle/>
          <a:p>
            <a:pPr algn="l">
              <a:lnSpc>
                <a:spcPct val="110000"/>
              </a:lnSpc>
              <a:defRPr sz="2400" b="1" i="0">
                <a:solidFill>
                  <a:srgbClr val="0F2A4A"/>
                </a:solidFill>
                <a:latin typeface="Calibri"/>
              </a:defRPr>
            </a:pPr>
            <a:r>
              <a:t>Coberturas marginales cerca del nominal en ambos modelos</a:t>
            </a:r>
          </a:p>
        </p:txBody>
      </p:sp>
      <p:sp>
        <p:nvSpPr>
          <p:cNvPr id="6" name="TextBox 5"/>
          <p:cNvSpPr txBox="1"/>
          <p:nvPr/>
        </p:nvSpPr>
        <p:spPr>
          <a:xfrm>
            <a:off x="10881360" y="411480"/>
            <a:ext cx="731520" cy="274320"/>
          </a:xfrm>
          <a:prstGeom prst="rect">
            <a:avLst/>
          </a:prstGeom>
          <a:noFill/>
        </p:spPr>
        <p:txBody>
          <a:bodyPr wrap="square" anchor="t" lIns="45720" rIns="45720" tIns="27432" bIns="27432">
            <a:spAutoFit/>
          </a:bodyPr>
          <a:lstStyle/>
          <a:p>
            <a:pPr algn="r">
              <a:lnSpc>
                <a:spcPct val="110000"/>
              </a:lnSpc>
              <a:defRPr sz="1000" b="0" i="0">
                <a:solidFill>
                  <a:srgbClr val="898781"/>
                </a:solidFill>
                <a:latin typeface="Calibri"/>
              </a:defRPr>
            </a:pPr>
            <a:r>
              <a:t>0.75 min</a:t>
            </a:r>
          </a:p>
        </p:txBody>
      </p:sp>
      <p:sp>
        <p:nvSpPr>
          <p:cNvPr id="7" name="Rectangle 6"/>
          <p:cNvSpPr/>
          <p:nvPr/>
        </p:nvSpPr>
        <p:spPr>
          <a:xfrm>
            <a:off x="0" y="6537960"/>
            <a:ext cx="12191695" cy="320040"/>
          </a:xfrm>
          <a:prstGeom prst="rect">
            <a:avLst/>
          </a:prstGeom>
          <a:solidFill>
            <a:srgbClr val="0F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574536"/>
            <a:ext cx="7315200" cy="256032"/>
          </a:xfrm>
          <a:prstGeom prst="rect">
            <a:avLst/>
          </a:prstGeom>
          <a:noFill/>
        </p:spPr>
        <p:txBody>
          <a:bodyPr wrap="square" anchor="t" lIns="45720" rIns="45720" tIns="27432" bIns="27432">
            <a:spAutoFit/>
          </a:bodyPr>
          <a:lstStyle/>
          <a:p>
            <a:pPr algn="l">
              <a:lnSpc>
                <a:spcPct val="110000"/>
              </a:lnSpc>
              <a:defRPr sz="900" b="0" i="0">
                <a:solidFill>
                  <a:srgbClr val="C9D6E8"/>
                </a:solidFill>
                <a:latin typeface="Calibri"/>
              </a:defRPr>
            </a:pPr>
            <a:r>
              <a:t>Predicción conforme y abstención selectiva · AI4I 2020</a:t>
            </a:r>
          </a:p>
        </p:txBody>
      </p:sp>
      <p:sp>
        <p:nvSpPr>
          <p:cNvPr id="9" name="TextBox 8"/>
          <p:cNvSpPr txBox="1"/>
          <p:nvPr/>
        </p:nvSpPr>
        <p:spPr>
          <a:xfrm>
            <a:off x="11155680" y="6574536"/>
            <a:ext cx="457200" cy="256032"/>
          </a:xfrm>
          <a:prstGeom prst="rect">
            <a:avLst/>
          </a:prstGeom>
          <a:noFill/>
        </p:spPr>
        <p:txBody>
          <a:bodyPr wrap="square" anchor="t" lIns="45720" rIns="45720" tIns="27432" bIns="27432">
            <a:spAutoFit/>
          </a:bodyPr>
          <a:lstStyle/>
          <a:p>
            <a:pPr algn="r">
              <a:lnSpc>
                <a:spcPct val="110000"/>
              </a:lnSpc>
              <a:defRPr sz="900" b="0" i="0">
                <a:solidFill>
                  <a:srgbClr val="C9D6E8"/>
                </a:solidFill>
                <a:latin typeface="Calibri"/>
              </a:defRPr>
            </a:pPr>
            <a:r>
              <a:t>9</a:t>
            </a:r>
          </a:p>
        </p:txBody>
      </p:sp>
      <p:sp>
        <p:nvSpPr>
          <p:cNvPr id="10" name="Rounded Rectangle 9"/>
          <p:cNvSpPr/>
          <p:nvPr/>
        </p:nvSpPr>
        <p:spPr>
          <a:xfrm>
            <a:off x="10314432" y="713232"/>
            <a:ext cx="1188720" cy="274320"/>
          </a:xfrm>
          <a:prstGeom prst="roundRect">
            <a:avLst>
              <a:gd name="adj" fmla="val 30000"/>
            </a:avLst>
          </a:prstGeom>
          <a:solidFill>
            <a:srgbClr val="FBE3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14432" y="740664"/>
            <a:ext cx="1188720" cy="237744"/>
          </a:xfrm>
          <a:prstGeom prst="rect">
            <a:avLst/>
          </a:prstGeom>
          <a:noFill/>
        </p:spPr>
        <p:txBody>
          <a:bodyPr wrap="square" anchor="t" lIns="45720" rIns="45720" tIns="27432" bIns="27432">
            <a:spAutoFit/>
          </a:bodyPr>
          <a:lstStyle/>
          <a:p>
            <a:pPr algn="ctr">
              <a:lnSpc>
                <a:spcPct val="110000"/>
              </a:lnSpc>
              <a:defRPr sz="900" b="1" i="0">
                <a:solidFill>
                  <a:srgbClr val="EB6834"/>
                </a:solidFill>
                <a:latin typeface="Calibri"/>
              </a:defRPr>
            </a:pPr>
            <a:r>
              <a:t>Roberth</a:t>
            </a:r>
          </a:p>
        </p:txBody>
      </p:sp>
      <p:pic>
        <p:nvPicPr>
          <p:cNvPr id="12" name="Picture 11" descr="global_metrics_hgb.png"/>
          <p:cNvPicPr>
            <a:picLocks noChangeAspect="1"/>
          </p:cNvPicPr>
          <p:nvPr/>
        </p:nvPicPr>
        <p:blipFill>
          <a:blip r:embed="rId2"/>
          <a:stretch>
            <a:fillRect/>
          </a:stretch>
        </p:blipFill>
        <p:spPr>
          <a:xfrm>
            <a:off x="640080" y="1371600"/>
            <a:ext cx="7223760" cy="2167128"/>
          </a:xfrm>
          <a:prstGeom prst="rect">
            <a:avLst/>
          </a:prstGeom>
        </p:spPr>
      </p:pic>
      <p:graphicFrame>
        <p:nvGraphicFramePr>
          <p:cNvPr id="13" name="Table 12"/>
          <p:cNvGraphicFramePr>
            <a:graphicFrameLocks noGrp="1"/>
          </p:cNvGraphicFramePr>
          <p:nvPr/>
        </p:nvGraphicFramePr>
        <p:xfrm>
          <a:off x="8046720" y="1417320"/>
          <a:ext cx="3474720" cy="1755648"/>
        </p:xfrm>
        <a:graphic>
          <a:graphicData uri="http://schemas.openxmlformats.org/drawingml/2006/table">
            <a:tbl>
              <a:tblPr firstRow="1" bandRow="1">
                <a:tableStyleId>{5C22544A-7EE6-4342-B048-85BDC9FD1C3A}</a:tableStyleId>
              </a:tblPr>
              <a:tblGrid>
                <a:gridCol w="1371600"/>
                <a:gridCol w="457200"/>
                <a:gridCol w="548640"/>
                <a:gridCol w="548640"/>
                <a:gridCol w="548640"/>
              </a:tblGrid>
              <a:tr h="292608">
                <a:tc>
                  <a:txBody>
                    <a:bodyPr/>
                    <a:lstStyle/>
                    <a:p>
                      <a:pPr algn="l">
                        <a:defRPr sz="1000" b="1">
                          <a:solidFill>
                            <a:srgbClr val="FFFFFF"/>
                          </a:solidFill>
                          <a:latin typeface="Calibri"/>
                        </a:defRPr>
                      </a:pPr>
                      <a:r>
                        <a:t>Modelo · variante</a:t>
                      </a:r>
                    </a:p>
                  </a:txBody>
                  <a:tcPr marL="54864" marR="54864" marT="18288" marB="18288" anchor="ctr">
                    <a:solidFill>
                      <a:srgbClr val="1C5CAB"/>
                    </a:solidFill>
                  </a:tcPr>
                </a:tc>
                <a:tc>
                  <a:txBody>
                    <a:bodyPr/>
                    <a:lstStyle/>
                    <a:p>
                      <a:pPr algn="ctr">
                        <a:defRPr sz="1000" b="1">
                          <a:solidFill>
                            <a:srgbClr val="FFFFFF"/>
                          </a:solidFill>
                          <a:latin typeface="Calibri"/>
                        </a:defRPr>
                      </a:pPr>
                      <a:r>
                        <a:t>α</a:t>
                      </a:r>
                    </a:p>
                  </a:txBody>
                  <a:tcPr marL="54864" marR="54864" marT="18288" marB="18288" anchor="ctr">
                    <a:solidFill>
                      <a:srgbClr val="1C5CAB"/>
                    </a:solidFill>
                  </a:tcPr>
                </a:tc>
                <a:tc>
                  <a:txBody>
                    <a:bodyPr/>
                    <a:lstStyle/>
                    <a:p>
                      <a:pPr algn="ctr">
                        <a:defRPr sz="1000" b="1">
                          <a:solidFill>
                            <a:srgbClr val="FFFFFF"/>
                          </a:solidFill>
                          <a:latin typeface="Calibri"/>
                        </a:defRPr>
                      </a:pPr>
                      <a:r>
                        <a:t>Cob.</a:t>
                      </a:r>
                    </a:p>
                  </a:txBody>
                  <a:tcPr marL="54864" marR="54864" marT="18288" marB="18288" anchor="ctr">
                    <a:solidFill>
                      <a:srgbClr val="1C5CAB"/>
                    </a:solidFill>
                  </a:tcPr>
                </a:tc>
                <a:tc>
                  <a:txBody>
                    <a:bodyPr/>
                    <a:lstStyle/>
                    <a:p>
                      <a:pPr algn="ctr">
                        <a:defRPr sz="1000" b="1">
                          <a:solidFill>
                            <a:srgbClr val="FFFFFF"/>
                          </a:solidFill>
                          <a:latin typeface="Calibri"/>
                        </a:defRPr>
                      </a:pPr>
                      <a:r>
                        <a:t>Tam.</a:t>
                      </a:r>
                    </a:p>
                  </a:txBody>
                  <a:tcPr marL="54864" marR="54864" marT="18288" marB="18288" anchor="ctr">
                    <a:solidFill>
                      <a:srgbClr val="1C5CAB"/>
                    </a:solidFill>
                  </a:tcPr>
                </a:tc>
                <a:tc>
                  <a:txBody>
                    <a:bodyPr/>
                    <a:lstStyle/>
                    <a:p>
                      <a:pPr algn="ctr">
                        <a:defRPr sz="1000" b="1">
                          <a:solidFill>
                            <a:srgbClr val="FFFFFF"/>
                          </a:solidFill>
                          <a:latin typeface="Calibri"/>
                        </a:defRPr>
                      </a:pPr>
                      <a:r>
                        <a:t>Abst.</a:t>
                      </a:r>
                    </a:p>
                  </a:txBody>
                  <a:tcPr marL="54864" marR="54864" marT="18288" marB="18288" anchor="ctr">
                    <a:solidFill>
                      <a:srgbClr val="1C5CAB"/>
                    </a:solidFill>
                  </a:tcPr>
                </a:tc>
              </a:tr>
              <a:tr h="292608">
                <a:tc>
                  <a:txBody>
                    <a:bodyPr/>
                    <a:lstStyle/>
                    <a:p>
                      <a:pPr algn="l">
                        <a:defRPr sz="1000" b="0">
                          <a:solidFill>
                            <a:srgbClr val="0B0B0B"/>
                          </a:solidFill>
                          <a:latin typeface="Calibri"/>
                        </a:defRPr>
                      </a:pPr>
                      <a:r>
                        <a:t>hgb · split</a:t>
                      </a:r>
                    </a:p>
                  </a:txBody>
                  <a:tcPr marL="54864" marR="54864" marT="18288" marB="18288" anchor="ctr">
                    <a:solidFill>
                      <a:srgbClr val="FFFFFF"/>
                    </a:solidFill>
                  </a:tcPr>
                </a:tc>
                <a:tc>
                  <a:txBody>
                    <a:bodyPr/>
                    <a:lstStyle/>
                    <a:p>
                      <a:pPr algn="ctr">
                        <a:defRPr sz="1000" b="0">
                          <a:solidFill>
                            <a:srgbClr val="0B0B0B"/>
                          </a:solidFill>
                          <a:latin typeface="Calibri"/>
                        </a:defRPr>
                      </a:pPr>
                      <a:r>
                        <a:t>0.10</a:t>
                      </a:r>
                    </a:p>
                  </a:txBody>
                  <a:tcPr marL="54864" marR="54864" marT="18288" marB="18288" anchor="ctr">
                    <a:solidFill>
                      <a:srgbClr val="FFFFFF"/>
                    </a:solidFill>
                  </a:tcPr>
                </a:tc>
                <a:tc>
                  <a:txBody>
                    <a:bodyPr/>
                    <a:lstStyle/>
                    <a:p>
                      <a:pPr algn="ctr">
                        <a:defRPr sz="1000" b="0">
                          <a:solidFill>
                            <a:srgbClr val="0B0B0B"/>
                          </a:solidFill>
                          <a:latin typeface="Calibri"/>
                        </a:defRPr>
                      </a:pPr>
                      <a:r>
                        <a:t>0.909</a:t>
                      </a:r>
                    </a:p>
                  </a:txBody>
                  <a:tcPr marL="54864" marR="54864" marT="18288" marB="18288" anchor="ctr">
                    <a:solidFill>
                      <a:srgbClr val="FFFFFF"/>
                    </a:solidFill>
                  </a:tcPr>
                </a:tc>
                <a:tc>
                  <a:txBody>
                    <a:bodyPr/>
                    <a:lstStyle/>
                    <a:p>
                      <a:pPr algn="ctr">
                        <a:defRPr sz="1000" b="0">
                          <a:solidFill>
                            <a:srgbClr val="0B0B0B"/>
                          </a:solidFill>
                          <a:latin typeface="Calibri"/>
                        </a:defRPr>
                      </a:pPr>
                      <a:r>
                        <a:t>0.91</a:t>
                      </a:r>
                    </a:p>
                  </a:txBody>
                  <a:tcPr marL="54864" marR="54864" marT="18288" marB="18288" anchor="ctr">
                    <a:solidFill>
                      <a:srgbClr val="FFFFFF"/>
                    </a:solidFill>
                  </a:tcPr>
                </a:tc>
                <a:tc>
                  <a:txBody>
                    <a:bodyPr/>
                    <a:lstStyle/>
                    <a:p>
                      <a:pPr algn="ctr">
                        <a:defRPr sz="1000" b="0">
                          <a:solidFill>
                            <a:srgbClr val="0B0B0B"/>
                          </a:solidFill>
                          <a:latin typeface="Calibri"/>
                        </a:defRPr>
                      </a:pPr>
                      <a:r>
                        <a:t>0.088</a:t>
                      </a:r>
                    </a:p>
                  </a:txBody>
                  <a:tcPr marL="54864" marR="54864" marT="18288" marB="18288" anchor="ctr">
                    <a:solidFill>
                      <a:srgbClr val="FFFFFF"/>
                    </a:solidFill>
                  </a:tcPr>
                </a:tc>
              </a:tr>
              <a:tr h="292608">
                <a:tc>
                  <a:txBody>
                    <a:bodyPr/>
                    <a:lstStyle/>
                    <a:p>
                      <a:pPr algn="l">
                        <a:defRPr sz="1000" b="0">
                          <a:solidFill>
                            <a:srgbClr val="0B0B0B"/>
                          </a:solidFill>
                          <a:latin typeface="Calibri"/>
                        </a:defRPr>
                      </a:pPr>
                      <a:r>
                        <a:t>hgb · mondrian</a:t>
                      </a:r>
                    </a:p>
                  </a:txBody>
                  <a:tcPr marL="54864" marR="54864" marT="18288" marB="18288" anchor="ctr">
                    <a:solidFill>
                      <a:srgbClr val="EEF1F6"/>
                    </a:solidFill>
                  </a:tcPr>
                </a:tc>
                <a:tc>
                  <a:txBody>
                    <a:bodyPr/>
                    <a:lstStyle/>
                    <a:p>
                      <a:pPr algn="ctr">
                        <a:defRPr sz="1000" b="0">
                          <a:solidFill>
                            <a:srgbClr val="0B0B0B"/>
                          </a:solidFill>
                          <a:latin typeface="Calibri"/>
                        </a:defRPr>
                      </a:pPr>
                      <a:r>
                        <a:t>0.10</a:t>
                      </a:r>
                    </a:p>
                  </a:txBody>
                  <a:tcPr marL="54864" marR="54864" marT="18288" marB="18288" anchor="ctr">
                    <a:solidFill>
                      <a:srgbClr val="EEF1F6"/>
                    </a:solidFill>
                  </a:tcPr>
                </a:tc>
                <a:tc>
                  <a:txBody>
                    <a:bodyPr/>
                    <a:lstStyle/>
                    <a:p>
                      <a:pPr algn="ctr">
                        <a:defRPr sz="1000" b="0">
                          <a:solidFill>
                            <a:srgbClr val="0B0B0B"/>
                          </a:solidFill>
                          <a:latin typeface="Calibri"/>
                        </a:defRPr>
                      </a:pPr>
                      <a:r>
                        <a:t>0.917</a:t>
                      </a:r>
                    </a:p>
                  </a:txBody>
                  <a:tcPr marL="54864" marR="54864" marT="18288" marB="18288" anchor="ctr">
                    <a:solidFill>
                      <a:srgbClr val="EEF1F6"/>
                    </a:solidFill>
                  </a:tcPr>
                </a:tc>
                <a:tc>
                  <a:txBody>
                    <a:bodyPr/>
                    <a:lstStyle/>
                    <a:p>
                      <a:pPr algn="ctr">
                        <a:defRPr sz="1000" b="0">
                          <a:solidFill>
                            <a:srgbClr val="0B0B0B"/>
                          </a:solidFill>
                          <a:latin typeface="Calibri"/>
                        </a:defRPr>
                      </a:pPr>
                      <a:r>
                        <a:t>1.32</a:t>
                      </a:r>
                    </a:p>
                  </a:txBody>
                  <a:tcPr marL="54864" marR="54864" marT="18288" marB="18288" anchor="ctr">
                    <a:solidFill>
                      <a:srgbClr val="EEF1F6"/>
                    </a:solidFill>
                  </a:tcPr>
                </a:tc>
                <a:tc>
                  <a:txBody>
                    <a:bodyPr/>
                    <a:lstStyle/>
                    <a:p>
                      <a:pPr algn="ctr">
                        <a:defRPr sz="1000" b="0">
                          <a:solidFill>
                            <a:srgbClr val="0B0B0B"/>
                          </a:solidFill>
                          <a:latin typeface="Calibri"/>
                        </a:defRPr>
                      </a:pPr>
                      <a:r>
                        <a:t>0.305</a:t>
                      </a:r>
                    </a:p>
                  </a:txBody>
                  <a:tcPr marL="54864" marR="54864" marT="18288" marB="18288" anchor="ctr">
                    <a:solidFill>
                      <a:srgbClr val="EEF1F6"/>
                    </a:solidFill>
                  </a:tcPr>
                </a:tc>
              </a:tr>
              <a:tr h="292608">
                <a:tc>
                  <a:txBody>
                    <a:bodyPr/>
                    <a:lstStyle/>
                    <a:p>
                      <a:pPr algn="l">
                        <a:defRPr sz="1000" b="0">
                          <a:solidFill>
                            <a:srgbClr val="0B0B0B"/>
                          </a:solidFill>
                          <a:latin typeface="Calibri"/>
                        </a:defRPr>
                      </a:pPr>
                      <a:r>
                        <a:t>mlp · split</a:t>
                      </a:r>
                    </a:p>
                  </a:txBody>
                  <a:tcPr marL="54864" marR="54864" marT="18288" marB="18288" anchor="ctr">
                    <a:solidFill>
                      <a:srgbClr val="FFFFFF"/>
                    </a:solidFill>
                  </a:tcPr>
                </a:tc>
                <a:tc>
                  <a:txBody>
                    <a:bodyPr/>
                    <a:lstStyle/>
                    <a:p>
                      <a:pPr algn="ctr">
                        <a:defRPr sz="1000" b="0">
                          <a:solidFill>
                            <a:srgbClr val="0B0B0B"/>
                          </a:solidFill>
                          <a:latin typeface="Calibri"/>
                        </a:defRPr>
                      </a:pPr>
                      <a:r>
                        <a:t>0.10</a:t>
                      </a:r>
                    </a:p>
                  </a:txBody>
                  <a:tcPr marL="54864" marR="54864" marT="18288" marB="18288" anchor="ctr">
                    <a:solidFill>
                      <a:srgbClr val="FFFFFF"/>
                    </a:solidFill>
                  </a:tcPr>
                </a:tc>
                <a:tc>
                  <a:txBody>
                    <a:bodyPr/>
                    <a:lstStyle/>
                    <a:p>
                      <a:pPr algn="ctr">
                        <a:defRPr sz="1000" b="0">
                          <a:solidFill>
                            <a:srgbClr val="0B0B0B"/>
                          </a:solidFill>
                          <a:latin typeface="Calibri"/>
                        </a:defRPr>
                      </a:pPr>
                      <a:r>
                        <a:t>0.902</a:t>
                      </a:r>
                    </a:p>
                  </a:txBody>
                  <a:tcPr marL="54864" marR="54864" marT="18288" marB="18288" anchor="ctr">
                    <a:solidFill>
                      <a:srgbClr val="FFFFFF"/>
                    </a:solidFill>
                  </a:tcPr>
                </a:tc>
                <a:tc>
                  <a:txBody>
                    <a:bodyPr/>
                    <a:lstStyle/>
                    <a:p>
                      <a:pPr algn="ctr">
                        <a:defRPr sz="1000" b="0">
                          <a:solidFill>
                            <a:srgbClr val="0B0B0B"/>
                          </a:solidFill>
                          <a:latin typeface="Calibri"/>
                        </a:defRPr>
                      </a:pPr>
                      <a:r>
                        <a:t>0.90</a:t>
                      </a:r>
                    </a:p>
                  </a:txBody>
                  <a:tcPr marL="54864" marR="54864" marT="18288" marB="18288" anchor="ctr">
                    <a:solidFill>
                      <a:srgbClr val="FFFFFF"/>
                    </a:solidFill>
                  </a:tcPr>
                </a:tc>
                <a:tc>
                  <a:txBody>
                    <a:bodyPr/>
                    <a:lstStyle/>
                    <a:p>
                      <a:pPr algn="ctr">
                        <a:defRPr sz="1000" b="0">
                          <a:solidFill>
                            <a:srgbClr val="0B0B0B"/>
                          </a:solidFill>
                          <a:latin typeface="Calibri"/>
                        </a:defRPr>
                      </a:pPr>
                      <a:r>
                        <a:t>0.096</a:t>
                      </a:r>
                    </a:p>
                  </a:txBody>
                  <a:tcPr marL="54864" marR="54864" marT="18288" marB="18288" anchor="ctr">
                    <a:solidFill>
                      <a:srgbClr val="FFFFFF"/>
                    </a:solidFill>
                  </a:tcPr>
                </a:tc>
              </a:tr>
              <a:tr h="292608">
                <a:tc>
                  <a:txBody>
                    <a:bodyPr/>
                    <a:lstStyle/>
                    <a:p>
                      <a:pPr algn="l">
                        <a:defRPr sz="1000" b="0">
                          <a:solidFill>
                            <a:srgbClr val="0B0B0B"/>
                          </a:solidFill>
                          <a:latin typeface="Calibri"/>
                        </a:defRPr>
                      </a:pPr>
                      <a:r>
                        <a:t>mlp · mondrian</a:t>
                      </a:r>
                    </a:p>
                  </a:txBody>
                  <a:tcPr marL="54864" marR="54864" marT="18288" marB="18288" anchor="ctr">
                    <a:solidFill>
                      <a:srgbClr val="EEF1F6"/>
                    </a:solidFill>
                  </a:tcPr>
                </a:tc>
                <a:tc>
                  <a:txBody>
                    <a:bodyPr/>
                    <a:lstStyle/>
                    <a:p>
                      <a:pPr algn="ctr">
                        <a:defRPr sz="1000" b="0">
                          <a:solidFill>
                            <a:srgbClr val="0B0B0B"/>
                          </a:solidFill>
                          <a:latin typeface="Calibri"/>
                        </a:defRPr>
                      </a:pPr>
                      <a:r>
                        <a:t>0.10</a:t>
                      </a:r>
                    </a:p>
                  </a:txBody>
                  <a:tcPr marL="54864" marR="54864" marT="18288" marB="18288" anchor="ctr">
                    <a:solidFill>
                      <a:srgbClr val="EEF1F6"/>
                    </a:solidFill>
                  </a:tcPr>
                </a:tc>
                <a:tc>
                  <a:txBody>
                    <a:bodyPr/>
                    <a:lstStyle/>
                    <a:p>
                      <a:pPr algn="ctr">
                        <a:defRPr sz="1000" b="0">
                          <a:solidFill>
                            <a:srgbClr val="0B0B0B"/>
                          </a:solidFill>
                          <a:latin typeface="Calibri"/>
                        </a:defRPr>
                      </a:pPr>
                      <a:r>
                        <a:t>0.903</a:t>
                      </a:r>
                    </a:p>
                  </a:txBody>
                  <a:tcPr marL="54864" marR="54864" marT="18288" marB="18288" anchor="ctr">
                    <a:solidFill>
                      <a:srgbClr val="EEF1F6"/>
                    </a:solidFill>
                  </a:tcPr>
                </a:tc>
                <a:tc>
                  <a:txBody>
                    <a:bodyPr/>
                    <a:lstStyle/>
                    <a:p>
                      <a:pPr algn="ctr">
                        <a:defRPr sz="1000" b="0">
                          <a:solidFill>
                            <a:srgbClr val="0B0B0B"/>
                          </a:solidFill>
                          <a:latin typeface="Calibri"/>
                        </a:defRPr>
                      </a:pPr>
                      <a:r>
                        <a:t>1.07</a:t>
                      </a:r>
                    </a:p>
                  </a:txBody>
                  <a:tcPr marL="54864" marR="54864" marT="18288" marB="18288" anchor="ctr">
                    <a:solidFill>
                      <a:srgbClr val="EEF1F6"/>
                    </a:solidFill>
                  </a:tcPr>
                </a:tc>
                <a:tc>
                  <a:txBody>
                    <a:bodyPr/>
                    <a:lstStyle/>
                    <a:p>
                      <a:pPr algn="ctr">
                        <a:defRPr sz="1000" b="0">
                          <a:solidFill>
                            <a:srgbClr val="0B0B0B"/>
                          </a:solidFill>
                          <a:latin typeface="Calibri"/>
                        </a:defRPr>
                      </a:pPr>
                      <a:r>
                        <a:t>0.085</a:t>
                      </a:r>
                    </a:p>
                  </a:txBody>
                  <a:tcPr marL="54864" marR="54864" marT="18288" marB="18288" anchor="ctr">
                    <a:solidFill>
                      <a:srgbClr val="EEF1F6"/>
                    </a:solidFill>
                  </a:tcPr>
                </a:tc>
              </a:tr>
              <a:tr h="292608">
                <a:tc>
                  <a:txBody>
                    <a:bodyPr/>
                    <a:lstStyle/>
                    <a:p>
                      <a:pPr algn="l">
                        <a:defRPr sz="1000" b="0">
                          <a:solidFill>
                            <a:srgbClr val="0B0B0B"/>
                          </a:solidFill>
                          <a:latin typeface="Calibri"/>
                        </a:defRPr>
                      </a:pPr>
                      <a:r>
                        <a:t>hgb · mondrian</a:t>
                      </a:r>
                    </a:p>
                  </a:txBody>
                  <a:tcPr marL="54864" marR="54864" marT="18288" marB="18288" anchor="ctr">
                    <a:solidFill>
                      <a:srgbClr val="FFFFFF"/>
                    </a:solidFill>
                  </a:tcPr>
                </a:tc>
                <a:tc>
                  <a:txBody>
                    <a:bodyPr/>
                    <a:lstStyle/>
                    <a:p>
                      <a:pPr algn="ctr">
                        <a:defRPr sz="1000" b="0">
                          <a:solidFill>
                            <a:srgbClr val="0B0B0B"/>
                          </a:solidFill>
                          <a:latin typeface="Calibri"/>
                        </a:defRPr>
                      </a:pPr>
                      <a:r>
                        <a:t>0.05</a:t>
                      </a:r>
                    </a:p>
                  </a:txBody>
                  <a:tcPr marL="54864" marR="54864" marT="18288" marB="18288" anchor="ctr">
                    <a:solidFill>
                      <a:srgbClr val="FFFFFF"/>
                    </a:solidFill>
                  </a:tcPr>
                </a:tc>
                <a:tc>
                  <a:txBody>
                    <a:bodyPr/>
                    <a:lstStyle/>
                    <a:p>
                      <a:pPr algn="ctr">
                        <a:defRPr sz="1000" b="0">
                          <a:solidFill>
                            <a:srgbClr val="0B0B0B"/>
                          </a:solidFill>
                          <a:latin typeface="Calibri"/>
                        </a:defRPr>
                      </a:pPr>
                      <a:r>
                        <a:t>0.959</a:t>
                      </a:r>
                    </a:p>
                  </a:txBody>
                  <a:tcPr marL="54864" marR="54864" marT="18288" marB="18288" anchor="ctr">
                    <a:solidFill>
                      <a:srgbClr val="FFFFFF"/>
                    </a:solidFill>
                  </a:tcPr>
                </a:tc>
                <a:tc>
                  <a:txBody>
                    <a:bodyPr/>
                    <a:lstStyle/>
                    <a:p>
                      <a:pPr algn="ctr">
                        <a:defRPr sz="1000" b="0">
                          <a:solidFill>
                            <a:srgbClr val="0B0B0B"/>
                          </a:solidFill>
                          <a:latin typeface="Calibri"/>
                        </a:defRPr>
                      </a:pPr>
                      <a:r>
                        <a:t>2.64</a:t>
                      </a:r>
                    </a:p>
                  </a:txBody>
                  <a:tcPr marL="54864" marR="54864" marT="18288" marB="18288" anchor="ctr">
                    <a:solidFill>
                      <a:srgbClr val="FFFFFF"/>
                    </a:solidFill>
                  </a:tcPr>
                </a:tc>
                <a:tc>
                  <a:txBody>
                    <a:bodyPr/>
                    <a:lstStyle/>
                    <a:p>
                      <a:pPr algn="ctr">
                        <a:defRPr sz="1000" b="0">
                          <a:solidFill>
                            <a:srgbClr val="0B0B0B"/>
                          </a:solidFill>
                          <a:latin typeface="Calibri"/>
                        </a:defRPr>
                      </a:pPr>
                      <a:r>
                        <a:t>1.000</a:t>
                      </a:r>
                    </a:p>
                  </a:txBody>
                  <a:tcPr marL="54864" marR="54864" marT="18288" marB="18288" anchor="ctr">
                    <a:solidFill>
                      <a:srgbClr val="FFFFFF"/>
                    </a:solidFill>
                  </a:tcPr>
                </a:tc>
              </a:tr>
            </a:tbl>
          </a:graphicData>
        </a:graphic>
      </p:graphicFrame>
      <p:sp>
        <p:nvSpPr>
          <p:cNvPr id="14" name="TextBox 13"/>
          <p:cNvSpPr txBox="1"/>
          <p:nvPr/>
        </p:nvSpPr>
        <p:spPr>
          <a:xfrm>
            <a:off x="8046720" y="3246120"/>
            <a:ext cx="3474720" cy="548640"/>
          </a:xfrm>
          <a:prstGeom prst="rect">
            <a:avLst/>
          </a:prstGeom>
          <a:noFill/>
        </p:spPr>
        <p:txBody>
          <a:bodyPr wrap="square" anchor="t" lIns="45720" rIns="45720" tIns="27432" bIns="27432">
            <a:spAutoFit/>
          </a:bodyPr>
          <a:lstStyle/>
          <a:p>
            <a:pPr algn="l">
              <a:lnSpc>
                <a:spcPct val="110000"/>
              </a:lnSpc>
              <a:defRPr sz="900" b="0" i="0">
                <a:solidFill>
                  <a:srgbClr val="52514E"/>
                </a:solidFill>
                <a:latin typeface="Calibri"/>
              </a:defRPr>
            </a:pPr>
            <a:r>
              <a:t>Cob. = cobertura marginal · Tam. = tamaño medio del conjunto · Abst. = tasa de abstención</a:t>
            </a:r>
          </a:p>
        </p:txBody>
      </p:sp>
      <p:sp>
        <p:nvSpPr>
          <p:cNvPr id="15" name="TextBox 14"/>
          <p:cNvSpPr txBox="1"/>
          <p:nvPr/>
        </p:nvSpPr>
        <p:spPr>
          <a:xfrm>
            <a:off x="640080" y="4069080"/>
            <a:ext cx="10881360" cy="2103120"/>
          </a:xfrm>
          <a:prstGeom prst="rect">
            <a:avLst/>
          </a:prstGeom>
          <a:noFill/>
        </p:spPr>
        <p:txBody>
          <a:bodyPr wrap="square" anchor="t" lIns="45720" rIns="45720" tIns="27432" bIns="27432">
            <a:spAutoFit/>
          </a:bodyPr>
          <a:lstStyle/>
          <a:p>
            <a:pPr algn="l">
              <a:lnSpc>
                <a:spcPct val="120000"/>
              </a:lnSpc>
              <a:defRPr sz="1300" b="0" i="0">
                <a:solidFill>
                  <a:srgbClr val="0B0B0B"/>
                </a:solidFill>
                <a:latin typeface="Calibri"/>
              </a:defRPr>
            </a:pPr>
            <a:r>
              <a:t>En esta partición, las 12 combinaciones quedan a menos de 0.02 del nominal (n = 1 995; desviación típica de una proporción ≈ 0.007).</a:t>
            </a:r>
          </a:p>
          <a:p>
            <a:pPr algn="l">
              <a:lnSpc>
                <a:spcPct val="120000"/>
              </a:lnSpc>
              <a:defRPr sz="1300" b="0" i="0">
                <a:solidFill>
                  <a:srgbClr val="0B0B0B"/>
                </a:solidFill>
                <a:latin typeface="Calibri"/>
              </a:defRPr>
            </a:pPr>
            <a:r>
              <a:t>Consistente con la garantía, que es una afirmación en probabilidad bajo intercambiabilidad; una partición la ilustra, no la demuestra.</a:t>
            </a:r>
          </a:p>
          <a:p>
            <a:pPr algn="l">
              <a:lnSpc>
                <a:spcPct val="120000"/>
              </a:lnSpc>
              <a:defRPr sz="1300" b="0" i="0">
                <a:solidFill>
                  <a:srgbClr val="0B0B0B"/>
                </a:solidFill>
                <a:latin typeface="Calibri"/>
              </a:defRPr>
            </a:pPr>
            <a:r>
              <a:t>Árbol y MLP difieren en tamaño y abstención, no en cobertura: la incertidumbre se traduce en tamaño.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1170432"/>
            <a:ext cx="548640" cy="45720"/>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7315200" cy="274320"/>
          </a:xfrm>
          <a:prstGeom prst="rect">
            <a:avLst/>
          </a:prstGeom>
          <a:noFill/>
        </p:spPr>
        <p:txBody>
          <a:bodyPr wrap="square" anchor="t" lIns="45720" rIns="45720" tIns="27432" bIns="27432">
            <a:spAutoFit/>
          </a:bodyPr>
          <a:lstStyle/>
          <a:p>
            <a:pPr algn="l">
              <a:lnSpc>
                <a:spcPct val="110000"/>
              </a:lnSpc>
              <a:defRPr sz="1100" b="1" i="0">
                <a:solidFill>
                  <a:srgbClr val="EB6834"/>
                </a:solidFill>
                <a:latin typeface="Calibri"/>
              </a:defRPr>
            </a:pPr>
            <a:r>
              <a:t>5 · RESULTADO 2</a:t>
            </a:r>
          </a:p>
        </p:txBody>
      </p:sp>
      <p:sp>
        <p:nvSpPr>
          <p:cNvPr id="5" name="TextBox 4"/>
          <p:cNvSpPr txBox="1"/>
          <p:nvPr/>
        </p:nvSpPr>
        <p:spPr>
          <a:xfrm>
            <a:off x="640080" y="566928"/>
            <a:ext cx="10058400" cy="640080"/>
          </a:xfrm>
          <a:prstGeom prst="rect">
            <a:avLst/>
          </a:prstGeom>
          <a:noFill/>
        </p:spPr>
        <p:txBody>
          <a:bodyPr wrap="square" anchor="t" lIns="45720" rIns="45720" tIns="27432" bIns="27432">
            <a:spAutoFit/>
          </a:bodyPr>
          <a:lstStyle/>
          <a:p>
            <a:pPr algn="l">
              <a:lnSpc>
                <a:spcPct val="110000"/>
              </a:lnSpc>
              <a:defRPr sz="2400" b="1" i="0">
                <a:solidFill>
                  <a:srgbClr val="0F2A4A"/>
                </a:solidFill>
                <a:latin typeface="Calibri"/>
              </a:defRPr>
            </a:pPr>
            <a:r>
              <a:t>Split ignora las fallas; Mondrian las cubre</a:t>
            </a:r>
          </a:p>
        </p:txBody>
      </p:sp>
      <p:sp>
        <p:nvSpPr>
          <p:cNvPr id="6" name="TextBox 5"/>
          <p:cNvSpPr txBox="1"/>
          <p:nvPr/>
        </p:nvSpPr>
        <p:spPr>
          <a:xfrm>
            <a:off x="10881360" y="411480"/>
            <a:ext cx="731520" cy="274320"/>
          </a:xfrm>
          <a:prstGeom prst="rect">
            <a:avLst/>
          </a:prstGeom>
          <a:noFill/>
        </p:spPr>
        <p:txBody>
          <a:bodyPr wrap="square" anchor="t" lIns="45720" rIns="45720" tIns="27432" bIns="27432">
            <a:spAutoFit/>
          </a:bodyPr>
          <a:lstStyle/>
          <a:p>
            <a:pPr algn="r">
              <a:lnSpc>
                <a:spcPct val="110000"/>
              </a:lnSpc>
              <a:defRPr sz="1000" b="0" i="0">
                <a:solidFill>
                  <a:srgbClr val="898781"/>
                </a:solidFill>
                <a:latin typeface="Calibri"/>
              </a:defRPr>
            </a:pPr>
            <a:r>
              <a:t>1.25 min</a:t>
            </a:r>
          </a:p>
        </p:txBody>
      </p:sp>
      <p:sp>
        <p:nvSpPr>
          <p:cNvPr id="7" name="Rectangle 6"/>
          <p:cNvSpPr/>
          <p:nvPr/>
        </p:nvSpPr>
        <p:spPr>
          <a:xfrm>
            <a:off x="0" y="6537960"/>
            <a:ext cx="12191695" cy="320040"/>
          </a:xfrm>
          <a:prstGeom prst="rect">
            <a:avLst/>
          </a:prstGeom>
          <a:solidFill>
            <a:srgbClr val="0F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574536"/>
            <a:ext cx="7315200" cy="256032"/>
          </a:xfrm>
          <a:prstGeom prst="rect">
            <a:avLst/>
          </a:prstGeom>
          <a:noFill/>
        </p:spPr>
        <p:txBody>
          <a:bodyPr wrap="square" anchor="t" lIns="45720" rIns="45720" tIns="27432" bIns="27432">
            <a:spAutoFit/>
          </a:bodyPr>
          <a:lstStyle/>
          <a:p>
            <a:pPr algn="l">
              <a:lnSpc>
                <a:spcPct val="110000"/>
              </a:lnSpc>
              <a:defRPr sz="900" b="0" i="0">
                <a:solidFill>
                  <a:srgbClr val="C9D6E8"/>
                </a:solidFill>
                <a:latin typeface="Calibri"/>
              </a:defRPr>
            </a:pPr>
            <a:r>
              <a:t>Predicción conforme y abstención selectiva · AI4I 2020</a:t>
            </a:r>
          </a:p>
        </p:txBody>
      </p:sp>
      <p:sp>
        <p:nvSpPr>
          <p:cNvPr id="9" name="TextBox 8"/>
          <p:cNvSpPr txBox="1"/>
          <p:nvPr/>
        </p:nvSpPr>
        <p:spPr>
          <a:xfrm>
            <a:off x="11155680" y="6574536"/>
            <a:ext cx="457200" cy="256032"/>
          </a:xfrm>
          <a:prstGeom prst="rect">
            <a:avLst/>
          </a:prstGeom>
          <a:noFill/>
        </p:spPr>
        <p:txBody>
          <a:bodyPr wrap="square" anchor="t" lIns="45720" rIns="45720" tIns="27432" bIns="27432">
            <a:spAutoFit/>
          </a:bodyPr>
          <a:lstStyle/>
          <a:p>
            <a:pPr algn="r">
              <a:lnSpc>
                <a:spcPct val="110000"/>
              </a:lnSpc>
              <a:defRPr sz="900" b="0" i="0">
                <a:solidFill>
                  <a:srgbClr val="C9D6E8"/>
                </a:solidFill>
                <a:latin typeface="Calibri"/>
              </a:defRPr>
            </a:pPr>
            <a:r>
              <a:t>10</a:t>
            </a:r>
          </a:p>
        </p:txBody>
      </p:sp>
      <p:sp>
        <p:nvSpPr>
          <p:cNvPr id="10" name="Rounded Rectangle 9"/>
          <p:cNvSpPr/>
          <p:nvPr/>
        </p:nvSpPr>
        <p:spPr>
          <a:xfrm>
            <a:off x="10314432" y="713232"/>
            <a:ext cx="1188720" cy="274320"/>
          </a:xfrm>
          <a:prstGeom prst="roundRect">
            <a:avLst>
              <a:gd name="adj" fmla="val 30000"/>
            </a:avLst>
          </a:prstGeom>
          <a:solidFill>
            <a:srgbClr val="FBE3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14432" y="740664"/>
            <a:ext cx="1188720" cy="237744"/>
          </a:xfrm>
          <a:prstGeom prst="rect">
            <a:avLst/>
          </a:prstGeom>
          <a:noFill/>
        </p:spPr>
        <p:txBody>
          <a:bodyPr wrap="square" anchor="t" lIns="45720" rIns="45720" tIns="27432" bIns="27432">
            <a:spAutoFit/>
          </a:bodyPr>
          <a:lstStyle/>
          <a:p>
            <a:pPr algn="ctr">
              <a:lnSpc>
                <a:spcPct val="110000"/>
              </a:lnSpc>
              <a:defRPr sz="900" b="1" i="0">
                <a:solidFill>
                  <a:srgbClr val="EB6834"/>
                </a:solidFill>
                <a:latin typeface="Calibri"/>
              </a:defRPr>
            </a:pPr>
            <a:r>
              <a:t>Roberth</a:t>
            </a:r>
          </a:p>
        </p:txBody>
      </p:sp>
      <p:pic>
        <p:nvPicPr>
          <p:cNvPr id="12" name="Picture 11" descr="coverage_by_class_hgb.png"/>
          <p:cNvPicPr>
            <a:picLocks noChangeAspect="1"/>
          </p:cNvPicPr>
          <p:nvPr/>
        </p:nvPicPr>
        <p:blipFill>
          <a:blip r:embed="rId2"/>
          <a:stretch>
            <a:fillRect/>
          </a:stretch>
        </p:blipFill>
        <p:spPr>
          <a:xfrm>
            <a:off x="640080" y="1371600"/>
            <a:ext cx="10881360" cy="3108960"/>
          </a:xfrm>
          <a:prstGeom prst="rect">
            <a:avLst/>
          </a:prstGeom>
        </p:spPr>
      </p:pic>
      <p:sp>
        <p:nvSpPr>
          <p:cNvPr id="13" name="Rounded Rectangle 12"/>
          <p:cNvSpPr/>
          <p:nvPr/>
        </p:nvSpPr>
        <p:spPr>
          <a:xfrm>
            <a:off x="640080" y="4617720"/>
            <a:ext cx="3520440" cy="1554480"/>
          </a:xfrm>
          <a:prstGeom prst="roundRect">
            <a:avLst>
              <a:gd name="adj" fmla="val 6000"/>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40080" y="4617720"/>
            <a:ext cx="82296" cy="1554480"/>
          </a:xfrm>
          <a:prstGeom prst="roundRect">
            <a:avLst>
              <a:gd name="adj" fmla="val 50000"/>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59" y="4709159"/>
            <a:ext cx="3246120" cy="411480"/>
          </a:xfrm>
          <a:prstGeom prst="rect">
            <a:avLst/>
          </a:prstGeom>
          <a:noFill/>
        </p:spPr>
        <p:txBody>
          <a:bodyPr wrap="square" anchor="t" lIns="45720" rIns="45720" tIns="27432" bIns="27432">
            <a:spAutoFit/>
          </a:bodyPr>
          <a:lstStyle/>
          <a:p>
            <a:pPr algn="l">
              <a:lnSpc>
                <a:spcPct val="110000"/>
              </a:lnSpc>
              <a:defRPr sz="1500" b="1" i="0">
                <a:solidFill>
                  <a:srgbClr val="0B0B0B"/>
                </a:solidFill>
                <a:latin typeface="Calibri"/>
              </a:defRPr>
            </a:pPr>
            <a:r>
              <a:t>Split, α = 0.10 (hgb)</a:t>
            </a:r>
          </a:p>
        </p:txBody>
      </p:sp>
      <p:sp>
        <p:nvSpPr>
          <p:cNvPr id="16" name="TextBox 15"/>
          <p:cNvSpPr txBox="1"/>
          <p:nvPr/>
        </p:nvSpPr>
        <p:spPr>
          <a:xfrm>
            <a:off x="822959" y="5120640"/>
            <a:ext cx="3246120" cy="1005840"/>
          </a:xfrm>
          <a:prstGeom prst="rect">
            <a:avLst/>
          </a:prstGeom>
          <a:noFill/>
        </p:spPr>
        <p:txBody>
          <a:bodyPr wrap="square" anchor="t" lIns="45720" rIns="45720" tIns="27432" bIns="27432">
            <a:spAutoFit/>
          </a:bodyPr>
          <a:lstStyle/>
          <a:p>
            <a:pPr algn="l">
              <a:lnSpc>
                <a:spcPct val="110000"/>
              </a:lnSpc>
              <a:defRPr sz="1200" b="0" i="0">
                <a:solidFill>
                  <a:srgbClr val="52514E"/>
                </a:solidFill>
                <a:latin typeface="Calibri"/>
              </a:defRPr>
            </a:pPr>
            <a:r>
              <a:t>Cobertura marginal 0.909, pero TWF 0.000, PWF 0.000, HDF 0.143. Normal, con 0.938, absorbe toda la garantía.</a:t>
            </a:r>
          </a:p>
        </p:txBody>
      </p:sp>
      <p:sp>
        <p:nvSpPr>
          <p:cNvPr id="17" name="Rounded Rectangle 16"/>
          <p:cNvSpPr/>
          <p:nvPr/>
        </p:nvSpPr>
        <p:spPr>
          <a:xfrm>
            <a:off x="4315968" y="4617720"/>
            <a:ext cx="3520440" cy="1554480"/>
          </a:xfrm>
          <a:prstGeom prst="roundRect">
            <a:avLst>
              <a:gd name="adj" fmla="val 6000"/>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315968" y="4617720"/>
            <a:ext cx="82296" cy="1554480"/>
          </a:xfrm>
          <a:prstGeom prst="roundRect">
            <a:avLst>
              <a:gd name="adj" fmla="val 50000"/>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98848" y="4709159"/>
            <a:ext cx="3246120" cy="411480"/>
          </a:xfrm>
          <a:prstGeom prst="rect">
            <a:avLst/>
          </a:prstGeom>
          <a:noFill/>
        </p:spPr>
        <p:txBody>
          <a:bodyPr wrap="square" anchor="t" lIns="45720" rIns="45720" tIns="27432" bIns="27432">
            <a:spAutoFit/>
          </a:bodyPr>
          <a:lstStyle/>
          <a:p>
            <a:pPr algn="l">
              <a:lnSpc>
                <a:spcPct val="110000"/>
              </a:lnSpc>
              <a:defRPr sz="1500" b="1" i="0">
                <a:solidFill>
                  <a:srgbClr val="0B0B0B"/>
                </a:solidFill>
                <a:latin typeface="Calibri"/>
              </a:defRPr>
            </a:pPr>
            <a:r>
              <a:t>Mondrian, α = 0.10 (hgb)</a:t>
            </a:r>
          </a:p>
        </p:txBody>
      </p:sp>
      <p:sp>
        <p:nvSpPr>
          <p:cNvPr id="20" name="TextBox 19"/>
          <p:cNvSpPr txBox="1"/>
          <p:nvPr/>
        </p:nvSpPr>
        <p:spPr>
          <a:xfrm>
            <a:off x="4498848" y="5120640"/>
            <a:ext cx="3246120" cy="1005840"/>
          </a:xfrm>
          <a:prstGeom prst="rect">
            <a:avLst/>
          </a:prstGeom>
          <a:noFill/>
        </p:spPr>
        <p:txBody>
          <a:bodyPr wrap="square" anchor="t" lIns="45720" rIns="45720" tIns="27432" bIns="27432">
            <a:spAutoFit/>
          </a:bodyPr>
          <a:lstStyle/>
          <a:p>
            <a:pPr algn="l">
              <a:lnSpc>
                <a:spcPct val="110000"/>
              </a:lnSpc>
              <a:defRPr sz="1200" b="0" i="0">
                <a:solidFill>
                  <a:srgbClr val="52514E"/>
                </a:solidFill>
                <a:latin typeface="Calibri"/>
              </a:defRPr>
            </a:pPr>
            <a:r>
              <a:t>Las cuatro fallas entre 0.952 y 1.000; Normal 0.915. Con α = 0.05, TWF entra siempre por umbral infinito.</a:t>
            </a:r>
          </a:p>
        </p:txBody>
      </p:sp>
      <p:sp>
        <p:nvSpPr>
          <p:cNvPr id="21" name="Rounded Rectangle 20"/>
          <p:cNvSpPr/>
          <p:nvPr/>
        </p:nvSpPr>
        <p:spPr>
          <a:xfrm>
            <a:off x="8001000" y="4617720"/>
            <a:ext cx="3520440" cy="1554480"/>
          </a:xfrm>
          <a:prstGeom prst="roundRect">
            <a:avLst>
              <a:gd name="adj" fmla="val 6000"/>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001000" y="4617720"/>
            <a:ext cx="82296" cy="1554480"/>
          </a:xfrm>
          <a:prstGeom prst="roundRect">
            <a:avLst>
              <a:gd name="adj" fmla="val 50000"/>
            </a:avLst>
          </a:prstGeom>
          <a:solidFill>
            <a:srgbClr val="5251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83879" y="4709159"/>
            <a:ext cx="3246120" cy="411480"/>
          </a:xfrm>
          <a:prstGeom prst="rect">
            <a:avLst/>
          </a:prstGeom>
          <a:noFill/>
        </p:spPr>
        <p:txBody>
          <a:bodyPr wrap="square" anchor="t" lIns="45720" rIns="45720" tIns="27432" bIns="27432">
            <a:spAutoFit/>
          </a:bodyPr>
          <a:lstStyle/>
          <a:p>
            <a:pPr algn="l">
              <a:lnSpc>
                <a:spcPct val="110000"/>
              </a:lnSpc>
              <a:defRPr sz="1500" b="1" i="0">
                <a:solidFill>
                  <a:srgbClr val="0B0B0B"/>
                </a:solidFill>
                <a:latin typeface="Calibri"/>
              </a:defRPr>
            </a:pPr>
            <a:r>
              <a:t>Lectura con cautela</a:t>
            </a:r>
          </a:p>
        </p:txBody>
      </p:sp>
      <p:sp>
        <p:nvSpPr>
          <p:cNvPr id="24" name="TextBox 23"/>
          <p:cNvSpPr txBox="1"/>
          <p:nvPr/>
        </p:nvSpPr>
        <p:spPr>
          <a:xfrm>
            <a:off x="8183879" y="5120640"/>
            <a:ext cx="3246120" cy="1005840"/>
          </a:xfrm>
          <a:prstGeom prst="rect">
            <a:avLst/>
          </a:prstGeom>
          <a:noFill/>
        </p:spPr>
        <p:txBody>
          <a:bodyPr wrap="square" anchor="t" lIns="45720" rIns="45720" tIns="27432" bIns="27432">
            <a:spAutoFit/>
          </a:bodyPr>
          <a:lstStyle/>
          <a:p>
            <a:pPr algn="l">
              <a:lnSpc>
                <a:spcPct val="110000"/>
              </a:lnSpc>
              <a:defRPr sz="1200" b="0" i="0">
                <a:solidFill>
                  <a:srgbClr val="52514E"/>
                </a:solidFill>
                <a:latin typeface="Calibri"/>
              </a:defRPr>
            </a:pPr>
            <a:r>
              <a:t>TWF tiene 9 casos en prueba: cada uno mueve su cobertura 0.11. La barra 0.78 con α = 0.20 son 7 de 9; no permite concluir subcobertura.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1170432"/>
            <a:ext cx="548640" cy="45720"/>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7315200" cy="274320"/>
          </a:xfrm>
          <a:prstGeom prst="rect">
            <a:avLst/>
          </a:prstGeom>
          <a:noFill/>
        </p:spPr>
        <p:txBody>
          <a:bodyPr wrap="square" anchor="t" lIns="45720" rIns="45720" tIns="27432" bIns="27432">
            <a:spAutoFit/>
          </a:bodyPr>
          <a:lstStyle/>
          <a:p>
            <a:pPr algn="l">
              <a:lnSpc>
                <a:spcPct val="110000"/>
              </a:lnSpc>
              <a:defRPr sz="1100" b="1" i="0">
                <a:solidFill>
                  <a:srgbClr val="EB6834"/>
                </a:solidFill>
                <a:latin typeface="Calibri"/>
              </a:defRPr>
            </a:pPr>
            <a:r>
              <a:t>5 · RESULTADO 3</a:t>
            </a:r>
          </a:p>
        </p:txBody>
      </p:sp>
      <p:sp>
        <p:nvSpPr>
          <p:cNvPr id="5" name="TextBox 4"/>
          <p:cNvSpPr txBox="1"/>
          <p:nvPr/>
        </p:nvSpPr>
        <p:spPr>
          <a:xfrm>
            <a:off x="640080" y="566928"/>
            <a:ext cx="10058400" cy="640080"/>
          </a:xfrm>
          <a:prstGeom prst="rect">
            <a:avLst/>
          </a:prstGeom>
          <a:noFill/>
        </p:spPr>
        <p:txBody>
          <a:bodyPr wrap="square" anchor="t" lIns="45720" rIns="45720" tIns="27432" bIns="27432">
            <a:spAutoFit/>
          </a:bodyPr>
          <a:lstStyle/>
          <a:p>
            <a:pPr algn="l">
              <a:lnSpc>
                <a:spcPct val="110000"/>
              </a:lnSpc>
              <a:defRPr sz="2400" b="1" i="0">
                <a:solidFill>
                  <a:srgbClr val="0F2A4A"/>
                </a:solidFill>
                <a:latin typeface="Calibri"/>
              </a:defRPr>
            </a:pPr>
            <a:r>
              <a:t>El precio de la garantía: tamaño, abstención y errores automáticos</a:t>
            </a:r>
          </a:p>
        </p:txBody>
      </p:sp>
      <p:sp>
        <p:nvSpPr>
          <p:cNvPr id="6" name="TextBox 5"/>
          <p:cNvSpPr txBox="1"/>
          <p:nvPr/>
        </p:nvSpPr>
        <p:spPr>
          <a:xfrm>
            <a:off x="10881360" y="411480"/>
            <a:ext cx="731520" cy="274320"/>
          </a:xfrm>
          <a:prstGeom prst="rect">
            <a:avLst/>
          </a:prstGeom>
          <a:noFill/>
        </p:spPr>
        <p:txBody>
          <a:bodyPr wrap="square" anchor="t" lIns="45720" rIns="45720" tIns="27432" bIns="27432">
            <a:spAutoFit/>
          </a:bodyPr>
          <a:lstStyle/>
          <a:p>
            <a:pPr algn="r">
              <a:lnSpc>
                <a:spcPct val="110000"/>
              </a:lnSpc>
              <a:defRPr sz="1000" b="0" i="0">
                <a:solidFill>
                  <a:srgbClr val="898781"/>
                </a:solidFill>
                <a:latin typeface="Calibri"/>
              </a:defRPr>
            </a:pPr>
            <a:r>
              <a:t>0.75 min</a:t>
            </a:r>
          </a:p>
        </p:txBody>
      </p:sp>
      <p:sp>
        <p:nvSpPr>
          <p:cNvPr id="7" name="Rectangle 6"/>
          <p:cNvSpPr/>
          <p:nvPr/>
        </p:nvSpPr>
        <p:spPr>
          <a:xfrm>
            <a:off x="0" y="6537960"/>
            <a:ext cx="12191695" cy="320040"/>
          </a:xfrm>
          <a:prstGeom prst="rect">
            <a:avLst/>
          </a:prstGeom>
          <a:solidFill>
            <a:srgbClr val="0F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574536"/>
            <a:ext cx="7315200" cy="256032"/>
          </a:xfrm>
          <a:prstGeom prst="rect">
            <a:avLst/>
          </a:prstGeom>
          <a:noFill/>
        </p:spPr>
        <p:txBody>
          <a:bodyPr wrap="square" anchor="t" lIns="45720" rIns="45720" tIns="27432" bIns="27432">
            <a:spAutoFit/>
          </a:bodyPr>
          <a:lstStyle/>
          <a:p>
            <a:pPr algn="l">
              <a:lnSpc>
                <a:spcPct val="110000"/>
              </a:lnSpc>
              <a:defRPr sz="900" b="0" i="0">
                <a:solidFill>
                  <a:srgbClr val="C9D6E8"/>
                </a:solidFill>
                <a:latin typeface="Calibri"/>
              </a:defRPr>
            </a:pPr>
            <a:r>
              <a:t>Predicción conforme y abstención selectiva · AI4I 2020</a:t>
            </a:r>
          </a:p>
        </p:txBody>
      </p:sp>
      <p:sp>
        <p:nvSpPr>
          <p:cNvPr id="9" name="TextBox 8"/>
          <p:cNvSpPr txBox="1"/>
          <p:nvPr/>
        </p:nvSpPr>
        <p:spPr>
          <a:xfrm>
            <a:off x="11155680" y="6574536"/>
            <a:ext cx="457200" cy="256032"/>
          </a:xfrm>
          <a:prstGeom prst="rect">
            <a:avLst/>
          </a:prstGeom>
          <a:noFill/>
        </p:spPr>
        <p:txBody>
          <a:bodyPr wrap="square" anchor="t" lIns="45720" rIns="45720" tIns="27432" bIns="27432">
            <a:spAutoFit/>
          </a:bodyPr>
          <a:lstStyle/>
          <a:p>
            <a:pPr algn="r">
              <a:lnSpc>
                <a:spcPct val="110000"/>
              </a:lnSpc>
              <a:defRPr sz="900" b="0" i="0">
                <a:solidFill>
                  <a:srgbClr val="C9D6E8"/>
                </a:solidFill>
                <a:latin typeface="Calibri"/>
              </a:defRPr>
            </a:pPr>
            <a:r>
              <a:t>11</a:t>
            </a:r>
          </a:p>
        </p:txBody>
      </p:sp>
      <p:sp>
        <p:nvSpPr>
          <p:cNvPr id="10" name="Rounded Rectangle 9"/>
          <p:cNvSpPr/>
          <p:nvPr/>
        </p:nvSpPr>
        <p:spPr>
          <a:xfrm>
            <a:off x="10314432" y="713232"/>
            <a:ext cx="1188720" cy="274320"/>
          </a:xfrm>
          <a:prstGeom prst="roundRect">
            <a:avLst>
              <a:gd name="adj" fmla="val 30000"/>
            </a:avLst>
          </a:prstGeom>
          <a:solidFill>
            <a:srgbClr val="FBE3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14432" y="740664"/>
            <a:ext cx="1188720" cy="237744"/>
          </a:xfrm>
          <a:prstGeom prst="rect">
            <a:avLst/>
          </a:prstGeom>
          <a:noFill/>
        </p:spPr>
        <p:txBody>
          <a:bodyPr wrap="square" anchor="t" lIns="45720" rIns="45720" tIns="27432" bIns="27432">
            <a:spAutoFit/>
          </a:bodyPr>
          <a:lstStyle/>
          <a:p>
            <a:pPr algn="ctr">
              <a:lnSpc>
                <a:spcPct val="110000"/>
              </a:lnSpc>
              <a:defRPr sz="900" b="1" i="0">
                <a:solidFill>
                  <a:srgbClr val="EB6834"/>
                </a:solidFill>
                <a:latin typeface="Calibri"/>
              </a:defRPr>
            </a:pPr>
            <a:r>
              <a:t>Roberth</a:t>
            </a:r>
          </a:p>
        </p:txBody>
      </p:sp>
      <p:pic>
        <p:nvPicPr>
          <p:cNvPr id="12" name="Picture 11" descr="automatic_error_rate.png"/>
          <p:cNvPicPr>
            <a:picLocks noChangeAspect="1"/>
          </p:cNvPicPr>
          <p:nvPr/>
        </p:nvPicPr>
        <p:blipFill>
          <a:blip r:embed="rId2"/>
          <a:stretch>
            <a:fillRect/>
          </a:stretch>
        </p:blipFill>
        <p:spPr>
          <a:xfrm>
            <a:off x="640080" y="1371600"/>
            <a:ext cx="6949440" cy="2400716"/>
          </a:xfrm>
          <a:prstGeom prst="rect">
            <a:avLst/>
          </a:prstGeom>
        </p:spPr>
      </p:pic>
      <p:sp>
        <p:nvSpPr>
          <p:cNvPr id="13" name="TextBox 12"/>
          <p:cNvSpPr txBox="1"/>
          <p:nvPr/>
        </p:nvSpPr>
        <p:spPr>
          <a:xfrm>
            <a:off x="7772400" y="1371600"/>
            <a:ext cx="3749039" cy="3200400"/>
          </a:xfrm>
          <a:prstGeom prst="rect">
            <a:avLst/>
          </a:prstGeom>
          <a:noFill/>
        </p:spPr>
        <p:txBody>
          <a:bodyPr wrap="square" anchor="t" lIns="45720" rIns="45720" tIns="27432" bIns="27432">
            <a:spAutoFit/>
          </a:bodyPr>
          <a:lstStyle/>
          <a:p>
            <a:pPr algn="l">
              <a:lnSpc>
                <a:spcPct val="115000"/>
              </a:lnSpc>
              <a:defRPr sz="1000" b="0" i="0">
                <a:solidFill>
                  <a:srgbClr val="0B0B0B"/>
                </a:solidFill>
                <a:latin typeface="Calibri"/>
              </a:defRPr>
            </a:pPr>
            <a:r>
              <a:t>La cobertura no garantiza la exactitud condicionada a decidir automáticamente: un conjunto de tamaño 1 puede contener la clase equivocada (clasificación selectiva, Geifman y El-Yaniv 2017).</a:t>
            </a:r>
          </a:p>
          <a:p>
            <a:pPr algn="l">
              <a:lnSpc>
                <a:spcPct val="115000"/>
              </a:lnSpc>
              <a:defRPr sz="1000" b="0" i="0">
                <a:solidFill>
                  <a:srgbClr val="0B0B0B"/>
                </a:solidFill>
                <a:latin typeface="Calibri"/>
              </a:defRPr>
            </a:pPr>
            <a:r>
              <a:t>Mondrian automatiza más pero con falsas alarmas: el umbral de Normal es casi cero (rango 2 605 de 2 893 puntuaciones concentradas en 0); Normal sale del conjunto en cuanto p̂(Normal) baja de 0.99999 y queda un singleton de falla.</a:t>
            </a:r>
          </a:p>
          <a:p>
            <a:pPr algn="l">
              <a:lnSpc>
                <a:spcPct val="115000"/>
              </a:lnSpc>
              <a:defRPr sz="1000" b="0" i="0">
                <a:solidFill>
                  <a:srgbClr val="0B0B0B"/>
                </a:solidFill>
                <a:latin typeface="Calibri"/>
              </a:defRPr>
            </a:pPr>
            <a:r>
              <a:t>Split se equivoca poco, pero en la dirección peor: sus errores son fallas enviadas como Normal, y sus abstenciones son conjuntos vacíos.</a:t>
            </a:r>
          </a:p>
        </p:txBody>
      </p:sp>
      <p:graphicFrame>
        <p:nvGraphicFramePr>
          <p:cNvPr id="14" name="Table 13"/>
          <p:cNvGraphicFramePr>
            <a:graphicFrameLocks noGrp="1"/>
          </p:cNvGraphicFramePr>
          <p:nvPr/>
        </p:nvGraphicFramePr>
        <p:xfrm>
          <a:off x="640080" y="4526280"/>
          <a:ext cx="10881360" cy="1554480"/>
        </p:xfrm>
        <a:graphic>
          <a:graphicData uri="http://schemas.openxmlformats.org/drawingml/2006/table">
            <a:tbl>
              <a:tblPr firstRow="1" bandRow="1">
                <a:tableStyleId>{5C22544A-7EE6-4342-B048-85BDC9FD1C3A}</a:tableStyleId>
              </a:tblPr>
              <a:tblGrid>
                <a:gridCol w="2194560"/>
                <a:gridCol w="1828800"/>
                <a:gridCol w="1645920"/>
                <a:gridCol w="1554480"/>
                <a:gridCol w="3657600"/>
              </a:tblGrid>
              <a:tr h="310896">
                <a:tc>
                  <a:txBody>
                    <a:bodyPr/>
                    <a:lstStyle/>
                    <a:p>
                      <a:pPr algn="l">
                        <a:defRPr sz="1100" b="1">
                          <a:solidFill>
                            <a:srgbClr val="FFFFFF"/>
                          </a:solidFill>
                          <a:latin typeface="Calibri"/>
                        </a:defRPr>
                      </a:pPr>
                      <a:r>
                        <a:t>α = 0.10</a:t>
                      </a:r>
                    </a:p>
                  </a:txBody>
                  <a:tcPr marL="54864" marR="54864" marT="18288" marB="18288" anchor="ctr">
                    <a:solidFill>
                      <a:srgbClr val="1C5CAB"/>
                    </a:solidFill>
                  </a:tcPr>
                </a:tc>
                <a:tc>
                  <a:txBody>
                    <a:bodyPr/>
                    <a:lstStyle/>
                    <a:p>
                      <a:pPr algn="ctr">
                        <a:defRPr sz="1100" b="1">
                          <a:solidFill>
                            <a:srgbClr val="FFFFFF"/>
                          </a:solidFill>
                          <a:latin typeface="Calibri"/>
                        </a:defRPr>
                      </a:pPr>
                      <a:r>
                        <a:t>Automáticas</a:t>
                      </a:r>
                    </a:p>
                  </a:txBody>
                  <a:tcPr marL="54864" marR="54864" marT="18288" marB="18288" anchor="ctr">
                    <a:solidFill>
                      <a:srgbClr val="1C5CAB"/>
                    </a:solidFill>
                  </a:tcPr>
                </a:tc>
                <a:tc>
                  <a:txBody>
                    <a:bodyPr/>
                    <a:lstStyle/>
                    <a:p>
                      <a:pPr algn="ctr">
                        <a:defRPr sz="1100" b="1">
                          <a:solidFill>
                            <a:srgbClr val="FFFFFF"/>
                          </a:solidFill>
                          <a:latin typeface="Calibri"/>
                        </a:defRPr>
                      </a:pPr>
                      <a:r>
                        <a:t>Erróneas</a:t>
                      </a:r>
                    </a:p>
                  </a:txBody>
                  <a:tcPr marL="54864" marR="54864" marT="18288" marB="18288" anchor="ctr">
                    <a:solidFill>
                      <a:srgbClr val="1C5CAB"/>
                    </a:solidFill>
                  </a:tcPr>
                </a:tc>
                <a:tc>
                  <a:txBody>
                    <a:bodyPr/>
                    <a:lstStyle/>
                    <a:p>
                      <a:pPr algn="ctr">
                        <a:defRPr sz="1100" b="1">
                          <a:solidFill>
                            <a:srgbClr val="FFFFFF"/>
                          </a:solidFill>
                          <a:latin typeface="Calibri"/>
                        </a:defRPr>
                      </a:pPr>
                      <a:r>
                        <a:t>Tasa de error</a:t>
                      </a:r>
                    </a:p>
                  </a:txBody>
                  <a:tcPr marL="54864" marR="54864" marT="18288" marB="18288" anchor="ctr">
                    <a:solidFill>
                      <a:srgbClr val="1C5CAB"/>
                    </a:solidFill>
                  </a:tcPr>
                </a:tc>
                <a:tc>
                  <a:txBody>
                    <a:bodyPr/>
                    <a:lstStyle/>
                    <a:p>
                      <a:pPr algn="ctr">
                        <a:defRPr sz="1100" b="1">
                          <a:solidFill>
                            <a:srgbClr val="FFFFFF"/>
                          </a:solidFill>
                          <a:latin typeface="Calibri"/>
                        </a:defRPr>
                      </a:pPr>
                      <a:r>
                        <a:t>Error dominante</a:t>
                      </a:r>
                    </a:p>
                  </a:txBody>
                  <a:tcPr marL="54864" marR="54864" marT="18288" marB="18288" anchor="ctr">
                    <a:solidFill>
                      <a:srgbClr val="1C5CAB"/>
                    </a:solidFill>
                  </a:tcPr>
                </a:tc>
              </a:tr>
              <a:tr h="310896">
                <a:tc>
                  <a:txBody>
                    <a:bodyPr/>
                    <a:lstStyle/>
                    <a:p>
                      <a:pPr algn="l">
                        <a:defRPr sz="1100" b="0">
                          <a:solidFill>
                            <a:srgbClr val="0B0B0B"/>
                          </a:solidFill>
                          <a:latin typeface="Calibri"/>
                        </a:defRPr>
                      </a:pPr>
                      <a:r>
                        <a:t>hgb · split</a:t>
                      </a:r>
                    </a:p>
                  </a:txBody>
                  <a:tcPr marL="54864" marR="54864" marT="18288" marB="18288" anchor="ctr">
                    <a:solidFill>
                      <a:srgbClr val="FFFFFF"/>
                    </a:solidFill>
                  </a:tcPr>
                </a:tc>
                <a:tc>
                  <a:txBody>
                    <a:bodyPr/>
                    <a:lstStyle/>
                    <a:p>
                      <a:pPr algn="ctr">
                        <a:defRPr sz="1100" b="0">
                          <a:solidFill>
                            <a:srgbClr val="0B0B0B"/>
                          </a:solidFill>
                          <a:latin typeface="Calibri"/>
                        </a:defRPr>
                      </a:pPr>
                      <a:r>
                        <a:t>1 819</a:t>
                      </a:r>
                    </a:p>
                  </a:txBody>
                  <a:tcPr marL="54864" marR="54864" marT="18288" marB="18288" anchor="ctr">
                    <a:solidFill>
                      <a:srgbClr val="FFFFFF"/>
                    </a:solidFill>
                  </a:tcPr>
                </a:tc>
                <a:tc>
                  <a:txBody>
                    <a:bodyPr/>
                    <a:lstStyle/>
                    <a:p>
                      <a:pPr algn="ctr">
                        <a:defRPr sz="1100" b="0">
                          <a:solidFill>
                            <a:srgbClr val="0B0B0B"/>
                          </a:solidFill>
                          <a:latin typeface="Calibri"/>
                        </a:defRPr>
                      </a:pPr>
                      <a:r>
                        <a:t>5</a:t>
                      </a:r>
                    </a:p>
                  </a:txBody>
                  <a:tcPr marL="54864" marR="54864" marT="18288" marB="18288" anchor="ctr">
                    <a:solidFill>
                      <a:srgbClr val="FFFFFF"/>
                    </a:solidFill>
                  </a:tcPr>
                </a:tc>
                <a:tc>
                  <a:txBody>
                    <a:bodyPr/>
                    <a:lstStyle/>
                    <a:p>
                      <a:pPr algn="ctr">
                        <a:defRPr sz="1100" b="0">
                          <a:solidFill>
                            <a:srgbClr val="0B0B0B"/>
                          </a:solidFill>
                          <a:latin typeface="Calibri"/>
                        </a:defRPr>
                      </a:pPr>
                      <a:r>
                        <a:t>0.3 %</a:t>
                      </a:r>
                    </a:p>
                  </a:txBody>
                  <a:tcPr marL="54864" marR="54864" marT="18288" marB="18288" anchor="ctr">
                    <a:solidFill>
                      <a:srgbClr val="FFFFFF"/>
                    </a:solidFill>
                  </a:tcPr>
                </a:tc>
                <a:tc>
                  <a:txBody>
                    <a:bodyPr/>
                    <a:lstStyle/>
                    <a:p>
                      <a:pPr algn="ctr">
                        <a:defRPr sz="1100" b="0">
                          <a:solidFill>
                            <a:srgbClr val="0B0B0B"/>
                          </a:solidFill>
                          <a:latin typeface="Calibri"/>
                        </a:defRPr>
                      </a:pPr>
                      <a:r>
                        <a:t>5 fallas enviadas como Normal</a:t>
                      </a:r>
                    </a:p>
                  </a:txBody>
                  <a:tcPr marL="54864" marR="54864" marT="18288" marB="18288" anchor="ctr">
                    <a:solidFill>
                      <a:srgbClr val="FFFFFF"/>
                    </a:solidFill>
                  </a:tcPr>
                </a:tc>
              </a:tr>
              <a:tr h="310896">
                <a:tc>
                  <a:txBody>
                    <a:bodyPr/>
                    <a:lstStyle/>
                    <a:p>
                      <a:pPr algn="l">
                        <a:defRPr sz="1100" b="0">
                          <a:solidFill>
                            <a:srgbClr val="0B0B0B"/>
                          </a:solidFill>
                          <a:latin typeface="Calibri"/>
                        </a:defRPr>
                      </a:pPr>
                      <a:r>
                        <a:t>hgb · mondrian</a:t>
                      </a:r>
                    </a:p>
                  </a:txBody>
                  <a:tcPr marL="54864" marR="54864" marT="18288" marB="18288" anchor="ctr">
                    <a:solidFill>
                      <a:srgbClr val="EEF1F6"/>
                    </a:solidFill>
                  </a:tcPr>
                </a:tc>
                <a:tc>
                  <a:txBody>
                    <a:bodyPr/>
                    <a:lstStyle/>
                    <a:p>
                      <a:pPr algn="ctr">
                        <a:defRPr sz="1100" b="0">
                          <a:solidFill>
                            <a:srgbClr val="0B0B0B"/>
                          </a:solidFill>
                          <a:latin typeface="Calibri"/>
                        </a:defRPr>
                      </a:pPr>
                      <a:r>
                        <a:t>1 387</a:t>
                      </a:r>
                    </a:p>
                  </a:txBody>
                  <a:tcPr marL="54864" marR="54864" marT="18288" marB="18288" anchor="ctr">
                    <a:solidFill>
                      <a:srgbClr val="EEF1F6"/>
                    </a:solidFill>
                  </a:tcPr>
                </a:tc>
                <a:tc>
                  <a:txBody>
                    <a:bodyPr/>
                    <a:lstStyle/>
                    <a:p>
                      <a:pPr algn="ctr">
                        <a:defRPr sz="1100" b="0">
                          <a:solidFill>
                            <a:srgbClr val="0B0B0B"/>
                          </a:solidFill>
                          <a:latin typeface="Calibri"/>
                        </a:defRPr>
                      </a:pPr>
                      <a:r>
                        <a:t>82</a:t>
                      </a:r>
                    </a:p>
                  </a:txBody>
                  <a:tcPr marL="54864" marR="54864" marT="18288" marB="18288" anchor="ctr">
                    <a:solidFill>
                      <a:srgbClr val="EEF1F6"/>
                    </a:solidFill>
                  </a:tcPr>
                </a:tc>
                <a:tc>
                  <a:txBody>
                    <a:bodyPr/>
                    <a:lstStyle/>
                    <a:p>
                      <a:pPr algn="ctr">
                        <a:defRPr sz="1100" b="0">
                          <a:solidFill>
                            <a:srgbClr val="0B0B0B"/>
                          </a:solidFill>
                          <a:latin typeface="Calibri"/>
                        </a:defRPr>
                      </a:pPr>
                      <a:r>
                        <a:t>5.9 %</a:t>
                      </a:r>
                    </a:p>
                  </a:txBody>
                  <a:tcPr marL="54864" marR="54864" marT="18288" marB="18288" anchor="ctr">
                    <a:solidFill>
                      <a:srgbClr val="EEF1F6"/>
                    </a:solidFill>
                  </a:tcPr>
                </a:tc>
                <a:tc>
                  <a:txBody>
                    <a:bodyPr/>
                    <a:lstStyle/>
                    <a:p>
                      <a:pPr algn="ctr">
                        <a:defRPr sz="1100" b="0">
                          <a:solidFill>
                            <a:srgbClr val="0B0B0B"/>
                          </a:solidFill>
                          <a:latin typeface="Calibri"/>
                        </a:defRPr>
                      </a:pPr>
                      <a:r>
                        <a:t>81 normales enviados como falla</a:t>
                      </a:r>
                    </a:p>
                  </a:txBody>
                  <a:tcPr marL="54864" marR="54864" marT="18288" marB="18288" anchor="ctr">
                    <a:solidFill>
                      <a:srgbClr val="EEF1F6"/>
                    </a:solidFill>
                  </a:tcPr>
                </a:tc>
              </a:tr>
              <a:tr h="310896">
                <a:tc>
                  <a:txBody>
                    <a:bodyPr/>
                    <a:lstStyle/>
                    <a:p>
                      <a:pPr algn="l">
                        <a:defRPr sz="1100" b="0">
                          <a:solidFill>
                            <a:srgbClr val="0B0B0B"/>
                          </a:solidFill>
                          <a:latin typeface="Calibri"/>
                        </a:defRPr>
                      </a:pPr>
                      <a:r>
                        <a:t>mlp · split</a:t>
                      </a:r>
                    </a:p>
                  </a:txBody>
                  <a:tcPr marL="54864" marR="54864" marT="18288" marB="18288" anchor="ctr">
                    <a:solidFill>
                      <a:srgbClr val="FFFFFF"/>
                    </a:solidFill>
                  </a:tcPr>
                </a:tc>
                <a:tc>
                  <a:txBody>
                    <a:bodyPr/>
                    <a:lstStyle/>
                    <a:p>
                      <a:pPr algn="ctr">
                        <a:defRPr sz="1100" b="0">
                          <a:solidFill>
                            <a:srgbClr val="0B0B0B"/>
                          </a:solidFill>
                          <a:latin typeface="Calibri"/>
                        </a:defRPr>
                      </a:pPr>
                      <a:r>
                        <a:t>1 803</a:t>
                      </a:r>
                    </a:p>
                  </a:txBody>
                  <a:tcPr marL="54864" marR="54864" marT="18288" marB="18288" anchor="ctr">
                    <a:solidFill>
                      <a:srgbClr val="FFFFFF"/>
                    </a:solidFill>
                  </a:tcPr>
                </a:tc>
                <a:tc>
                  <a:txBody>
                    <a:bodyPr/>
                    <a:lstStyle/>
                    <a:p>
                      <a:pPr algn="ctr">
                        <a:defRPr sz="1100" b="0">
                          <a:solidFill>
                            <a:srgbClr val="0B0B0B"/>
                          </a:solidFill>
                          <a:latin typeface="Calibri"/>
                        </a:defRPr>
                      </a:pPr>
                      <a:r>
                        <a:t>3</a:t>
                      </a:r>
                    </a:p>
                  </a:txBody>
                  <a:tcPr marL="54864" marR="54864" marT="18288" marB="18288" anchor="ctr">
                    <a:solidFill>
                      <a:srgbClr val="FFFFFF"/>
                    </a:solidFill>
                  </a:tcPr>
                </a:tc>
                <a:tc>
                  <a:txBody>
                    <a:bodyPr/>
                    <a:lstStyle/>
                    <a:p>
                      <a:pPr algn="ctr">
                        <a:defRPr sz="1100" b="0">
                          <a:solidFill>
                            <a:srgbClr val="0B0B0B"/>
                          </a:solidFill>
                          <a:latin typeface="Calibri"/>
                        </a:defRPr>
                      </a:pPr>
                      <a:r>
                        <a:t>0.2 %</a:t>
                      </a:r>
                    </a:p>
                  </a:txBody>
                  <a:tcPr marL="54864" marR="54864" marT="18288" marB="18288" anchor="ctr">
                    <a:solidFill>
                      <a:srgbClr val="FFFFFF"/>
                    </a:solidFill>
                  </a:tcPr>
                </a:tc>
                <a:tc>
                  <a:txBody>
                    <a:bodyPr/>
                    <a:lstStyle/>
                    <a:p>
                      <a:pPr algn="ctr">
                        <a:defRPr sz="1100" b="0">
                          <a:solidFill>
                            <a:srgbClr val="0B0B0B"/>
                          </a:solidFill>
                          <a:latin typeface="Calibri"/>
                        </a:defRPr>
                      </a:pPr>
                      <a:r>
                        <a:t>3 fallas enviadas como Normal</a:t>
                      </a:r>
                    </a:p>
                  </a:txBody>
                  <a:tcPr marL="54864" marR="54864" marT="18288" marB="18288" anchor="ctr">
                    <a:solidFill>
                      <a:srgbClr val="FFFFFF"/>
                    </a:solidFill>
                  </a:tcPr>
                </a:tc>
              </a:tr>
              <a:tr h="310896">
                <a:tc>
                  <a:txBody>
                    <a:bodyPr/>
                    <a:lstStyle/>
                    <a:p>
                      <a:pPr algn="l">
                        <a:defRPr sz="1100" b="0">
                          <a:solidFill>
                            <a:srgbClr val="0B0B0B"/>
                          </a:solidFill>
                          <a:latin typeface="Calibri"/>
                        </a:defRPr>
                      </a:pPr>
                      <a:r>
                        <a:t>mlp · mondrian</a:t>
                      </a:r>
                    </a:p>
                  </a:txBody>
                  <a:tcPr marL="54864" marR="54864" marT="18288" marB="18288" anchor="ctr">
                    <a:solidFill>
                      <a:srgbClr val="EEF1F6"/>
                    </a:solidFill>
                  </a:tcPr>
                </a:tc>
                <a:tc>
                  <a:txBody>
                    <a:bodyPr/>
                    <a:lstStyle/>
                    <a:p>
                      <a:pPr algn="ctr">
                        <a:defRPr sz="1100" b="0">
                          <a:solidFill>
                            <a:srgbClr val="0B0B0B"/>
                          </a:solidFill>
                          <a:latin typeface="Calibri"/>
                        </a:defRPr>
                      </a:pPr>
                      <a:r>
                        <a:t>1 825</a:t>
                      </a:r>
                    </a:p>
                  </a:txBody>
                  <a:tcPr marL="54864" marR="54864" marT="18288" marB="18288" anchor="ctr">
                    <a:solidFill>
                      <a:srgbClr val="EEF1F6"/>
                    </a:solidFill>
                  </a:tcPr>
                </a:tc>
                <a:tc>
                  <a:txBody>
                    <a:bodyPr/>
                    <a:lstStyle/>
                    <a:p>
                      <a:pPr algn="ctr">
                        <a:defRPr sz="1100" b="0">
                          <a:solidFill>
                            <a:srgbClr val="0B0B0B"/>
                          </a:solidFill>
                          <a:latin typeface="Calibri"/>
                        </a:defRPr>
                      </a:pPr>
                      <a:r>
                        <a:t>150</a:t>
                      </a:r>
                    </a:p>
                  </a:txBody>
                  <a:tcPr marL="54864" marR="54864" marT="18288" marB="18288" anchor="ctr">
                    <a:solidFill>
                      <a:srgbClr val="EEF1F6"/>
                    </a:solidFill>
                  </a:tcPr>
                </a:tc>
                <a:tc>
                  <a:txBody>
                    <a:bodyPr/>
                    <a:lstStyle/>
                    <a:p>
                      <a:pPr algn="ctr">
                        <a:defRPr sz="1100" b="0">
                          <a:solidFill>
                            <a:srgbClr val="0B0B0B"/>
                          </a:solidFill>
                          <a:latin typeface="Calibri"/>
                        </a:defRPr>
                      </a:pPr>
                      <a:r>
                        <a:t>8.2 %</a:t>
                      </a:r>
                    </a:p>
                  </a:txBody>
                  <a:tcPr marL="54864" marR="54864" marT="18288" marB="18288" anchor="ctr">
                    <a:solidFill>
                      <a:srgbClr val="EEF1F6"/>
                    </a:solidFill>
                  </a:tcPr>
                </a:tc>
                <a:tc>
                  <a:txBody>
                    <a:bodyPr/>
                    <a:lstStyle/>
                    <a:p>
                      <a:pPr algn="ctr">
                        <a:defRPr sz="1100" b="0">
                          <a:solidFill>
                            <a:srgbClr val="0B0B0B"/>
                          </a:solidFill>
                          <a:latin typeface="Calibri"/>
                        </a:defRPr>
                      </a:pPr>
                      <a:r>
                        <a:t>149 normales enviados como falla</a:t>
                      </a:r>
                    </a:p>
                  </a:txBody>
                  <a:tcPr marL="54864" marR="54864" marT="18288" marB="18288" anchor="ctr">
                    <a:solidFill>
                      <a:srgbClr val="EEF1F6"/>
                    </a:solidFill>
                  </a:tcPr>
                </a:tc>
              </a:tr>
            </a:tbl>
          </a:graphicData>
        </a:graphic>
      </p:graphicFrame>
      <p:sp>
        <p:nvSpPr>
          <p:cNvPr id="15" name="TextBox 14"/>
          <p:cNvSpPr txBox="1"/>
          <p:nvPr/>
        </p:nvSpPr>
        <p:spPr>
          <a:xfrm>
            <a:off x="640080" y="6126480"/>
            <a:ext cx="10881360" cy="411480"/>
          </a:xfrm>
          <a:prstGeom prst="rect">
            <a:avLst/>
          </a:prstGeom>
          <a:noFill/>
        </p:spPr>
        <p:txBody>
          <a:bodyPr wrap="square" anchor="t" lIns="45720" rIns="45720" tIns="27432" bIns="27432">
            <a:spAutoFit/>
          </a:bodyPr>
          <a:lstStyle/>
          <a:p>
            <a:pPr algn="l">
              <a:lnSpc>
                <a:spcPct val="110000"/>
              </a:lnSpc>
              <a:defRPr sz="1000" b="0" i="1">
                <a:solidFill>
                  <a:srgbClr val="52514E"/>
                </a:solidFill>
                <a:latin typeface="Calibri"/>
              </a:defRPr>
            </a:pPr>
            <a:r>
              <a:t>Con α = 0.05 Mondrian abstiene el 100 % (hgb): TWF acompaña a Normal en casi todos los conjuntos. Con α = 0.10 el tamaño medio baja a 1.32 y la mayoría de los ciclos se resuelve sola.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1170432"/>
            <a:ext cx="548640" cy="45720"/>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7315200" cy="274320"/>
          </a:xfrm>
          <a:prstGeom prst="rect">
            <a:avLst/>
          </a:prstGeom>
          <a:noFill/>
        </p:spPr>
        <p:txBody>
          <a:bodyPr wrap="square" anchor="t" lIns="45720" rIns="45720" tIns="27432" bIns="27432">
            <a:spAutoFit/>
          </a:bodyPr>
          <a:lstStyle/>
          <a:p>
            <a:pPr algn="l">
              <a:lnSpc>
                <a:spcPct val="110000"/>
              </a:lnSpc>
              <a:defRPr sz="1100" b="1" i="0">
                <a:solidFill>
                  <a:srgbClr val="EB6834"/>
                </a:solidFill>
                <a:latin typeface="Calibri"/>
              </a:defRPr>
            </a:pPr>
            <a:r>
              <a:t>5 · EN PLANTA</a:t>
            </a:r>
          </a:p>
        </p:txBody>
      </p:sp>
      <p:sp>
        <p:nvSpPr>
          <p:cNvPr id="5" name="TextBox 4"/>
          <p:cNvSpPr txBox="1"/>
          <p:nvPr/>
        </p:nvSpPr>
        <p:spPr>
          <a:xfrm>
            <a:off x="640080" y="566928"/>
            <a:ext cx="10058400" cy="640080"/>
          </a:xfrm>
          <a:prstGeom prst="rect">
            <a:avLst/>
          </a:prstGeom>
          <a:noFill/>
        </p:spPr>
        <p:txBody>
          <a:bodyPr wrap="square" anchor="t" lIns="45720" rIns="45720" tIns="27432" bIns="27432">
            <a:spAutoFit/>
          </a:bodyPr>
          <a:lstStyle/>
          <a:p>
            <a:pPr algn="l">
              <a:lnSpc>
                <a:spcPct val="110000"/>
              </a:lnSpc>
              <a:defRPr sz="2400" b="1" i="0">
                <a:solidFill>
                  <a:srgbClr val="0F2A4A"/>
                </a:solidFill>
                <a:latin typeface="Calibri"/>
              </a:defRPr>
            </a:pPr>
            <a:r>
              <a:t>Cómo se repartirían 1 995 ciclos de prueba con Mondrian y α = 0.10</a:t>
            </a:r>
          </a:p>
        </p:txBody>
      </p:sp>
      <p:sp>
        <p:nvSpPr>
          <p:cNvPr id="6" name="TextBox 5"/>
          <p:cNvSpPr txBox="1"/>
          <p:nvPr/>
        </p:nvSpPr>
        <p:spPr>
          <a:xfrm>
            <a:off x="10881360" y="411480"/>
            <a:ext cx="731520" cy="274320"/>
          </a:xfrm>
          <a:prstGeom prst="rect">
            <a:avLst/>
          </a:prstGeom>
          <a:noFill/>
        </p:spPr>
        <p:txBody>
          <a:bodyPr wrap="square" anchor="t" lIns="45720" rIns="45720" tIns="27432" bIns="27432">
            <a:spAutoFit/>
          </a:bodyPr>
          <a:lstStyle/>
          <a:p>
            <a:pPr algn="r">
              <a:lnSpc>
                <a:spcPct val="110000"/>
              </a:lnSpc>
              <a:defRPr sz="1000" b="0" i="0">
                <a:solidFill>
                  <a:srgbClr val="898781"/>
                </a:solidFill>
                <a:latin typeface="Calibri"/>
              </a:defRPr>
            </a:pPr>
            <a:r>
              <a:t>0.4 min</a:t>
            </a:r>
          </a:p>
        </p:txBody>
      </p:sp>
      <p:sp>
        <p:nvSpPr>
          <p:cNvPr id="7" name="Rectangle 6"/>
          <p:cNvSpPr/>
          <p:nvPr/>
        </p:nvSpPr>
        <p:spPr>
          <a:xfrm>
            <a:off x="0" y="6537960"/>
            <a:ext cx="12191695" cy="320040"/>
          </a:xfrm>
          <a:prstGeom prst="rect">
            <a:avLst/>
          </a:prstGeom>
          <a:solidFill>
            <a:srgbClr val="0F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574536"/>
            <a:ext cx="7315200" cy="256032"/>
          </a:xfrm>
          <a:prstGeom prst="rect">
            <a:avLst/>
          </a:prstGeom>
          <a:noFill/>
        </p:spPr>
        <p:txBody>
          <a:bodyPr wrap="square" anchor="t" lIns="45720" rIns="45720" tIns="27432" bIns="27432">
            <a:spAutoFit/>
          </a:bodyPr>
          <a:lstStyle/>
          <a:p>
            <a:pPr algn="l">
              <a:lnSpc>
                <a:spcPct val="110000"/>
              </a:lnSpc>
              <a:defRPr sz="900" b="0" i="0">
                <a:solidFill>
                  <a:srgbClr val="C9D6E8"/>
                </a:solidFill>
                <a:latin typeface="Calibri"/>
              </a:defRPr>
            </a:pPr>
            <a:r>
              <a:t>Predicción conforme y abstención selectiva · AI4I 2020</a:t>
            </a:r>
          </a:p>
        </p:txBody>
      </p:sp>
      <p:sp>
        <p:nvSpPr>
          <p:cNvPr id="9" name="TextBox 8"/>
          <p:cNvSpPr txBox="1"/>
          <p:nvPr/>
        </p:nvSpPr>
        <p:spPr>
          <a:xfrm>
            <a:off x="11155680" y="6574536"/>
            <a:ext cx="457200" cy="256032"/>
          </a:xfrm>
          <a:prstGeom prst="rect">
            <a:avLst/>
          </a:prstGeom>
          <a:noFill/>
        </p:spPr>
        <p:txBody>
          <a:bodyPr wrap="square" anchor="t" lIns="45720" rIns="45720" tIns="27432" bIns="27432">
            <a:spAutoFit/>
          </a:bodyPr>
          <a:lstStyle/>
          <a:p>
            <a:pPr algn="r">
              <a:lnSpc>
                <a:spcPct val="110000"/>
              </a:lnSpc>
              <a:defRPr sz="900" b="0" i="0">
                <a:solidFill>
                  <a:srgbClr val="C9D6E8"/>
                </a:solidFill>
                <a:latin typeface="Calibri"/>
              </a:defRPr>
            </a:pPr>
            <a:r>
              <a:t>12</a:t>
            </a:r>
          </a:p>
        </p:txBody>
      </p:sp>
      <p:sp>
        <p:nvSpPr>
          <p:cNvPr id="10" name="Rounded Rectangle 9"/>
          <p:cNvSpPr/>
          <p:nvPr/>
        </p:nvSpPr>
        <p:spPr>
          <a:xfrm>
            <a:off x="10314432" y="713232"/>
            <a:ext cx="1188720" cy="274320"/>
          </a:xfrm>
          <a:prstGeom prst="roundRect">
            <a:avLst>
              <a:gd name="adj" fmla="val 30000"/>
            </a:avLst>
          </a:prstGeom>
          <a:solidFill>
            <a:srgbClr val="FBE3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14432" y="740664"/>
            <a:ext cx="1188720" cy="237744"/>
          </a:xfrm>
          <a:prstGeom prst="rect">
            <a:avLst/>
          </a:prstGeom>
          <a:noFill/>
        </p:spPr>
        <p:txBody>
          <a:bodyPr wrap="square" anchor="t" lIns="45720" rIns="45720" tIns="27432" bIns="27432">
            <a:spAutoFit/>
          </a:bodyPr>
          <a:lstStyle/>
          <a:p>
            <a:pPr algn="ctr">
              <a:lnSpc>
                <a:spcPct val="110000"/>
              </a:lnSpc>
              <a:defRPr sz="900" b="1" i="0">
                <a:solidFill>
                  <a:srgbClr val="EB6834"/>
                </a:solidFill>
                <a:latin typeface="Calibri"/>
              </a:defRPr>
            </a:pPr>
            <a:r>
              <a:t>Roberth</a:t>
            </a:r>
          </a:p>
        </p:txBody>
      </p:sp>
      <p:sp>
        <p:nvSpPr>
          <p:cNvPr id="12" name="TextBox 11"/>
          <p:cNvSpPr txBox="1"/>
          <p:nvPr/>
        </p:nvSpPr>
        <p:spPr>
          <a:xfrm>
            <a:off x="640080" y="1463040"/>
            <a:ext cx="2743200" cy="365760"/>
          </a:xfrm>
          <a:prstGeom prst="rect">
            <a:avLst/>
          </a:prstGeom>
          <a:noFill/>
        </p:spPr>
        <p:txBody>
          <a:bodyPr wrap="square" anchor="t" lIns="45720" rIns="45720" tIns="27432" bIns="27432">
            <a:spAutoFit/>
          </a:bodyPr>
          <a:lstStyle/>
          <a:p>
            <a:pPr algn="l">
              <a:lnSpc>
                <a:spcPct val="110000"/>
              </a:lnSpc>
              <a:defRPr sz="1500" b="1" i="0">
                <a:solidFill>
                  <a:srgbClr val="0F2A4A"/>
                </a:solidFill>
                <a:latin typeface="Calibri"/>
              </a:defRPr>
            </a:pPr>
            <a:r>
              <a:t>HistGradientBoosting</a:t>
            </a:r>
          </a:p>
        </p:txBody>
      </p:sp>
      <p:sp>
        <p:nvSpPr>
          <p:cNvPr id="13" name="TextBox 12"/>
          <p:cNvSpPr txBox="1"/>
          <p:nvPr/>
        </p:nvSpPr>
        <p:spPr>
          <a:xfrm>
            <a:off x="640080" y="1810512"/>
            <a:ext cx="2926080" cy="548640"/>
          </a:xfrm>
          <a:prstGeom prst="rect">
            <a:avLst/>
          </a:prstGeom>
          <a:noFill/>
        </p:spPr>
        <p:txBody>
          <a:bodyPr wrap="square" anchor="t" lIns="45720" rIns="45720" tIns="27432" bIns="27432">
            <a:spAutoFit/>
          </a:bodyPr>
          <a:lstStyle/>
          <a:p>
            <a:pPr algn="l">
              <a:lnSpc>
                <a:spcPct val="110000"/>
              </a:lnSpc>
              <a:defRPr sz="1100" b="0" i="0">
                <a:solidFill>
                  <a:srgbClr val="52514E"/>
                </a:solidFill>
                <a:latin typeface="Calibri"/>
              </a:defRPr>
            </a:pPr>
            <a:r>
              <a:t>cobertura marginal 0.917 · las cuatro fallas ≥ 0.95</a:t>
            </a:r>
          </a:p>
        </p:txBody>
      </p:sp>
      <p:sp>
        <p:nvSpPr>
          <p:cNvPr id="14" name="Rectangle 13"/>
          <p:cNvSpPr/>
          <p:nvPr/>
        </p:nvSpPr>
        <p:spPr>
          <a:xfrm>
            <a:off x="3657600" y="1463040"/>
            <a:ext cx="5467241" cy="9144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defRPr sz="1300" b="1">
                <a:solidFill>
                  <a:srgbClr val="FFFFFF"/>
                </a:solidFill>
                <a:latin typeface="Calibri"/>
              </a:defRPr>
            </a:pPr>
            <a:r>
              <a:t>Automática 1387</a:t>
            </a:r>
          </a:p>
          <a:p>
            <a:pPr algn="ctr">
              <a:defRPr sz="1000" b="0">
                <a:solidFill>
                  <a:srgbClr val="FFFFFF"/>
                </a:solidFill>
                <a:latin typeface="Calibri"/>
              </a:defRPr>
            </a:pPr>
            <a:r>
              <a:t>69.5%</a:t>
            </a:r>
          </a:p>
        </p:txBody>
      </p:sp>
      <p:sp>
        <p:nvSpPr>
          <p:cNvPr id="15" name="Rectangle 14"/>
          <p:cNvSpPr/>
          <p:nvPr/>
        </p:nvSpPr>
        <p:spPr>
          <a:xfrm>
            <a:off x="9124841" y="1463040"/>
            <a:ext cx="2250753" cy="914400"/>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defRPr sz="1300" b="1">
                <a:solidFill>
                  <a:srgbClr val="FFFFFF"/>
                </a:solidFill>
                <a:latin typeface="Calibri"/>
              </a:defRPr>
            </a:pPr>
            <a:r>
              <a:t>Asistida 571</a:t>
            </a:r>
          </a:p>
          <a:p>
            <a:pPr algn="ctr">
              <a:defRPr sz="1000" b="0">
                <a:solidFill>
                  <a:srgbClr val="FFFFFF"/>
                </a:solidFill>
                <a:latin typeface="Calibri"/>
              </a:defRPr>
            </a:pPr>
            <a:r>
              <a:t>28.6%</a:t>
            </a:r>
          </a:p>
        </p:txBody>
      </p:sp>
      <p:sp>
        <p:nvSpPr>
          <p:cNvPr id="16" name="Rectangle 15"/>
          <p:cNvSpPr/>
          <p:nvPr/>
        </p:nvSpPr>
        <p:spPr>
          <a:xfrm>
            <a:off x="11375594" y="1463040"/>
            <a:ext cx="145845" cy="914400"/>
          </a:xfrm>
          <a:prstGeom prst="rect">
            <a:avLst/>
          </a:prstGeom>
          <a:solidFill>
            <a:srgbClr val="5251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0" y="2423160"/>
            <a:ext cx="7863840" cy="320040"/>
          </a:xfrm>
          <a:prstGeom prst="rect">
            <a:avLst/>
          </a:prstGeom>
          <a:noFill/>
        </p:spPr>
        <p:txBody>
          <a:bodyPr wrap="square" anchor="t" lIns="45720" rIns="45720" tIns="27432" bIns="27432">
            <a:spAutoFit/>
          </a:bodyPr>
          <a:lstStyle/>
          <a:p>
            <a:pPr algn="r">
              <a:lnSpc>
                <a:spcPct val="110000"/>
              </a:lnSpc>
              <a:defRPr sz="1100" b="0" i="0">
                <a:solidFill>
                  <a:srgbClr val="52514E"/>
                </a:solidFill>
                <a:latin typeface="Calibri"/>
              </a:defRPr>
            </a:pPr>
            <a:r>
              <a:t>Humana 37 (1.9%)</a:t>
            </a:r>
          </a:p>
        </p:txBody>
      </p:sp>
      <p:sp>
        <p:nvSpPr>
          <p:cNvPr id="18" name="TextBox 17"/>
          <p:cNvSpPr txBox="1"/>
          <p:nvPr/>
        </p:nvSpPr>
        <p:spPr>
          <a:xfrm>
            <a:off x="3657600" y="2788920"/>
            <a:ext cx="7863840" cy="457200"/>
          </a:xfrm>
          <a:prstGeom prst="rect">
            <a:avLst/>
          </a:prstGeom>
          <a:noFill/>
        </p:spPr>
        <p:txBody>
          <a:bodyPr wrap="square" anchor="t" lIns="45720" rIns="45720" tIns="27432" bIns="27432">
            <a:spAutoFit/>
          </a:bodyPr>
          <a:lstStyle/>
          <a:p>
            <a:pPr algn="l">
              <a:lnSpc>
                <a:spcPct val="110000"/>
              </a:lnSpc>
              <a:defRPr sz="1100" b="0" i="0">
                <a:solidFill>
                  <a:srgbClr val="0B0B0B"/>
                </a:solidFill>
                <a:latin typeface="Calibri"/>
              </a:defRPr>
            </a:pPr>
            <a:r>
              <a:t>Entre las 1387 automáticas, 82 son incorrectas (5.9%), casi todas ciclos normales enviados como falla.</a:t>
            </a:r>
          </a:p>
        </p:txBody>
      </p:sp>
      <p:sp>
        <p:nvSpPr>
          <p:cNvPr id="19" name="TextBox 18"/>
          <p:cNvSpPr txBox="1"/>
          <p:nvPr/>
        </p:nvSpPr>
        <p:spPr>
          <a:xfrm>
            <a:off x="640080" y="3931920"/>
            <a:ext cx="2743200" cy="365760"/>
          </a:xfrm>
          <a:prstGeom prst="rect">
            <a:avLst/>
          </a:prstGeom>
          <a:noFill/>
        </p:spPr>
        <p:txBody>
          <a:bodyPr wrap="square" anchor="t" lIns="45720" rIns="45720" tIns="27432" bIns="27432">
            <a:spAutoFit/>
          </a:bodyPr>
          <a:lstStyle/>
          <a:p>
            <a:pPr algn="l">
              <a:lnSpc>
                <a:spcPct val="110000"/>
              </a:lnSpc>
              <a:defRPr sz="1500" b="1" i="0">
                <a:solidFill>
                  <a:srgbClr val="0F2A4A"/>
                </a:solidFill>
                <a:latin typeface="Calibri"/>
              </a:defRPr>
            </a:pPr>
            <a:r>
              <a:t>MLP en GPU</a:t>
            </a:r>
          </a:p>
        </p:txBody>
      </p:sp>
      <p:sp>
        <p:nvSpPr>
          <p:cNvPr id="20" name="TextBox 19"/>
          <p:cNvSpPr txBox="1"/>
          <p:nvPr/>
        </p:nvSpPr>
        <p:spPr>
          <a:xfrm>
            <a:off x="640080" y="4279392"/>
            <a:ext cx="2926080" cy="548640"/>
          </a:xfrm>
          <a:prstGeom prst="rect">
            <a:avLst/>
          </a:prstGeom>
          <a:noFill/>
        </p:spPr>
        <p:txBody>
          <a:bodyPr wrap="square" anchor="t" lIns="45720" rIns="45720" tIns="27432" bIns="27432">
            <a:spAutoFit/>
          </a:bodyPr>
          <a:lstStyle/>
          <a:p>
            <a:pPr algn="l">
              <a:lnSpc>
                <a:spcPct val="110000"/>
              </a:lnSpc>
              <a:defRPr sz="1100" b="0" i="0">
                <a:solidFill>
                  <a:srgbClr val="52514E"/>
                </a:solidFill>
                <a:latin typeface="Calibri"/>
              </a:defRPr>
            </a:pPr>
            <a:r>
              <a:t>cobertura marginal 0.903 · las cuatro fallas ≥ 0.95</a:t>
            </a:r>
          </a:p>
        </p:txBody>
      </p:sp>
      <p:sp>
        <p:nvSpPr>
          <p:cNvPr id="21" name="Rectangle 20"/>
          <p:cNvSpPr/>
          <p:nvPr/>
        </p:nvSpPr>
        <p:spPr>
          <a:xfrm>
            <a:off x="3657600" y="3931920"/>
            <a:ext cx="7193738" cy="9144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defRPr sz="1300" b="1">
                <a:solidFill>
                  <a:srgbClr val="FFFFFF"/>
                </a:solidFill>
                <a:latin typeface="Calibri"/>
              </a:defRPr>
            </a:pPr>
            <a:r>
              <a:t>Automática 1825</a:t>
            </a:r>
          </a:p>
          <a:p>
            <a:pPr algn="ctr">
              <a:defRPr sz="1000" b="0">
                <a:solidFill>
                  <a:srgbClr val="FFFFFF"/>
                </a:solidFill>
                <a:latin typeface="Calibri"/>
              </a:defRPr>
            </a:pPr>
            <a:r>
              <a:t>91.5%</a:t>
            </a:r>
          </a:p>
        </p:txBody>
      </p:sp>
      <p:sp>
        <p:nvSpPr>
          <p:cNvPr id="22" name="Rectangle 21"/>
          <p:cNvSpPr/>
          <p:nvPr/>
        </p:nvSpPr>
        <p:spPr>
          <a:xfrm>
            <a:off x="10851338" y="3931920"/>
            <a:ext cx="536081" cy="914400"/>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1387419" y="3931920"/>
            <a:ext cx="134020" cy="914400"/>
          </a:xfrm>
          <a:prstGeom prst="rect">
            <a:avLst/>
          </a:prstGeom>
          <a:solidFill>
            <a:srgbClr val="5251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57600" y="4892040"/>
            <a:ext cx="7863840" cy="320040"/>
          </a:xfrm>
          <a:prstGeom prst="rect">
            <a:avLst/>
          </a:prstGeom>
          <a:noFill/>
        </p:spPr>
        <p:txBody>
          <a:bodyPr wrap="square" anchor="t" lIns="45720" rIns="45720" tIns="27432" bIns="27432">
            <a:spAutoFit/>
          </a:bodyPr>
          <a:lstStyle/>
          <a:p>
            <a:pPr algn="r">
              <a:lnSpc>
                <a:spcPct val="110000"/>
              </a:lnSpc>
              <a:defRPr sz="1100" b="0" i="0">
                <a:solidFill>
                  <a:srgbClr val="52514E"/>
                </a:solidFill>
                <a:latin typeface="Calibri"/>
              </a:defRPr>
            </a:pPr>
            <a:r>
              <a:t>Asistida 136 (6.8%)   ·   Humana 34 (1.7%)</a:t>
            </a:r>
          </a:p>
        </p:txBody>
      </p:sp>
      <p:sp>
        <p:nvSpPr>
          <p:cNvPr id="25" name="TextBox 24"/>
          <p:cNvSpPr txBox="1"/>
          <p:nvPr/>
        </p:nvSpPr>
        <p:spPr>
          <a:xfrm>
            <a:off x="3657600" y="5257800"/>
            <a:ext cx="7863840" cy="457200"/>
          </a:xfrm>
          <a:prstGeom prst="rect">
            <a:avLst/>
          </a:prstGeom>
          <a:noFill/>
        </p:spPr>
        <p:txBody>
          <a:bodyPr wrap="square" anchor="t" lIns="45720" rIns="45720" tIns="27432" bIns="27432">
            <a:spAutoFit/>
          </a:bodyPr>
          <a:lstStyle/>
          <a:p>
            <a:pPr algn="l">
              <a:lnSpc>
                <a:spcPct val="110000"/>
              </a:lnSpc>
              <a:defRPr sz="1100" b="0" i="0">
                <a:solidFill>
                  <a:srgbClr val="0B0B0B"/>
                </a:solidFill>
                <a:latin typeface="Calibri"/>
              </a:defRPr>
            </a:pPr>
            <a:r>
              <a:t>Entre las 1825 automáticas, 150 son incorrectas (8.2%), casi todas ciclos normales enviados como falla.</a:t>
            </a:r>
          </a:p>
        </p:txBody>
      </p:sp>
      <p:sp>
        <p:nvSpPr>
          <p:cNvPr id="26" name="Rounded Rectangle 25"/>
          <p:cNvSpPr/>
          <p:nvPr/>
        </p:nvSpPr>
        <p:spPr>
          <a:xfrm>
            <a:off x="640080" y="5623560"/>
            <a:ext cx="10881360" cy="685800"/>
          </a:xfrm>
          <a:prstGeom prst="roundRect">
            <a:avLst>
              <a:gd name="adj" fmla="val 8000"/>
            </a:avLst>
          </a:prstGeom>
          <a:solidFill>
            <a:srgbClr val="DC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60" y="5687568"/>
            <a:ext cx="10515600" cy="594360"/>
          </a:xfrm>
          <a:prstGeom prst="rect">
            <a:avLst/>
          </a:prstGeom>
          <a:noFill/>
        </p:spPr>
        <p:txBody>
          <a:bodyPr wrap="square" anchor="t" lIns="45720" rIns="45720" tIns="27432" bIns="27432">
            <a:spAutoFit/>
          </a:bodyPr>
          <a:lstStyle/>
          <a:p>
            <a:pPr algn="l">
              <a:lnSpc>
                <a:spcPct val="110000"/>
              </a:lnSpc>
              <a:defRPr sz="1200" b="0" i="0">
                <a:solidFill>
                  <a:srgbClr val="0B0B0B"/>
                </a:solidFill>
                <a:latin typeface="Calibri"/>
              </a:defRPr>
            </a:pPr>
            <a:r>
              <a:t>La abstención es carga de trabajo humana medible. Elegir entre 30 % de abstención con 5.9 % de falsas alarmas y 8.5 % con 8.2 % exige la matriz de costos de la propuesta original, que queda como extensión.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1170432"/>
            <a:ext cx="548640" cy="45720"/>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7315200" cy="274320"/>
          </a:xfrm>
          <a:prstGeom prst="rect">
            <a:avLst/>
          </a:prstGeom>
          <a:noFill/>
        </p:spPr>
        <p:txBody>
          <a:bodyPr wrap="square" anchor="t" lIns="45720" rIns="45720" tIns="27432" bIns="27432">
            <a:spAutoFit/>
          </a:bodyPr>
          <a:lstStyle/>
          <a:p>
            <a:pPr algn="l">
              <a:lnSpc>
                <a:spcPct val="110000"/>
              </a:lnSpc>
              <a:defRPr sz="1100" b="1" i="0">
                <a:solidFill>
                  <a:srgbClr val="EB6834"/>
                </a:solidFill>
                <a:latin typeface="Calibri"/>
              </a:defRPr>
            </a:pPr>
            <a:r>
              <a:t>6 · CONCLUSIONES</a:t>
            </a:r>
          </a:p>
        </p:txBody>
      </p:sp>
      <p:sp>
        <p:nvSpPr>
          <p:cNvPr id="5" name="TextBox 4"/>
          <p:cNvSpPr txBox="1"/>
          <p:nvPr/>
        </p:nvSpPr>
        <p:spPr>
          <a:xfrm>
            <a:off x="640080" y="566928"/>
            <a:ext cx="10058400" cy="640080"/>
          </a:xfrm>
          <a:prstGeom prst="rect">
            <a:avLst/>
          </a:prstGeom>
          <a:noFill/>
        </p:spPr>
        <p:txBody>
          <a:bodyPr wrap="square" anchor="t" lIns="45720" rIns="45720" tIns="27432" bIns="27432">
            <a:spAutoFit/>
          </a:bodyPr>
          <a:lstStyle/>
          <a:p>
            <a:pPr algn="l">
              <a:lnSpc>
                <a:spcPct val="110000"/>
              </a:lnSpc>
              <a:defRPr sz="2400" b="1" i="0">
                <a:solidFill>
                  <a:srgbClr val="0F2A4A"/>
                </a:solidFill>
                <a:latin typeface="Calibri"/>
              </a:defRPr>
            </a:pPr>
            <a:r>
              <a:t>Lo que la ejecución sostiene y qué recomendamos</a:t>
            </a:r>
          </a:p>
        </p:txBody>
      </p:sp>
      <p:sp>
        <p:nvSpPr>
          <p:cNvPr id="6" name="TextBox 5"/>
          <p:cNvSpPr txBox="1"/>
          <p:nvPr/>
        </p:nvSpPr>
        <p:spPr>
          <a:xfrm>
            <a:off x="10881360" y="411480"/>
            <a:ext cx="731520" cy="274320"/>
          </a:xfrm>
          <a:prstGeom prst="rect">
            <a:avLst/>
          </a:prstGeom>
          <a:noFill/>
        </p:spPr>
        <p:txBody>
          <a:bodyPr wrap="square" anchor="t" lIns="45720" rIns="45720" tIns="27432" bIns="27432">
            <a:spAutoFit/>
          </a:bodyPr>
          <a:lstStyle/>
          <a:p>
            <a:pPr algn="r">
              <a:lnSpc>
                <a:spcPct val="110000"/>
              </a:lnSpc>
              <a:defRPr sz="1000" b="0" i="0">
                <a:solidFill>
                  <a:srgbClr val="898781"/>
                </a:solidFill>
                <a:latin typeface="Calibri"/>
              </a:defRPr>
            </a:pPr>
            <a:r>
              <a:t>0.6 min</a:t>
            </a:r>
          </a:p>
        </p:txBody>
      </p:sp>
      <p:sp>
        <p:nvSpPr>
          <p:cNvPr id="7" name="Rectangle 6"/>
          <p:cNvSpPr/>
          <p:nvPr/>
        </p:nvSpPr>
        <p:spPr>
          <a:xfrm>
            <a:off x="0" y="6537960"/>
            <a:ext cx="12191695" cy="320040"/>
          </a:xfrm>
          <a:prstGeom prst="rect">
            <a:avLst/>
          </a:prstGeom>
          <a:solidFill>
            <a:srgbClr val="0F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574536"/>
            <a:ext cx="7315200" cy="256032"/>
          </a:xfrm>
          <a:prstGeom prst="rect">
            <a:avLst/>
          </a:prstGeom>
          <a:noFill/>
        </p:spPr>
        <p:txBody>
          <a:bodyPr wrap="square" anchor="t" lIns="45720" rIns="45720" tIns="27432" bIns="27432">
            <a:spAutoFit/>
          </a:bodyPr>
          <a:lstStyle/>
          <a:p>
            <a:pPr algn="l">
              <a:lnSpc>
                <a:spcPct val="110000"/>
              </a:lnSpc>
              <a:defRPr sz="900" b="0" i="0">
                <a:solidFill>
                  <a:srgbClr val="C9D6E8"/>
                </a:solidFill>
                <a:latin typeface="Calibri"/>
              </a:defRPr>
            </a:pPr>
            <a:r>
              <a:t>Predicción conforme y abstención selectiva · AI4I 2020</a:t>
            </a:r>
          </a:p>
        </p:txBody>
      </p:sp>
      <p:sp>
        <p:nvSpPr>
          <p:cNvPr id="9" name="TextBox 8"/>
          <p:cNvSpPr txBox="1"/>
          <p:nvPr/>
        </p:nvSpPr>
        <p:spPr>
          <a:xfrm>
            <a:off x="11155680" y="6574536"/>
            <a:ext cx="457200" cy="256032"/>
          </a:xfrm>
          <a:prstGeom prst="rect">
            <a:avLst/>
          </a:prstGeom>
          <a:noFill/>
        </p:spPr>
        <p:txBody>
          <a:bodyPr wrap="square" anchor="t" lIns="45720" rIns="45720" tIns="27432" bIns="27432">
            <a:spAutoFit/>
          </a:bodyPr>
          <a:lstStyle/>
          <a:p>
            <a:pPr algn="r">
              <a:lnSpc>
                <a:spcPct val="110000"/>
              </a:lnSpc>
              <a:defRPr sz="900" b="0" i="0">
                <a:solidFill>
                  <a:srgbClr val="C9D6E8"/>
                </a:solidFill>
                <a:latin typeface="Calibri"/>
              </a:defRPr>
            </a:pPr>
            <a:r>
              <a:t>13</a:t>
            </a:r>
          </a:p>
        </p:txBody>
      </p:sp>
      <p:sp>
        <p:nvSpPr>
          <p:cNvPr id="10" name="Rounded Rectangle 9"/>
          <p:cNvSpPr/>
          <p:nvPr/>
        </p:nvSpPr>
        <p:spPr>
          <a:xfrm>
            <a:off x="10314432" y="713232"/>
            <a:ext cx="1188720" cy="274320"/>
          </a:xfrm>
          <a:prstGeom prst="roundRect">
            <a:avLst>
              <a:gd name="adj" fmla="val 30000"/>
            </a:avLst>
          </a:prstGeom>
          <a:solidFill>
            <a:srgbClr val="FBE3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14432" y="740664"/>
            <a:ext cx="1188720" cy="237744"/>
          </a:xfrm>
          <a:prstGeom prst="rect">
            <a:avLst/>
          </a:prstGeom>
          <a:noFill/>
        </p:spPr>
        <p:txBody>
          <a:bodyPr wrap="square" anchor="t" lIns="45720" rIns="45720" tIns="27432" bIns="27432">
            <a:spAutoFit/>
          </a:bodyPr>
          <a:lstStyle/>
          <a:p>
            <a:pPr algn="ctr">
              <a:lnSpc>
                <a:spcPct val="110000"/>
              </a:lnSpc>
              <a:defRPr sz="900" b="1" i="0">
                <a:solidFill>
                  <a:srgbClr val="EB6834"/>
                </a:solidFill>
                <a:latin typeface="Calibri"/>
              </a:defRPr>
            </a:pPr>
            <a:r>
              <a:t>Roberth</a:t>
            </a:r>
          </a:p>
        </p:txBody>
      </p:sp>
      <p:sp>
        <p:nvSpPr>
          <p:cNvPr id="12" name="Oval 11"/>
          <p:cNvSpPr/>
          <p:nvPr/>
        </p:nvSpPr>
        <p:spPr>
          <a:xfrm>
            <a:off x="640080" y="1463040"/>
            <a:ext cx="457200" cy="45720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defRPr sz="1400" b="1">
                <a:solidFill>
                  <a:srgbClr val="FFFFFF"/>
                </a:solidFill>
                <a:latin typeface="Calibri"/>
              </a:defRPr>
            </a:pPr>
            <a:r>
              <a:t>1</a:t>
            </a:r>
          </a:p>
        </p:txBody>
      </p:sp>
      <p:sp>
        <p:nvSpPr>
          <p:cNvPr id="13" name="TextBox 12"/>
          <p:cNvSpPr txBox="1"/>
          <p:nvPr/>
        </p:nvSpPr>
        <p:spPr>
          <a:xfrm>
            <a:off x="1280160" y="1371600"/>
            <a:ext cx="10241280" cy="365760"/>
          </a:xfrm>
          <a:prstGeom prst="rect">
            <a:avLst/>
          </a:prstGeom>
          <a:noFill/>
        </p:spPr>
        <p:txBody>
          <a:bodyPr wrap="square" anchor="t" lIns="45720" rIns="45720" tIns="27432" bIns="27432">
            <a:spAutoFit/>
          </a:bodyPr>
          <a:lstStyle/>
          <a:p>
            <a:pPr algn="l">
              <a:lnSpc>
                <a:spcPct val="110000"/>
              </a:lnSpc>
              <a:defRPr sz="1400" b="1" i="0">
                <a:solidFill>
                  <a:srgbClr val="0F2A4A"/>
                </a:solidFill>
                <a:latin typeface="Calibri"/>
              </a:defRPr>
            </a:pPr>
            <a:r>
              <a:t>Coberturas consistentes con la garantía y sin depender del clasificador</a:t>
            </a:r>
          </a:p>
        </p:txBody>
      </p:sp>
      <p:sp>
        <p:nvSpPr>
          <p:cNvPr id="14" name="TextBox 13"/>
          <p:cNvSpPr txBox="1"/>
          <p:nvPr/>
        </p:nvSpPr>
        <p:spPr>
          <a:xfrm>
            <a:off x="1280160" y="1737360"/>
            <a:ext cx="10241280" cy="548640"/>
          </a:xfrm>
          <a:prstGeom prst="rect">
            <a:avLst/>
          </a:prstGeom>
          <a:noFill/>
        </p:spPr>
        <p:txBody>
          <a:bodyPr wrap="square" anchor="t" lIns="45720" rIns="45720" tIns="27432" bIns="27432">
            <a:spAutoFit/>
          </a:bodyPr>
          <a:lstStyle/>
          <a:p>
            <a:pPr algn="l">
              <a:lnSpc>
                <a:spcPct val="110000"/>
              </a:lnSpc>
              <a:defRPr sz="1100" b="0" i="0">
                <a:solidFill>
                  <a:srgbClr val="52514E"/>
                </a:solidFill>
                <a:latin typeface="Calibri"/>
              </a:defRPr>
            </a:pPr>
            <a:r>
              <a:t>12 de 12 combinaciones a menos de 0.02 del nominal. La calidad del modelo se ve en el tamaño del conjunto, no en la cobertura.</a:t>
            </a:r>
          </a:p>
        </p:txBody>
      </p:sp>
      <p:sp>
        <p:nvSpPr>
          <p:cNvPr id="15" name="Oval 14"/>
          <p:cNvSpPr/>
          <p:nvPr/>
        </p:nvSpPr>
        <p:spPr>
          <a:xfrm>
            <a:off x="640080" y="2368296"/>
            <a:ext cx="457200" cy="457200"/>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defRPr sz="1400" b="1">
                <a:solidFill>
                  <a:srgbClr val="FFFFFF"/>
                </a:solidFill>
                <a:latin typeface="Calibri"/>
              </a:defRPr>
            </a:pPr>
            <a:r>
              <a:t>2</a:t>
            </a:r>
          </a:p>
        </p:txBody>
      </p:sp>
      <p:sp>
        <p:nvSpPr>
          <p:cNvPr id="16" name="TextBox 15"/>
          <p:cNvSpPr txBox="1"/>
          <p:nvPr/>
        </p:nvSpPr>
        <p:spPr>
          <a:xfrm>
            <a:off x="1280160" y="2276856"/>
            <a:ext cx="10241280" cy="365760"/>
          </a:xfrm>
          <a:prstGeom prst="rect">
            <a:avLst/>
          </a:prstGeom>
          <a:noFill/>
        </p:spPr>
        <p:txBody>
          <a:bodyPr wrap="square" anchor="t" lIns="45720" rIns="45720" tIns="27432" bIns="27432">
            <a:spAutoFit/>
          </a:bodyPr>
          <a:lstStyle/>
          <a:p>
            <a:pPr algn="l">
              <a:lnSpc>
                <a:spcPct val="110000"/>
              </a:lnSpc>
              <a:defRPr sz="1400" b="1" i="0">
                <a:solidFill>
                  <a:srgbClr val="0F2A4A"/>
                </a:solidFill>
                <a:latin typeface="Calibri"/>
              </a:defRPr>
            </a:pPr>
            <a:r>
              <a:t>La cobertura marginal es insuficiente para diagnóstico de fallas</a:t>
            </a:r>
          </a:p>
        </p:txBody>
      </p:sp>
      <p:sp>
        <p:nvSpPr>
          <p:cNvPr id="17" name="TextBox 16"/>
          <p:cNvSpPr txBox="1"/>
          <p:nvPr/>
        </p:nvSpPr>
        <p:spPr>
          <a:xfrm>
            <a:off x="1280160" y="2642616"/>
            <a:ext cx="10241280" cy="548640"/>
          </a:xfrm>
          <a:prstGeom prst="rect">
            <a:avLst/>
          </a:prstGeom>
          <a:noFill/>
        </p:spPr>
        <p:txBody>
          <a:bodyPr wrap="square" anchor="t" lIns="45720" rIns="45720" tIns="27432" bIns="27432">
            <a:spAutoFit/>
          </a:bodyPr>
          <a:lstStyle/>
          <a:p>
            <a:pPr algn="l">
              <a:lnSpc>
                <a:spcPct val="110000"/>
              </a:lnSpc>
              <a:defRPr sz="1100" b="0" i="0">
                <a:solidFill>
                  <a:srgbClr val="52514E"/>
                </a:solidFill>
                <a:latin typeface="Calibri"/>
              </a:defRPr>
            </a:pPr>
            <a:r>
              <a:t>Split alcanza 0.909 cubriendo cero casos de TWF y PWF. Un sistema que reporte solo esa cifra parece correcto mientras ignora lo que importa.</a:t>
            </a:r>
          </a:p>
        </p:txBody>
      </p:sp>
      <p:sp>
        <p:nvSpPr>
          <p:cNvPr id="18" name="Oval 17"/>
          <p:cNvSpPr/>
          <p:nvPr/>
        </p:nvSpPr>
        <p:spPr>
          <a:xfrm>
            <a:off x="640080" y="3273552"/>
            <a:ext cx="457200" cy="457200"/>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defRPr sz="1400" b="1">
                <a:solidFill>
                  <a:srgbClr val="FFFFFF"/>
                </a:solidFill>
                <a:latin typeface="Calibri"/>
              </a:defRPr>
            </a:pPr>
            <a:r>
              <a:t>3</a:t>
            </a:r>
          </a:p>
        </p:txBody>
      </p:sp>
      <p:sp>
        <p:nvSpPr>
          <p:cNvPr id="19" name="TextBox 18"/>
          <p:cNvSpPr txBox="1"/>
          <p:nvPr/>
        </p:nvSpPr>
        <p:spPr>
          <a:xfrm>
            <a:off x="1280160" y="3182112"/>
            <a:ext cx="10241280" cy="365760"/>
          </a:xfrm>
          <a:prstGeom prst="rect">
            <a:avLst/>
          </a:prstGeom>
          <a:noFill/>
        </p:spPr>
        <p:txBody>
          <a:bodyPr wrap="square" anchor="t" lIns="45720" rIns="45720" tIns="27432" bIns="27432">
            <a:spAutoFit/>
          </a:bodyPr>
          <a:lstStyle/>
          <a:p>
            <a:pPr algn="l">
              <a:lnSpc>
                <a:spcPct val="110000"/>
              </a:lnSpc>
              <a:defRPr sz="1400" b="1" i="0">
                <a:solidFill>
                  <a:srgbClr val="0F2A4A"/>
                </a:solidFill>
                <a:latin typeface="Calibri"/>
              </a:defRPr>
            </a:pPr>
            <a:r>
              <a:t>Mondrian responde la pregunta del proyecto, con un costo medible</a:t>
            </a:r>
          </a:p>
        </p:txBody>
      </p:sp>
      <p:sp>
        <p:nvSpPr>
          <p:cNvPr id="20" name="TextBox 19"/>
          <p:cNvSpPr txBox="1"/>
          <p:nvPr/>
        </p:nvSpPr>
        <p:spPr>
          <a:xfrm>
            <a:off x="1280160" y="3547872"/>
            <a:ext cx="10241280" cy="548640"/>
          </a:xfrm>
          <a:prstGeom prst="rect">
            <a:avLst/>
          </a:prstGeom>
          <a:noFill/>
        </p:spPr>
        <p:txBody>
          <a:bodyPr wrap="square" anchor="t" lIns="45720" rIns="45720" tIns="27432" bIns="27432">
            <a:spAutoFit/>
          </a:bodyPr>
          <a:lstStyle/>
          <a:p>
            <a:pPr algn="l">
              <a:lnSpc>
                <a:spcPct val="110000"/>
              </a:lnSpc>
              <a:defRPr sz="1100" b="0" i="0">
                <a:solidFill>
                  <a:srgbClr val="52514E"/>
                </a:solidFill>
                <a:latin typeface="Calibri"/>
              </a:defRPr>
            </a:pPr>
            <a:r>
              <a:t>Con α = 0.10: garantía por clase, 70–90 % de decisiones automáticas, y entre ellas 6–8 % de falsas alarmas. Split se equivoca menos, pero omitiendo fallas.</a:t>
            </a:r>
          </a:p>
        </p:txBody>
      </p:sp>
      <p:sp>
        <p:nvSpPr>
          <p:cNvPr id="21" name="Oval 20"/>
          <p:cNvSpPr/>
          <p:nvPr/>
        </p:nvSpPr>
        <p:spPr>
          <a:xfrm>
            <a:off x="640080" y="4178807"/>
            <a:ext cx="457200" cy="45720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defRPr sz="1400" b="1">
                <a:solidFill>
                  <a:srgbClr val="FFFFFF"/>
                </a:solidFill>
                <a:latin typeface="Calibri"/>
              </a:defRPr>
            </a:pPr>
            <a:r>
              <a:t>4</a:t>
            </a:r>
          </a:p>
        </p:txBody>
      </p:sp>
      <p:sp>
        <p:nvSpPr>
          <p:cNvPr id="22" name="TextBox 21"/>
          <p:cNvSpPr txBox="1"/>
          <p:nvPr/>
        </p:nvSpPr>
        <p:spPr>
          <a:xfrm>
            <a:off x="1280160" y="4087368"/>
            <a:ext cx="10241280" cy="365760"/>
          </a:xfrm>
          <a:prstGeom prst="rect">
            <a:avLst/>
          </a:prstGeom>
          <a:noFill/>
        </p:spPr>
        <p:txBody>
          <a:bodyPr wrap="square" anchor="t" lIns="45720" rIns="45720" tIns="27432" bIns="27432">
            <a:spAutoFit/>
          </a:bodyPr>
          <a:lstStyle/>
          <a:p>
            <a:pPr algn="l">
              <a:lnSpc>
                <a:spcPct val="110000"/>
              </a:lnSpc>
              <a:defRPr sz="1400" b="1" i="0">
                <a:solidFill>
                  <a:srgbClr val="0F2A4A"/>
                </a:solidFill>
                <a:latin typeface="Calibri"/>
              </a:defRPr>
            </a:pPr>
            <a:r>
              <a:t>La abstención es el precio de la garantía y depende de los datos escasos</a:t>
            </a:r>
          </a:p>
        </p:txBody>
      </p:sp>
      <p:sp>
        <p:nvSpPr>
          <p:cNvPr id="23" name="TextBox 22"/>
          <p:cNvSpPr txBox="1"/>
          <p:nvPr/>
        </p:nvSpPr>
        <p:spPr>
          <a:xfrm>
            <a:off x="1280160" y="4453128"/>
            <a:ext cx="10241280" cy="548640"/>
          </a:xfrm>
          <a:prstGeom prst="rect">
            <a:avLst/>
          </a:prstGeom>
          <a:noFill/>
        </p:spPr>
        <p:txBody>
          <a:bodyPr wrap="square" anchor="t" lIns="45720" rIns="45720" tIns="27432" bIns="27432">
            <a:spAutoFit/>
          </a:bodyPr>
          <a:lstStyle/>
          <a:p>
            <a:pPr algn="l">
              <a:lnSpc>
                <a:spcPct val="110000"/>
              </a:lnSpc>
              <a:defRPr sz="1100" b="0" i="0">
                <a:solidFill>
                  <a:srgbClr val="52514E"/>
                </a:solidFill>
                <a:latin typeface="Calibri"/>
              </a:defRPr>
            </a:pPr>
            <a:r>
              <a:t>Con 14 ejemplos de TWF, exigir α = 0.05 obliga a incluirla siempre y la abstención sube a 1.0. Es aritmética del rango, no un fallo del método.</a:t>
            </a:r>
          </a:p>
        </p:txBody>
      </p:sp>
      <p:sp>
        <p:nvSpPr>
          <p:cNvPr id="24" name="Oval 23"/>
          <p:cNvSpPr/>
          <p:nvPr/>
        </p:nvSpPr>
        <p:spPr>
          <a:xfrm>
            <a:off x="640080" y="5084064"/>
            <a:ext cx="457200" cy="45720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defRPr sz="1400" b="1">
                <a:solidFill>
                  <a:srgbClr val="FFFFFF"/>
                </a:solidFill>
                <a:latin typeface="Calibri"/>
              </a:defRPr>
            </a:pPr>
            <a:r>
              <a:t>5</a:t>
            </a:r>
          </a:p>
        </p:txBody>
      </p:sp>
      <p:sp>
        <p:nvSpPr>
          <p:cNvPr id="25" name="TextBox 24"/>
          <p:cNvSpPr txBox="1"/>
          <p:nvPr/>
        </p:nvSpPr>
        <p:spPr>
          <a:xfrm>
            <a:off x="1280160" y="4992624"/>
            <a:ext cx="10241280" cy="365760"/>
          </a:xfrm>
          <a:prstGeom prst="rect">
            <a:avLst/>
          </a:prstGeom>
          <a:noFill/>
        </p:spPr>
        <p:txBody>
          <a:bodyPr wrap="square" anchor="t" lIns="45720" rIns="45720" tIns="27432" bIns="27432">
            <a:spAutoFit/>
          </a:bodyPr>
          <a:lstStyle/>
          <a:p>
            <a:pPr algn="l">
              <a:lnSpc>
                <a:spcPct val="110000"/>
              </a:lnSpc>
              <a:defRPr sz="1400" b="1" i="0">
                <a:solidFill>
                  <a:srgbClr val="0F2A4A"/>
                </a:solidFill>
                <a:latin typeface="Calibri"/>
              </a:defRPr>
            </a:pPr>
            <a:r>
              <a:t>La GPU no aceleró este entrenamiento</a:t>
            </a:r>
          </a:p>
        </p:txBody>
      </p:sp>
      <p:sp>
        <p:nvSpPr>
          <p:cNvPr id="26" name="TextBox 25"/>
          <p:cNvSpPr txBox="1"/>
          <p:nvPr/>
        </p:nvSpPr>
        <p:spPr>
          <a:xfrm>
            <a:off x="1280160" y="5358384"/>
            <a:ext cx="10241280" cy="548640"/>
          </a:xfrm>
          <a:prstGeom prst="rect">
            <a:avLst/>
          </a:prstGeom>
          <a:noFill/>
        </p:spPr>
        <p:txBody>
          <a:bodyPr wrap="square" anchor="t" lIns="45720" rIns="45720" tIns="27432" bIns="27432">
            <a:spAutoFit/>
          </a:bodyPr>
          <a:lstStyle/>
          <a:p>
            <a:pPr algn="l">
              <a:lnSpc>
                <a:spcPct val="110000"/>
              </a:lnSpc>
              <a:defRPr sz="1100" b="0" i="0">
                <a:solidFill>
                  <a:srgbClr val="52514E"/>
                </a:solidFill>
                <a:latin typeface="Calibri"/>
              </a:defRPr>
            </a:pPr>
            <a:r>
              <a:t>Con 5 061 parámetros la CPU fue 1.4 veces más rápida. Afirmar la ventaja sin medir habría sido un error.</a:t>
            </a:r>
          </a:p>
        </p:txBody>
      </p:sp>
      <p:sp>
        <p:nvSpPr>
          <p:cNvPr id="27" name="Rounded Rectangle 26"/>
          <p:cNvSpPr/>
          <p:nvPr/>
        </p:nvSpPr>
        <p:spPr>
          <a:xfrm>
            <a:off x="640080" y="5943600"/>
            <a:ext cx="10881360" cy="502920"/>
          </a:xfrm>
          <a:prstGeom prst="roundRect">
            <a:avLst>
              <a:gd name="adj" fmla="val 10000"/>
            </a:avLst>
          </a:prstGeom>
          <a:solidFill>
            <a:srgbClr val="DC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68680" y="6016752"/>
            <a:ext cx="10515600" cy="411480"/>
          </a:xfrm>
          <a:prstGeom prst="rect">
            <a:avLst/>
          </a:prstGeom>
          <a:noFill/>
        </p:spPr>
        <p:txBody>
          <a:bodyPr wrap="square" anchor="t" lIns="45720" rIns="45720" tIns="27432" bIns="27432">
            <a:spAutoFit/>
          </a:bodyPr>
          <a:lstStyle/>
          <a:p>
            <a:pPr algn="l">
              <a:lnSpc>
                <a:spcPct val="110000"/>
              </a:lnSpc>
              <a:defRPr sz="1100" b="0" i="0">
                <a:solidFill>
                  <a:srgbClr val="0B0B0B"/>
                </a:solidFill>
                <a:latin typeface="Calibri"/>
              </a:defRPr>
            </a:pPr>
            <a:r>
              <a:t>Recomendamos operar con Mondrian y α = 0.10; repetir la partición con varias semillas; sustituir 1 − p por APS para evitar conjuntos vacíos; definir la matriz de costos para elegir α por costo esperado; y priorizar la recolección de TWF.</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20040" cy="6858000"/>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737360"/>
            <a:ext cx="10515600" cy="822960"/>
          </a:xfrm>
          <a:prstGeom prst="rect">
            <a:avLst/>
          </a:prstGeom>
          <a:noFill/>
        </p:spPr>
        <p:txBody>
          <a:bodyPr wrap="square" anchor="t" lIns="45720" rIns="45720" tIns="27432" bIns="27432">
            <a:spAutoFit/>
          </a:bodyPr>
          <a:lstStyle/>
          <a:p>
            <a:pPr algn="l">
              <a:lnSpc>
                <a:spcPct val="110000"/>
              </a:lnSpc>
              <a:defRPr sz="3600" b="1" i="0">
                <a:solidFill>
                  <a:srgbClr val="FFFFFF"/>
                </a:solidFill>
                <a:latin typeface="Calibri"/>
              </a:defRPr>
            </a:pPr>
            <a:r>
              <a:t>¿Cuándo debe un sistema de IA decidir solo?</a:t>
            </a:r>
          </a:p>
        </p:txBody>
      </p:sp>
      <p:sp>
        <p:nvSpPr>
          <p:cNvPr id="5" name="TextBox 4"/>
          <p:cNvSpPr txBox="1"/>
          <p:nvPr/>
        </p:nvSpPr>
        <p:spPr>
          <a:xfrm>
            <a:off x="914400" y="2651760"/>
            <a:ext cx="10332720" cy="1097280"/>
          </a:xfrm>
          <a:prstGeom prst="rect">
            <a:avLst/>
          </a:prstGeom>
          <a:noFill/>
        </p:spPr>
        <p:txBody>
          <a:bodyPr wrap="square" anchor="t" lIns="45720" rIns="45720" tIns="27432" bIns="27432">
            <a:spAutoFit/>
          </a:bodyPr>
          <a:lstStyle/>
          <a:p>
            <a:pPr algn="l">
              <a:lnSpc>
                <a:spcPct val="110000"/>
              </a:lnSpc>
              <a:defRPr sz="2000" b="0" i="0">
                <a:solidFill>
                  <a:srgbClr val="DDE6F5"/>
                </a:solidFill>
                <a:latin typeface="Calibri"/>
              </a:defRPr>
            </a:pPr>
            <a:r>
              <a:t>Cuando el conjunto de predicción tiene una sola etiqueta bajo una garantía por clase. Y ahora sabemos qué fracción de ciclos es esa, y con qué error.</a:t>
            </a:r>
          </a:p>
        </p:txBody>
      </p:sp>
      <p:sp>
        <p:nvSpPr>
          <p:cNvPr id="6" name="TextBox 5"/>
          <p:cNvSpPr txBox="1"/>
          <p:nvPr/>
        </p:nvSpPr>
        <p:spPr>
          <a:xfrm>
            <a:off x="914400" y="4206240"/>
            <a:ext cx="7315200" cy="548640"/>
          </a:xfrm>
          <a:prstGeom prst="rect">
            <a:avLst/>
          </a:prstGeom>
          <a:noFill/>
        </p:spPr>
        <p:txBody>
          <a:bodyPr wrap="square" anchor="t" lIns="45720" rIns="45720" tIns="27432" bIns="27432">
            <a:spAutoFit/>
          </a:bodyPr>
          <a:lstStyle/>
          <a:p>
            <a:pPr algn="l">
              <a:lnSpc>
                <a:spcPct val="110000"/>
              </a:lnSpc>
              <a:defRPr sz="2400" b="1" i="0">
                <a:solidFill>
                  <a:srgbClr val="FFFFFF"/>
                </a:solidFill>
                <a:latin typeface="Calibri"/>
              </a:defRPr>
            </a:pPr>
            <a:r>
              <a:t>Gracias. Preguntas.</a:t>
            </a:r>
          </a:p>
        </p:txBody>
      </p:sp>
      <p:sp>
        <p:nvSpPr>
          <p:cNvPr id="7" name="TextBox 6"/>
          <p:cNvSpPr txBox="1"/>
          <p:nvPr/>
        </p:nvSpPr>
        <p:spPr>
          <a:xfrm>
            <a:off x="914400" y="4937760"/>
            <a:ext cx="10332720" cy="1188720"/>
          </a:xfrm>
          <a:prstGeom prst="rect">
            <a:avLst/>
          </a:prstGeom>
          <a:noFill/>
        </p:spPr>
        <p:txBody>
          <a:bodyPr wrap="square" anchor="t" lIns="45720" rIns="45720" tIns="27432" bIns="27432">
            <a:spAutoFit/>
          </a:bodyPr>
          <a:lstStyle/>
          <a:p>
            <a:pPr algn="l">
              <a:lnSpc>
                <a:spcPct val="110000"/>
              </a:lnSpc>
              <a:defRPr sz="1300" b="0" i="0">
                <a:solidFill>
                  <a:srgbClr val="C9D6E8"/>
                </a:solidFill>
                <a:latin typeface="Calibri"/>
              </a:defRPr>
            </a:pPr>
            <a:r>
              <a:t>Repositorio: github.com/betochalo/Conformal_Prediction</a:t>
            </a:r>
          </a:p>
          <a:p>
            <a:pPr algn="l">
              <a:lnSpc>
                <a:spcPct val="110000"/>
              </a:lnSpc>
              <a:defRPr sz="1300" b="0" i="0">
                <a:solidFill>
                  <a:srgbClr val="C9D6E8"/>
                </a:solidFill>
                <a:latin typeface="Calibri"/>
              </a:defRPr>
            </a:pPr>
            <a:r>
              <a:t>Reproducir: uv sync --extra torch &amp;&amp; uv run python -m conformal_fault_inference_with_abstention</a:t>
            </a:r>
          </a:p>
          <a:p>
            <a:pPr algn="l">
              <a:lnSpc>
                <a:spcPct val="110000"/>
              </a:lnSpc>
              <a:defRPr sz="1300" b="0" i="0">
                <a:solidFill>
                  <a:srgbClr val="C9D6E8"/>
                </a:solidFill>
                <a:latin typeface="Calibri"/>
              </a:defRPr>
            </a:pPr>
            <a:r>
              <a:t>Informe: RESULTADOS.md · Notebook: notebooks/analisis_resultados.ipynb</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2788920"/>
            <a:ext cx="822960" cy="54864"/>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926080"/>
            <a:ext cx="10058400" cy="822960"/>
          </a:xfrm>
          <a:prstGeom prst="rect">
            <a:avLst/>
          </a:prstGeom>
          <a:noFill/>
        </p:spPr>
        <p:txBody>
          <a:bodyPr wrap="square" anchor="t" lIns="45720" rIns="45720" tIns="27432" bIns="27432">
            <a:spAutoFit/>
          </a:bodyPr>
          <a:lstStyle/>
          <a:p>
            <a:pPr algn="l">
              <a:lnSpc>
                <a:spcPct val="110000"/>
              </a:lnSpc>
              <a:defRPr sz="4000" b="1" i="0">
                <a:solidFill>
                  <a:srgbClr val="FFFFFF"/>
                </a:solidFill>
                <a:latin typeface="Calibri"/>
              </a:defRPr>
            </a:pPr>
            <a:r>
              <a:t>Apéndice</a:t>
            </a:r>
          </a:p>
        </p:txBody>
      </p:sp>
      <p:sp>
        <p:nvSpPr>
          <p:cNvPr id="5" name="TextBox 4"/>
          <p:cNvSpPr txBox="1"/>
          <p:nvPr/>
        </p:nvSpPr>
        <p:spPr>
          <a:xfrm>
            <a:off x="822960" y="3749039"/>
            <a:ext cx="10058400" cy="731520"/>
          </a:xfrm>
          <a:prstGeom prst="rect">
            <a:avLst/>
          </a:prstGeom>
          <a:noFill/>
        </p:spPr>
        <p:txBody>
          <a:bodyPr wrap="square" anchor="t" lIns="45720" rIns="45720" tIns="27432" bIns="27432">
            <a:spAutoFit/>
          </a:bodyPr>
          <a:lstStyle/>
          <a:p>
            <a:pPr algn="l">
              <a:lnSpc>
                <a:spcPct val="110000"/>
              </a:lnSpc>
              <a:defRPr sz="1800" b="0" i="0">
                <a:solidFill>
                  <a:srgbClr val="C9D6E8"/>
                </a:solidFill>
                <a:latin typeface="Calibri"/>
              </a:defRPr>
            </a:pPr>
            <a:r>
              <a:t>Material de respaldo para preguntas; no forma parte de los 10 minutos</a:t>
            </a:r>
          </a:p>
        </p:txBody>
      </p:sp>
      <p:sp>
        <p:nvSpPr>
          <p:cNvPr id="6" name="TextBox 5"/>
          <p:cNvSpPr txBox="1"/>
          <p:nvPr/>
        </p:nvSpPr>
        <p:spPr>
          <a:xfrm>
            <a:off x="11155680" y="6446520"/>
            <a:ext cx="457200" cy="274320"/>
          </a:xfrm>
          <a:prstGeom prst="rect">
            <a:avLst/>
          </a:prstGeom>
          <a:noFill/>
        </p:spPr>
        <p:txBody>
          <a:bodyPr wrap="square" anchor="t" lIns="45720" rIns="45720" tIns="27432" bIns="27432">
            <a:spAutoFit/>
          </a:bodyPr>
          <a:lstStyle/>
          <a:p>
            <a:pPr algn="r">
              <a:lnSpc>
                <a:spcPct val="110000"/>
              </a:lnSpc>
              <a:defRPr sz="900" b="0" i="0">
                <a:solidFill>
                  <a:srgbClr val="8FA6C4"/>
                </a:solidFill>
                <a:latin typeface="Calibri"/>
              </a:defRPr>
            </a:pPr>
            <a: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1170432"/>
            <a:ext cx="548640" cy="45720"/>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7315200" cy="274320"/>
          </a:xfrm>
          <a:prstGeom prst="rect">
            <a:avLst/>
          </a:prstGeom>
          <a:noFill/>
        </p:spPr>
        <p:txBody>
          <a:bodyPr wrap="square" anchor="t" lIns="45720" rIns="45720" tIns="27432" bIns="27432">
            <a:spAutoFit/>
          </a:bodyPr>
          <a:lstStyle/>
          <a:p>
            <a:pPr algn="l">
              <a:lnSpc>
                <a:spcPct val="110000"/>
              </a:lnSpc>
              <a:defRPr sz="1100" b="1" i="0">
                <a:solidFill>
                  <a:srgbClr val="EB6834"/>
                </a:solidFill>
                <a:latin typeface="Calibri"/>
              </a:defRPr>
            </a:pPr>
            <a:r>
              <a:t>APÉNDICE F</a:t>
            </a:r>
          </a:p>
        </p:txBody>
      </p:sp>
      <p:sp>
        <p:nvSpPr>
          <p:cNvPr id="5" name="TextBox 4"/>
          <p:cNvSpPr txBox="1"/>
          <p:nvPr/>
        </p:nvSpPr>
        <p:spPr>
          <a:xfrm>
            <a:off x="640080" y="566928"/>
            <a:ext cx="10058400" cy="640080"/>
          </a:xfrm>
          <a:prstGeom prst="rect">
            <a:avLst/>
          </a:prstGeom>
          <a:noFill/>
        </p:spPr>
        <p:txBody>
          <a:bodyPr wrap="square" anchor="t" lIns="45720" rIns="45720" tIns="27432" bIns="27432">
            <a:spAutoFit/>
          </a:bodyPr>
          <a:lstStyle/>
          <a:p>
            <a:pPr algn="l">
              <a:lnSpc>
                <a:spcPct val="110000"/>
              </a:lnSpc>
              <a:defRPr sz="2400" b="1" i="0">
                <a:solidFill>
                  <a:srgbClr val="0F2A4A"/>
                </a:solidFill>
                <a:latin typeface="Calibri"/>
              </a:defRPr>
            </a:pPr>
            <a:r>
              <a:t>Objetivo general, objetivos específicos y alcance aprobado</a:t>
            </a:r>
          </a:p>
        </p:txBody>
      </p:sp>
      <p:sp>
        <p:nvSpPr>
          <p:cNvPr id="6" name="Rectangle 5"/>
          <p:cNvSpPr/>
          <p:nvPr/>
        </p:nvSpPr>
        <p:spPr>
          <a:xfrm>
            <a:off x="0" y="6537960"/>
            <a:ext cx="12191695" cy="320040"/>
          </a:xfrm>
          <a:prstGeom prst="rect">
            <a:avLst/>
          </a:prstGeom>
          <a:solidFill>
            <a:srgbClr val="0F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574536"/>
            <a:ext cx="7315200" cy="256032"/>
          </a:xfrm>
          <a:prstGeom prst="rect">
            <a:avLst/>
          </a:prstGeom>
          <a:noFill/>
        </p:spPr>
        <p:txBody>
          <a:bodyPr wrap="square" anchor="t" lIns="45720" rIns="45720" tIns="27432" bIns="27432">
            <a:spAutoFit/>
          </a:bodyPr>
          <a:lstStyle/>
          <a:p>
            <a:pPr algn="l">
              <a:lnSpc>
                <a:spcPct val="110000"/>
              </a:lnSpc>
              <a:defRPr sz="900" b="0" i="0">
                <a:solidFill>
                  <a:srgbClr val="C9D6E8"/>
                </a:solidFill>
                <a:latin typeface="Calibri"/>
              </a:defRPr>
            </a:pPr>
            <a:r>
              <a:t>Predicción conforme y abstención selectiva · AI4I 2020</a:t>
            </a:r>
          </a:p>
        </p:txBody>
      </p:sp>
      <p:sp>
        <p:nvSpPr>
          <p:cNvPr id="8" name="TextBox 7"/>
          <p:cNvSpPr txBox="1"/>
          <p:nvPr/>
        </p:nvSpPr>
        <p:spPr>
          <a:xfrm>
            <a:off x="11155680" y="6574536"/>
            <a:ext cx="457200" cy="256032"/>
          </a:xfrm>
          <a:prstGeom prst="rect">
            <a:avLst/>
          </a:prstGeom>
          <a:noFill/>
        </p:spPr>
        <p:txBody>
          <a:bodyPr wrap="square" anchor="t" lIns="45720" rIns="45720" tIns="27432" bIns="27432">
            <a:spAutoFit/>
          </a:bodyPr>
          <a:lstStyle/>
          <a:p>
            <a:pPr algn="r">
              <a:lnSpc>
                <a:spcPct val="110000"/>
              </a:lnSpc>
              <a:defRPr sz="900" b="0" i="0">
                <a:solidFill>
                  <a:srgbClr val="C9D6E8"/>
                </a:solidFill>
                <a:latin typeface="Calibri"/>
              </a:defRPr>
            </a:pPr>
            <a:r>
              <a:t>16</a:t>
            </a:r>
          </a:p>
        </p:txBody>
      </p:sp>
      <p:sp>
        <p:nvSpPr>
          <p:cNvPr id="9" name="Rounded Rectangle 8"/>
          <p:cNvSpPr/>
          <p:nvPr/>
        </p:nvSpPr>
        <p:spPr>
          <a:xfrm>
            <a:off x="640080" y="1417320"/>
            <a:ext cx="10881360" cy="960120"/>
          </a:xfrm>
          <a:prstGeom prst="roundRect">
            <a:avLst>
              <a:gd name="adj" fmla="val 5000"/>
            </a:avLst>
          </a:prstGeom>
          <a:solidFill>
            <a:srgbClr val="DC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1481328"/>
            <a:ext cx="2743200" cy="320040"/>
          </a:xfrm>
          <a:prstGeom prst="rect">
            <a:avLst/>
          </a:prstGeom>
          <a:noFill/>
        </p:spPr>
        <p:txBody>
          <a:bodyPr wrap="square" anchor="t" lIns="45720" rIns="45720" tIns="27432" bIns="27432">
            <a:spAutoFit/>
          </a:bodyPr>
          <a:lstStyle/>
          <a:p>
            <a:pPr algn="l">
              <a:lnSpc>
                <a:spcPct val="110000"/>
              </a:lnSpc>
              <a:defRPr sz="1200" b="1" i="0">
                <a:solidFill>
                  <a:srgbClr val="1C5CAB"/>
                </a:solidFill>
                <a:latin typeface="Calibri"/>
              </a:defRPr>
            </a:pPr>
            <a:r>
              <a:t>Objetivo general</a:t>
            </a:r>
          </a:p>
        </p:txBody>
      </p:sp>
      <p:sp>
        <p:nvSpPr>
          <p:cNvPr id="11" name="TextBox 10"/>
          <p:cNvSpPr txBox="1"/>
          <p:nvPr/>
        </p:nvSpPr>
        <p:spPr>
          <a:xfrm>
            <a:off x="822960" y="1755648"/>
            <a:ext cx="10515600" cy="640080"/>
          </a:xfrm>
          <a:prstGeom prst="rect">
            <a:avLst/>
          </a:prstGeom>
          <a:noFill/>
        </p:spPr>
        <p:txBody>
          <a:bodyPr wrap="square" anchor="t" lIns="45720" rIns="45720" tIns="27432" bIns="27432">
            <a:spAutoFit/>
          </a:bodyPr>
          <a:lstStyle/>
          <a:p>
            <a:pPr algn="l">
              <a:lnSpc>
                <a:spcPct val="110000"/>
              </a:lnSpc>
              <a:defRPr sz="1300" b="0" i="0">
                <a:solidFill>
                  <a:srgbClr val="0B0B0B"/>
                </a:solidFill>
                <a:latin typeface="Calibri"/>
              </a:defRPr>
            </a:pPr>
            <a:r>
              <a:t>Diseñar, implementar desde cero y evaluar un sistema de diagnóstico de fallas que convierta la incertidumbre cuantificada por predicción conforme en una política de decisión de tres vías: automática, asistida y humana.</a:t>
            </a:r>
          </a:p>
        </p:txBody>
      </p:sp>
      <p:graphicFrame>
        <p:nvGraphicFramePr>
          <p:cNvPr id="12" name="Table 11"/>
          <p:cNvGraphicFramePr>
            <a:graphicFrameLocks noGrp="1"/>
          </p:cNvGraphicFramePr>
          <p:nvPr/>
        </p:nvGraphicFramePr>
        <p:xfrm>
          <a:off x="640080" y="2606040"/>
          <a:ext cx="10881360" cy="2560320"/>
        </p:xfrm>
        <a:graphic>
          <a:graphicData uri="http://schemas.openxmlformats.org/drawingml/2006/table">
            <a:tbl>
              <a:tblPr firstRow="1" bandRow="1">
                <a:tableStyleId>{5C22544A-7EE6-4342-B048-85BDC9FD1C3A}</a:tableStyleId>
              </a:tblPr>
              <a:tblGrid>
                <a:gridCol w="7315200"/>
                <a:gridCol w="3566160"/>
              </a:tblGrid>
              <a:tr h="365760">
                <a:tc>
                  <a:txBody>
                    <a:bodyPr/>
                    <a:lstStyle/>
                    <a:p>
                      <a:pPr algn="l">
                        <a:defRPr sz="1200" b="1">
                          <a:solidFill>
                            <a:srgbClr val="FFFFFF"/>
                          </a:solidFill>
                          <a:latin typeface="Calibri"/>
                        </a:defRPr>
                      </a:pPr>
                      <a:r>
                        <a:t>Objetivo específico de la propuesta</a:t>
                      </a:r>
                    </a:p>
                  </a:txBody>
                  <a:tcPr marL="54864" marR="54864" marT="18288" marB="18288" anchor="ctr">
                    <a:solidFill>
                      <a:srgbClr val="1C5CAB"/>
                    </a:solidFill>
                  </a:tcPr>
                </a:tc>
                <a:tc>
                  <a:txBody>
                    <a:bodyPr/>
                    <a:lstStyle/>
                    <a:p>
                      <a:pPr algn="ctr">
                        <a:defRPr sz="1200" b="1">
                          <a:solidFill>
                            <a:srgbClr val="FFFFFF"/>
                          </a:solidFill>
                          <a:latin typeface="Calibri"/>
                        </a:defRPr>
                      </a:pPr>
                      <a:r>
                        <a:t>Estado en la entrega</a:t>
                      </a:r>
                    </a:p>
                  </a:txBody>
                  <a:tcPr marL="54864" marR="54864" marT="18288" marB="18288" anchor="ctr">
                    <a:solidFill>
                      <a:srgbClr val="1C5CAB"/>
                    </a:solidFill>
                  </a:tcPr>
                </a:tc>
              </a:tr>
              <a:tr h="365760">
                <a:tc>
                  <a:txBody>
                    <a:bodyPr/>
                    <a:lstStyle/>
                    <a:p>
                      <a:pPr algn="l">
                        <a:defRPr sz="1200" b="0">
                          <a:solidFill>
                            <a:srgbClr val="0B0B0B"/>
                          </a:solidFill>
                          <a:latin typeface="Calibri"/>
                        </a:defRPr>
                      </a:pPr>
                      <a:r>
                        <a:t>1. Fundamento matemático: intercambiabilidad, no conformidad, cuantil y cobertura marginal</a:t>
                      </a:r>
                    </a:p>
                  </a:txBody>
                  <a:tcPr marL="54864" marR="54864" marT="18288" marB="18288" anchor="ctr">
                    <a:solidFill>
                      <a:srgbClr val="FFFFFF"/>
                    </a:solidFill>
                  </a:tcPr>
                </a:tc>
                <a:tc>
                  <a:txBody>
                    <a:bodyPr/>
                    <a:lstStyle/>
                    <a:p>
                      <a:pPr algn="ctr">
                        <a:defRPr sz="1200" b="0">
                          <a:solidFill>
                            <a:srgbClr val="0B0B0B"/>
                          </a:solidFill>
                          <a:latin typeface="Calibri"/>
                        </a:defRPr>
                      </a:pPr>
                      <a:r>
                        <a:t>Cumplido</a:t>
                      </a:r>
                    </a:p>
                  </a:txBody>
                  <a:tcPr marL="54864" marR="54864" marT="18288" marB="18288" anchor="ctr">
                    <a:solidFill>
                      <a:srgbClr val="FFFFFF"/>
                    </a:solidFill>
                  </a:tcPr>
                </a:tc>
              </a:tr>
              <a:tr h="365760">
                <a:tc>
                  <a:txBody>
                    <a:bodyPr/>
                    <a:lstStyle/>
                    <a:p>
                      <a:pPr algn="l">
                        <a:defRPr sz="1200" b="0">
                          <a:solidFill>
                            <a:srgbClr val="0B0B0B"/>
                          </a:solidFill>
                          <a:latin typeface="Calibri"/>
                        </a:defRPr>
                      </a:pPr>
                      <a:r>
                        <a:t>2. Split conformal, Mondrian y APS en NumPy, sin bibliotecas conformes</a:t>
                      </a:r>
                    </a:p>
                  </a:txBody>
                  <a:tcPr marL="54864" marR="54864" marT="18288" marB="18288" anchor="ctr">
                    <a:solidFill>
                      <a:srgbClr val="EEF1F6"/>
                    </a:solidFill>
                  </a:tcPr>
                </a:tc>
                <a:tc>
                  <a:txBody>
                    <a:bodyPr/>
                    <a:lstStyle/>
                    <a:p>
                      <a:pPr algn="ctr">
                        <a:defRPr sz="1200" b="0">
                          <a:solidFill>
                            <a:srgbClr val="0B0B0B"/>
                          </a:solidFill>
                          <a:latin typeface="Calibri"/>
                        </a:defRPr>
                      </a:pPr>
                      <a:r>
                        <a:t>Split y Mondrian cumplidos · APS pospuesto</a:t>
                      </a:r>
                    </a:p>
                  </a:txBody>
                  <a:tcPr marL="54864" marR="54864" marT="18288" marB="18288" anchor="ctr">
                    <a:solidFill>
                      <a:srgbClr val="EEF1F6"/>
                    </a:solidFill>
                  </a:tcPr>
                </a:tc>
              </a:tr>
              <a:tr h="365760">
                <a:tc>
                  <a:txBody>
                    <a:bodyPr/>
                    <a:lstStyle/>
                    <a:p>
                      <a:pPr algn="l">
                        <a:defRPr sz="1200" b="0">
                          <a:solidFill>
                            <a:srgbClr val="0B0B0B"/>
                          </a:solidFill>
                          <a:latin typeface="Calibri"/>
                        </a:defRPr>
                      </a:pPr>
                      <a:r>
                        <a:t>3. Cobertura independiente del clasificador (modelo fuerte frente a débil)</a:t>
                      </a:r>
                    </a:p>
                  </a:txBody>
                  <a:tcPr marL="54864" marR="54864" marT="18288" marB="18288" anchor="ctr">
                    <a:solidFill>
                      <a:srgbClr val="FFFFFF"/>
                    </a:solidFill>
                  </a:tcPr>
                </a:tc>
                <a:tc>
                  <a:txBody>
                    <a:bodyPr/>
                    <a:lstStyle/>
                    <a:p>
                      <a:pPr algn="ctr">
                        <a:defRPr sz="1200" b="0">
                          <a:solidFill>
                            <a:srgbClr val="0B0B0B"/>
                          </a:solidFill>
                          <a:latin typeface="Calibri"/>
                        </a:defRPr>
                      </a:pPr>
                      <a:r>
                        <a:t>Adaptado: MLP en PyTorch en lugar de GaussianNB; el contraste de calidad es menor</a:t>
                      </a:r>
                    </a:p>
                  </a:txBody>
                  <a:tcPr marL="54864" marR="54864" marT="18288" marB="18288" anchor="ctr">
                    <a:solidFill>
                      <a:srgbClr val="FFFFFF"/>
                    </a:solidFill>
                  </a:tcPr>
                </a:tc>
              </a:tr>
              <a:tr h="365760">
                <a:tc>
                  <a:txBody>
                    <a:bodyPr/>
                    <a:lstStyle/>
                    <a:p>
                      <a:pPr algn="l">
                        <a:defRPr sz="1200" b="0">
                          <a:solidFill>
                            <a:srgbClr val="0B0B0B"/>
                          </a:solidFill>
                          <a:latin typeface="Calibri"/>
                        </a:defRPr>
                      </a:pPr>
                      <a:r>
                        <a:t>4. Split subcubre las minoritarias y Mondrian lo corrige, cuantificado</a:t>
                      </a:r>
                    </a:p>
                  </a:txBody>
                  <a:tcPr marL="54864" marR="54864" marT="18288" marB="18288" anchor="ctr">
                    <a:solidFill>
                      <a:srgbClr val="EEF1F6"/>
                    </a:solidFill>
                  </a:tcPr>
                </a:tc>
                <a:tc>
                  <a:txBody>
                    <a:bodyPr/>
                    <a:lstStyle/>
                    <a:p>
                      <a:pPr algn="ctr">
                        <a:defRPr sz="1200" b="0">
                          <a:solidFill>
                            <a:srgbClr val="0B0B0B"/>
                          </a:solidFill>
                          <a:latin typeface="Calibri"/>
                        </a:defRPr>
                      </a:pPr>
                      <a:r>
                        <a:t>Cumplido</a:t>
                      </a:r>
                    </a:p>
                  </a:txBody>
                  <a:tcPr marL="54864" marR="54864" marT="18288" marB="18288" anchor="ctr">
                    <a:solidFill>
                      <a:srgbClr val="EEF1F6"/>
                    </a:solidFill>
                  </a:tcPr>
                </a:tc>
              </a:tr>
              <a:tr h="365760">
                <a:tc>
                  <a:txBody>
                    <a:bodyPr/>
                    <a:lstStyle/>
                    <a:p>
                      <a:pPr algn="l">
                        <a:defRPr sz="1200" b="0">
                          <a:solidFill>
                            <a:srgbClr val="0B0B0B"/>
                          </a:solidFill>
                          <a:latin typeface="Calibri"/>
                        </a:defRPr>
                      </a:pPr>
                      <a:r>
                        <a:t>5. Ablación de características físicas</a:t>
                      </a:r>
                    </a:p>
                  </a:txBody>
                  <a:tcPr marL="54864" marR="54864" marT="18288" marB="18288" anchor="ctr">
                    <a:solidFill>
                      <a:srgbClr val="FFFFFF"/>
                    </a:solidFill>
                  </a:tcPr>
                </a:tc>
                <a:tc>
                  <a:txBody>
                    <a:bodyPr/>
                    <a:lstStyle/>
                    <a:p>
                      <a:pPr algn="ctr">
                        <a:defRPr sz="1200" b="0">
                          <a:solidFill>
                            <a:srgbClr val="0B0B0B"/>
                          </a:solidFill>
                          <a:latin typeface="Calibri"/>
                        </a:defRPr>
                      </a:pPr>
                      <a:r>
                        <a:t>Pospuesto por observación docente</a:t>
                      </a:r>
                    </a:p>
                  </a:txBody>
                  <a:tcPr marL="54864" marR="54864" marT="18288" marB="18288" anchor="ctr">
                    <a:solidFill>
                      <a:srgbClr val="FFFFFF"/>
                    </a:solidFill>
                  </a:tcPr>
                </a:tc>
              </a:tr>
              <a:tr h="365760">
                <a:tc>
                  <a:txBody>
                    <a:bodyPr/>
                    <a:lstStyle/>
                    <a:p>
                      <a:pPr algn="l">
                        <a:defRPr sz="1200" b="0">
                          <a:solidFill>
                            <a:srgbClr val="0B0B0B"/>
                          </a:solidFill>
                          <a:latin typeface="Calibri"/>
                        </a:defRPr>
                      </a:pPr>
                      <a:r>
                        <a:t>6. Política sensible al costo y alpha óptimo</a:t>
                      </a:r>
                    </a:p>
                  </a:txBody>
                  <a:tcPr marL="54864" marR="54864" marT="18288" marB="18288" anchor="ctr">
                    <a:solidFill>
                      <a:srgbClr val="EEF1F6"/>
                    </a:solidFill>
                  </a:tcPr>
                </a:tc>
                <a:tc>
                  <a:txBody>
                    <a:bodyPr/>
                    <a:lstStyle/>
                    <a:p>
                      <a:pPr algn="ctr">
                        <a:defRPr sz="1200" b="0">
                          <a:solidFill>
                            <a:srgbClr val="0B0B0B"/>
                          </a:solidFill>
                          <a:latin typeface="Calibri"/>
                        </a:defRPr>
                      </a:pPr>
                      <a:r>
                        <a:t>Pospuesto por observación docente</a:t>
                      </a:r>
                    </a:p>
                  </a:txBody>
                  <a:tcPr marL="54864" marR="54864" marT="18288" marB="18288" anchor="ctr">
                    <a:solidFill>
                      <a:srgbClr val="EEF1F6"/>
                    </a:solidFill>
                  </a:tcPr>
                </a:tc>
              </a:tr>
            </a:tbl>
          </a:graphicData>
        </a:graphic>
      </p:graphicFrame>
      <p:sp>
        <p:nvSpPr>
          <p:cNvPr id="13" name="TextBox 12"/>
          <p:cNvSpPr txBox="1"/>
          <p:nvPr/>
        </p:nvSpPr>
        <p:spPr>
          <a:xfrm>
            <a:off x="640080" y="5303520"/>
            <a:ext cx="10881360" cy="731520"/>
          </a:xfrm>
          <a:prstGeom prst="rect">
            <a:avLst/>
          </a:prstGeom>
          <a:noFill/>
        </p:spPr>
        <p:txBody>
          <a:bodyPr wrap="square" anchor="t" lIns="45720" rIns="45720" tIns="27432" bIns="27432">
            <a:spAutoFit/>
          </a:bodyPr>
          <a:lstStyle/>
          <a:p>
            <a:pPr algn="l">
              <a:lnSpc>
                <a:spcPct val="110000"/>
              </a:lnSpc>
              <a:defRPr sz="1200" b="0" i="1">
                <a:solidFill>
                  <a:srgbClr val="52514E"/>
                </a:solidFill>
                <a:latin typeface="Calibri"/>
              </a:defRPr>
            </a:pPr>
            <a:r>
              <a:t>El docente redujo el alcance a un producto mínimo de dos semanas: un clasificador base, dos variantes conformes, métricas por clase y análisis reproducible. El MLP en GPU es una extensión añadida sobre ese mínimo.</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1170432"/>
            <a:ext cx="548640" cy="45720"/>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7315200" cy="274320"/>
          </a:xfrm>
          <a:prstGeom prst="rect">
            <a:avLst/>
          </a:prstGeom>
          <a:noFill/>
        </p:spPr>
        <p:txBody>
          <a:bodyPr wrap="square" anchor="t" lIns="45720" rIns="45720" tIns="27432" bIns="27432">
            <a:spAutoFit/>
          </a:bodyPr>
          <a:lstStyle/>
          <a:p>
            <a:pPr algn="l">
              <a:lnSpc>
                <a:spcPct val="110000"/>
              </a:lnSpc>
              <a:defRPr sz="1100" b="1" i="0">
                <a:solidFill>
                  <a:srgbClr val="EB6834"/>
                </a:solidFill>
                <a:latin typeface="Calibri"/>
              </a:defRPr>
            </a:pPr>
            <a:r>
              <a:t>APÉNDICE G</a:t>
            </a:r>
          </a:p>
        </p:txBody>
      </p:sp>
      <p:sp>
        <p:nvSpPr>
          <p:cNvPr id="5" name="TextBox 4"/>
          <p:cNvSpPr txBox="1"/>
          <p:nvPr/>
        </p:nvSpPr>
        <p:spPr>
          <a:xfrm>
            <a:off x="640080" y="566928"/>
            <a:ext cx="10058400" cy="640080"/>
          </a:xfrm>
          <a:prstGeom prst="rect">
            <a:avLst/>
          </a:prstGeom>
          <a:noFill/>
        </p:spPr>
        <p:txBody>
          <a:bodyPr wrap="square" anchor="t" lIns="45720" rIns="45720" tIns="27432" bIns="27432">
            <a:spAutoFit/>
          </a:bodyPr>
          <a:lstStyle/>
          <a:p>
            <a:pPr algn="l">
              <a:lnSpc>
                <a:spcPct val="110000"/>
              </a:lnSpc>
              <a:defRPr sz="2400" b="1" i="0">
                <a:solidFill>
                  <a:srgbClr val="0F2A4A"/>
                </a:solidFill>
                <a:latin typeface="Calibri"/>
              </a:defRPr>
            </a:pPr>
            <a:r>
              <a:t>AI4I 2020: predictores y clases</a:t>
            </a:r>
          </a:p>
        </p:txBody>
      </p:sp>
      <p:sp>
        <p:nvSpPr>
          <p:cNvPr id="6" name="Rectangle 5"/>
          <p:cNvSpPr/>
          <p:nvPr/>
        </p:nvSpPr>
        <p:spPr>
          <a:xfrm>
            <a:off x="0" y="6537960"/>
            <a:ext cx="12191695" cy="320040"/>
          </a:xfrm>
          <a:prstGeom prst="rect">
            <a:avLst/>
          </a:prstGeom>
          <a:solidFill>
            <a:srgbClr val="0F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574536"/>
            <a:ext cx="7315200" cy="256032"/>
          </a:xfrm>
          <a:prstGeom prst="rect">
            <a:avLst/>
          </a:prstGeom>
          <a:noFill/>
        </p:spPr>
        <p:txBody>
          <a:bodyPr wrap="square" anchor="t" lIns="45720" rIns="45720" tIns="27432" bIns="27432">
            <a:spAutoFit/>
          </a:bodyPr>
          <a:lstStyle/>
          <a:p>
            <a:pPr algn="l">
              <a:lnSpc>
                <a:spcPct val="110000"/>
              </a:lnSpc>
              <a:defRPr sz="900" b="0" i="0">
                <a:solidFill>
                  <a:srgbClr val="C9D6E8"/>
                </a:solidFill>
                <a:latin typeface="Calibri"/>
              </a:defRPr>
            </a:pPr>
            <a:r>
              <a:t>Predicción conforme y abstención selectiva · AI4I 2020</a:t>
            </a:r>
          </a:p>
        </p:txBody>
      </p:sp>
      <p:sp>
        <p:nvSpPr>
          <p:cNvPr id="8" name="TextBox 7"/>
          <p:cNvSpPr txBox="1"/>
          <p:nvPr/>
        </p:nvSpPr>
        <p:spPr>
          <a:xfrm>
            <a:off x="11155680" y="6574536"/>
            <a:ext cx="457200" cy="256032"/>
          </a:xfrm>
          <a:prstGeom prst="rect">
            <a:avLst/>
          </a:prstGeom>
          <a:noFill/>
        </p:spPr>
        <p:txBody>
          <a:bodyPr wrap="square" anchor="t" lIns="45720" rIns="45720" tIns="27432" bIns="27432">
            <a:spAutoFit/>
          </a:bodyPr>
          <a:lstStyle/>
          <a:p>
            <a:pPr algn="r">
              <a:lnSpc>
                <a:spcPct val="110000"/>
              </a:lnSpc>
              <a:defRPr sz="900" b="0" i="0">
                <a:solidFill>
                  <a:srgbClr val="C9D6E8"/>
                </a:solidFill>
                <a:latin typeface="Calibri"/>
              </a:defRPr>
            </a:pPr>
            <a:r>
              <a:t>17</a:t>
            </a:r>
          </a:p>
        </p:txBody>
      </p:sp>
      <p:sp>
        <p:nvSpPr>
          <p:cNvPr id="9" name="TextBox 8"/>
          <p:cNvSpPr txBox="1"/>
          <p:nvPr/>
        </p:nvSpPr>
        <p:spPr>
          <a:xfrm>
            <a:off x="640080" y="1417320"/>
            <a:ext cx="2286000" cy="640080"/>
          </a:xfrm>
          <a:prstGeom prst="rect">
            <a:avLst/>
          </a:prstGeom>
          <a:noFill/>
        </p:spPr>
        <p:txBody>
          <a:bodyPr wrap="square" anchor="t" lIns="45720" rIns="45720" tIns="27432" bIns="27432">
            <a:spAutoFit/>
          </a:bodyPr>
          <a:lstStyle/>
          <a:p>
            <a:pPr algn="l">
              <a:lnSpc>
                <a:spcPct val="110000"/>
              </a:lnSpc>
              <a:defRPr sz="3400" b="1" i="0">
                <a:solidFill>
                  <a:srgbClr val="1C5CAB"/>
                </a:solidFill>
                <a:latin typeface="Calibri"/>
              </a:defRPr>
            </a:pPr>
            <a:r>
              <a:t>10 000</a:t>
            </a:r>
          </a:p>
        </p:txBody>
      </p:sp>
      <p:sp>
        <p:nvSpPr>
          <p:cNvPr id="10" name="TextBox 9"/>
          <p:cNvSpPr txBox="1"/>
          <p:nvPr/>
        </p:nvSpPr>
        <p:spPr>
          <a:xfrm>
            <a:off x="640080" y="2039112"/>
            <a:ext cx="2286000" cy="457200"/>
          </a:xfrm>
          <a:prstGeom prst="rect">
            <a:avLst/>
          </a:prstGeom>
          <a:noFill/>
        </p:spPr>
        <p:txBody>
          <a:bodyPr wrap="square" anchor="t" lIns="45720" rIns="45720" tIns="27432" bIns="27432">
            <a:spAutoFit/>
          </a:bodyPr>
          <a:lstStyle/>
          <a:p>
            <a:pPr algn="l">
              <a:lnSpc>
                <a:spcPct val="110000"/>
              </a:lnSpc>
              <a:defRPr sz="1200" b="0" i="0">
                <a:solidFill>
                  <a:srgbClr val="52514E"/>
                </a:solidFill>
                <a:latin typeface="Calibri"/>
              </a:defRPr>
            </a:pPr>
            <a:r>
              <a:t>ciclos de operación</a:t>
            </a:r>
          </a:p>
        </p:txBody>
      </p:sp>
      <p:sp>
        <p:nvSpPr>
          <p:cNvPr id="11" name="TextBox 10"/>
          <p:cNvSpPr txBox="1"/>
          <p:nvPr/>
        </p:nvSpPr>
        <p:spPr>
          <a:xfrm>
            <a:off x="2926080" y="1417320"/>
            <a:ext cx="2286000" cy="640080"/>
          </a:xfrm>
          <a:prstGeom prst="rect">
            <a:avLst/>
          </a:prstGeom>
          <a:noFill/>
        </p:spPr>
        <p:txBody>
          <a:bodyPr wrap="square" anchor="t" lIns="45720" rIns="45720" tIns="27432" bIns="27432">
            <a:spAutoFit/>
          </a:bodyPr>
          <a:lstStyle/>
          <a:p>
            <a:pPr algn="l">
              <a:lnSpc>
                <a:spcPct val="110000"/>
              </a:lnSpc>
              <a:defRPr sz="3400" b="1" i="0">
                <a:solidFill>
                  <a:srgbClr val="1C5CAB"/>
                </a:solidFill>
                <a:latin typeface="Calibri"/>
              </a:defRPr>
            </a:pPr>
            <a:r>
              <a:t>6</a:t>
            </a:r>
          </a:p>
        </p:txBody>
      </p:sp>
      <p:sp>
        <p:nvSpPr>
          <p:cNvPr id="12" name="TextBox 11"/>
          <p:cNvSpPr txBox="1"/>
          <p:nvPr/>
        </p:nvSpPr>
        <p:spPr>
          <a:xfrm>
            <a:off x="2926080" y="2039112"/>
            <a:ext cx="2286000" cy="457200"/>
          </a:xfrm>
          <a:prstGeom prst="rect">
            <a:avLst/>
          </a:prstGeom>
          <a:noFill/>
        </p:spPr>
        <p:txBody>
          <a:bodyPr wrap="square" anchor="t" lIns="45720" rIns="45720" tIns="27432" bIns="27432">
            <a:spAutoFit/>
          </a:bodyPr>
          <a:lstStyle/>
          <a:p>
            <a:pPr algn="l">
              <a:lnSpc>
                <a:spcPct val="110000"/>
              </a:lnSpc>
              <a:defRPr sz="1200" b="0" i="0">
                <a:solidFill>
                  <a:srgbClr val="52514E"/>
                </a:solidFill>
                <a:latin typeface="Calibri"/>
              </a:defRPr>
            </a:pPr>
            <a:r>
              <a:t>predictores físicos</a:t>
            </a:r>
          </a:p>
        </p:txBody>
      </p:sp>
      <p:sp>
        <p:nvSpPr>
          <p:cNvPr id="13" name="TextBox 12"/>
          <p:cNvSpPr txBox="1"/>
          <p:nvPr/>
        </p:nvSpPr>
        <p:spPr>
          <a:xfrm>
            <a:off x="5212080" y="1417320"/>
            <a:ext cx="2286000" cy="640080"/>
          </a:xfrm>
          <a:prstGeom prst="rect">
            <a:avLst/>
          </a:prstGeom>
          <a:noFill/>
        </p:spPr>
        <p:txBody>
          <a:bodyPr wrap="square" anchor="t" lIns="45720" rIns="45720" tIns="27432" bIns="27432">
            <a:spAutoFit/>
          </a:bodyPr>
          <a:lstStyle/>
          <a:p>
            <a:pPr algn="l">
              <a:lnSpc>
                <a:spcPct val="110000"/>
              </a:lnSpc>
              <a:defRPr sz="3400" b="1" i="0">
                <a:solidFill>
                  <a:srgbClr val="EB6834"/>
                </a:solidFill>
                <a:latin typeface="Calibri"/>
              </a:defRPr>
            </a:pPr>
            <a:r>
              <a:t>339</a:t>
            </a:r>
          </a:p>
        </p:txBody>
      </p:sp>
      <p:sp>
        <p:nvSpPr>
          <p:cNvPr id="14" name="TextBox 13"/>
          <p:cNvSpPr txBox="1"/>
          <p:nvPr/>
        </p:nvSpPr>
        <p:spPr>
          <a:xfrm>
            <a:off x="5212080" y="2039112"/>
            <a:ext cx="2286000" cy="457200"/>
          </a:xfrm>
          <a:prstGeom prst="rect">
            <a:avLst/>
          </a:prstGeom>
          <a:noFill/>
        </p:spPr>
        <p:txBody>
          <a:bodyPr wrap="square" anchor="t" lIns="45720" rIns="45720" tIns="27432" bIns="27432">
            <a:spAutoFit/>
          </a:bodyPr>
          <a:lstStyle/>
          <a:p>
            <a:pPr algn="l">
              <a:lnSpc>
                <a:spcPct val="110000"/>
              </a:lnSpc>
              <a:defRPr sz="1200" b="0" i="0">
                <a:solidFill>
                  <a:srgbClr val="52514E"/>
                </a:solidFill>
                <a:latin typeface="Calibri"/>
              </a:defRPr>
            </a:pPr>
            <a:r>
              <a:t>fallas registradas (3.4 %)</a:t>
            </a:r>
          </a:p>
        </p:txBody>
      </p:sp>
      <p:sp>
        <p:nvSpPr>
          <p:cNvPr id="15" name="TextBox 14"/>
          <p:cNvSpPr txBox="1"/>
          <p:nvPr/>
        </p:nvSpPr>
        <p:spPr>
          <a:xfrm>
            <a:off x="7498079" y="1417320"/>
            <a:ext cx="2286000" cy="640080"/>
          </a:xfrm>
          <a:prstGeom prst="rect">
            <a:avLst/>
          </a:prstGeom>
          <a:noFill/>
        </p:spPr>
        <p:txBody>
          <a:bodyPr wrap="square" anchor="t" lIns="45720" rIns="45720" tIns="27432" bIns="27432">
            <a:spAutoFit/>
          </a:bodyPr>
          <a:lstStyle/>
          <a:p>
            <a:pPr algn="l">
              <a:lnSpc>
                <a:spcPct val="110000"/>
              </a:lnSpc>
              <a:defRPr sz="3400" b="1" i="0">
                <a:solidFill>
                  <a:srgbClr val="1C5CAB"/>
                </a:solidFill>
                <a:latin typeface="Calibri"/>
              </a:defRPr>
            </a:pPr>
            <a:r>
              <a:t>4</a:t>
            </a:r>
          </a:p>
        </p:txBody>
      </p:sp>
      <p:sp>
        <p:nvSpPr>
          <p:cNvPr id="16" name="TextBox 15"/>
          <p:cNvSpPr txBox="1"/>
          <p:nvPr/>
        </p:nvSpPr>
        <p:spPr>
          <a:xfrm>
            <a:off x="7498079" y="2039112"/>
            <a:ext cx="2286000" cy="457200"/>
          </a:xfrm>
          <a:prstGeom prst="rect">
            <a:avLst/>
          </a:prstGeom>
          <a:noFill/>
        </p:spPr>
        <p:txBody>
          <a:bodyPr wrap="square" anchor="t" lIns="45720" rIns="45720" tIns="27432" bIns="27432">
            <a:spAutoFit/>
          </a:bodyPr>
          <a:lstStyle/>
          <a:p>
            <a:pPr algn="l">
              <a:lnSpc>
                <a:spcPct val="110000"/>
              </a:lnSpc>
              <a:defRPr sz="1200" b="0" i="0">
                <a:solidFill>
                  <a:srgbClr val="52514E"/>
                </a:solidFill>
                <a:latin typeface="Calibri"/>
              </a:defRPr>
            </a:pPr>
            <a:r>
              <a:t>modos físicos de falla</a:t>
            </a:r>
          </a:p>
        </p:txBody>
      </p:sp>
      <p:sp>
        <p:nvSpPr>
          <p:cNvPr id="17" name="TextBox 16"/>
          <p:cNvSpPr txBox="1"/>
          <p:nvPr/>
        </p:nvSpPr>
        <p:spPr>
          <a:xfrm>
            <a:off x="9509760" y="1417320"/>
            <a:ext cx="2103120" cy="640080"/>
          </a:xfrm>
          <a:prstGeom prst="rect">
            <a:avLst/>
          </a:prstGeom>
          <a:noFill/>
        </p:spPr>
        <p:txBody>
          <a:bodyPr wrap="square" anchor="t" lIns="45720" rIns="45720" tIns="27432" bIns="27432">
            <a:spAutoFit/>
          </a:bodyPr>
          <a:lstStyle/>
          <a:p>
            <a:pPr algn="l">
              <a:lnSpc>
                <a:spcPct val="110000"/>
              </a:lnSpc>
              <a:defRPr sz="3400" b="1" i="0">
                <a:solidFill>
                  <a:srgbClr val="1BAF7A"/>
                </a:solidFill>
                <a:latin typeface="Calibri"/>
              </a:defRPr>
            </a:pPr>
            <a:r>
              <a:t>0</a:t>
            </a:r>
          </a:p>
        </p:txBody>
      </p:sp>
      <p:sp>
        <p:nvSpPr>
          <p:cNvPr id="18" name="TextBox 17"/>
          <p:cNvSpPr txBox="1"/>
          <p:nvPr/>
        </p:nvSpPr>
        <p:spPr>
          <a:xfrm>
            <a:off x="9509760" y="2039112"/>
            <a:ext cx="2103120" cy="457200"/>
          </a:xfrm>
          <a:prstGeom prst="rect">
            <a:avLst/>
          </a:prstGeom>
          <a:noFill/>
        </p:spPr>
        <p:txBody>
          <a:bodyPr wrap="square" anchor="t" lIns="45720" rIns="45720" tIns="27432" bIns="27432">
            <a:spAutoFit/>
          </a:bodyPr>
          <a:lstStyle/>
          <a:p>
            <a:pPr algn="l">
              <a:lnSpc>
                <a:spcPct val="110000"/>
              </a:lnSpc>
              <a:defRPr sz="1200" b="0" i="0">
                <a:solidFill>
                  <a:srgbClr val="52514E"/>
                </a:solidFill>
                <a:latin typeface="Calibri"/>
              </a:defRPr>
            </a:pPr>
            <a:r>
              <a:t>valores faltantes</a:t>
            </a:r>
          </a:p>
        </p:txBody>
      </p:sp>
      <p:graphicFrame>
        <p:nvGraphicFramePr>
          <p:cNvPr id="19" name="Table 18"/>
          <p:cNvGraphicFramePr>
            <a:graphicFrameLocks noGrp="1"/>
          </p:cNvGraphicFramePr>
          <p:nvPr/>
        </p:nvGraphicFramePr>
        <p:xfrm>
          <a:off x="640080" y="2743200"/>
          <a:ext cx="5486400" cy="2304288"/>
        </p:xfrm>
        <a:graphic>
          <a:graphicData uri="http://schemas.openxmlformats.org/drawingml/2006/table">
            <a:tbl>
              <a:tblPr firstRow="1" bandRow="1">
                <a:tableStyleId>{5C22544A-7EE6-4342-B048-85BDC9FD1C3A}</a:tableStyleId>
              </a:tblPr>
              <a:tblGrid>
                <a:gridCol w="2011680"/>
                <a:gridCol w="2651760"/>
                <a:gridCol w="822960"/>
              </a:tblGrid>
              <a:tr h="329184">
                <a:tc>
                  <a:txBody>
                    <a:bodyPr/>
                    <a:lstStyle/>
                    <a:p>
                      <a:pPr algn="l">
                        <a:defRPr sz="1200" b="1">
                          <a:solidFill>
                            <a:srgbClr val="FFFFFF"/>
                          </a:solidFill>
                          <a:latin typeface="Calibri"/>
                        </a:defRPr>
                      </a:pPr>
                      <a:r>
                        <a:t>Predictor</a:t>
                      </a:r>
                    </a:p>
                  </a:txBody>
                  <a:tcPr marL="54864" marR="54864" marT="18288" marB="18288" anchor="ctr">
                    <a:solidFill>
                      <a:srgbClr val="1C5CAB"/>
                    </a:solidFill>
                  </a:tcPr>
                </a:tc>
                <a:tc>
                  <a:txBody>
                    <a:bodyPr/>
                    <a:lstStyle/>
                    <a:p>
                      <a:pPr algn="ctr">
                        <a:defRPr sz="1200" b="1">
                          <a:solidFill>
                            <a:srgbClr val="FFFFFF"/>
                          </a:solidFill>
                          <a:latin typeface="Calibri"/>
                        </a:defRPr>
                      </a:pPr>
                      <a:r>
                        <a:t>Tipo</a:t>
                      </a:r>
                    </a:p>
                  </a:txBody>
                  <a:tcPr marL="54864" marR="54864" marT="18288" marB="18288" anchor="ctr">
                    <a:solidFill>
                      <a:srgbClr val="1C5CAB"/>
                    </a:solidFill>
                  </a:tcPr>
                </a:tc>
                <a:tc>
                  <a:txBody>
                    <a:bodyPr/>
                    <a:lstStyle/>
                    <a:p>
                      <a:pPr algn="ctr">
                        <a:defRPr sz="1200" b="1">
                          <a:solidFill>
                            <a:srgbClr val="FFFFFF"/>
                          </a:solidFill>
                          <a:latin typeface="Calibri"/>
                        </a:defRPr>
                      </a:pPr>
                      <a:r>
                        <a:t>Unidad</a:t>
                      </a:r>
                    </a:p>
                  </a:txBody>
                  <a:tcPr marL="54864" marR="54864" marT="18288" marB="18288" anchor="ctr">
                    <a:solidFill>
                      <a:srgbClr val="1C5CAB"/>
                    </a:solidFill>
                  </a:tcPr>
                </a:tc>
              </a:tr>
              <a:tr h="329184">
                <a:tc>
                  <a:txBody>
                    <a:bodyPr/>
                    <a:lstStyle/>
                    <a:p>
                      <a:pPr algn="l">
                        <a:defRPr sz="1200" b="0">
                          <a:solidFill>
                            <a:srgbClr val="0B0B0B"/>
                          </a:solidFill>
                          <a:latin typeface="Calibri"/>
                        </a:defRPr>
                      </a:pPr>
                      <a:r>
                        <a:t>Type</a:t>
                      </a:r>
                    </a:p>
                  </a:txBody>
                  <a:tcPr marL="54864" marR="54864" marT="18288" marB="18288" anchor="ctr">
                    <a:solidFill>
                      <a:srgbClr val="FFFFFF"/>
                    </a:solidFill>
                  </a:tcPr>
                </a:tc>
                <a:tc>
                  <a:txBody>
                    <a:bodyPr/>
                    <a:lstStyle/>
                    <a:p>
                      <a:pPr algn="ctr">
                        <a:defRPr sz="1200" b="0">
                          <a:solidFill>
                            <a:srgbClr val="0B0B0B"/>
                          </a:solidFill>
                          <a:latin typeface="Calibri"/>
                        </a:defRPr>
                      </a:pPr>
                      <a:r>
                        <a:t>categórica L / M / H (50 / 30 / 20 %)</a:t>
                      </a:r>
                    </a:p>
                  </a:txBody>
                  <a:tcPr marL="54864" marR="54864" marT="18288" marB="18288" anchor="ctr">
                    <a:solidFill>
                      <a:srgbClr val="FFFFFF"/>
                    </a:solidFill>
                  </a:tcPr>
                </a:tc>
                <a:tc>
                  <a:txBody>
                    <a:bodyPr/>
                    <a:lstStyle/>
                    <a:p>
                      <a:pPr algn="ctr">
                        <a:defRPr sz="1200" b="0">
                          <a:solidFill>
                            <a:srgbClr val="0B0B0B"/>
                          </a:solidFill>
                          <a:latin typeface="Calibri"/>
                        </a:defRPr>
                      </a:pPr>
                      <a:r>
                        <a:t>—</a:t>
                      </a:r>
                    </a:p>
                  </a:txBody>
                  <a:tcPr marL="54864" marR="54864" marT="18288" marB="18288" anchor="ctr">
                    <a:solidFill>
                      <a:srgbClr val="FFFFFF"/>
                    </a:solidFill>
                  </a:tcPr>
                </a:tc>
              </a:tr>
              <a:tr h="329184">
                <a:tc>
                  <a:txBody>
                    <a:bodyPr/>
                    <a:lstStyle/>
                    <a:p>
                      <a:pPr algn="l">
                        <a:defRPr sz="1200" b="0">
                          <a:solidFill>
                            <a:srgbClr val="0B0B0B"/>
                          </a:solidFill>
                          <a:latin typeface="Calibri"/>
                        </a:defRPr>
                      </a:pPr>
                      <a:r>
                        <a:t>Air temperature</a:t>
                      </a:r>
                    </a:p>
                  </a:txBody>
                  <a:tcPr marL="54864" marR="54864" marT="18288" marB="18288" anchor="ctr">
                    <a:solidFill>
                      <a:srgbClr val="EEF1F6"/>
                    </a:solidFill>
                  </a:tcPr>
                </a:tc>
                <a:tc>
                  <a:txBody>
                    <a:bodyPr/>
                    <a:lstStyle/>
                    <a:p>
                      <a:pPr algn="ctr">
                        <a:defRPr sz="1200" b="0">
                          <a:solidFill>
                            <a:srgbClr val="0B0B0B"/>
                          </a:solidFill>
                          <a:latin typeface="Calibri"/>
                        </a:defRPr>
                      </a:pPr>
                      <a:r>
                        <a:t>continua</a:t>
                      </a:r>
                    </a:p>
                  </a:txBody>
                  <a:tcPr marL="54864" marR="54864" marT="18288" marB="18288" anchor="ctr">
                    <a:solidFill>
                      <a:srgbClr val="EEF1F6"/>
                    </a:solidFill>
                  </a:tcPr>
                </a:tc>
                <a:tc>
                  <a:txBody>
                    <a:bodyPr/>
                    <a:lstStyle/>
                    <a:p>
                      <a:pPr algn="ctr">
                        <a:defRPr sz="1200" b="0">
                          <a:solidFill>
                            <a:srgbClr val="0B0B0B"/>
                          </a:solidFill>
                          <a:latin typeface="Calibri"/>
                        </a:defRPr>
                      </a:pPr>
                      <a:r>
                        <a:t>K</a:t>
                      </a:r>
                    </a:p>
                  </a:txBody>
                  <a:tcPr marL="54864" marR="54864" marT="18288" marB="18288" anchor="ctr">
                    <a:solidFill>
                      <a:srgbClr val="EEF1F6"/>
                    </a:solidFill>
                  </a:tcPr>
                </a:tc>
              </a:tr>
              <a:tr h="329184">
                <a:tc>
                  <a:txBody>
                    <a:bodyPr/>
                    <a:lstStyle/>
                    <a:p>
                      <a:pPr algn="l">
                        <a:defRPr sz="1200" b="0">
                          <a:solidFill>
                            <a:srgbClr val="0B0B0B"/>
                          </a:solidFill>
                          <a:latin typeface="Calibri"/>
                        </a:defRPr>
                      </a:pPr>
                      <a:r>
                        <a:t>Process temperature</a:t>
                      </a:r>
                    </a:p>
                  </a:txBody>
                  <a:tcPr marL="54864" marR="54864" marT="18288" marB="18288" anchor="ctr">
                    <a:solidFill>
                      <a:srgbClr val="FFFFFF"/>
                    </a:solidFill>
                  </a:tcPr>
                </a:tc>
                <a:tc>
                  <a:txBody>
                    <a:bodyPr/>
                    <a:lstStyle/>
                    <a:p>
                      <a:pPr algn="ctr">
                        <a:defRPr sz="1200" b="0">
                          <a:solidFill>
                            <a:srgbClr val="0B0B0B"/>
                          </a:solidFill>
                          <a:latin typeface="Calibri"/>
                        </a:defRPr>
                      </a:pPr>
                      <a:r>
                        <a:t>continua</a:t>
                      </a:r>
                    </a:p>
                  </a:txBody>
                  <a:tcPr marL="54864" marR="54864" marT="18288" marB="18288" anchor="ctr">
                    <a:solidFill>
                      <a:srgbClr val="FFFFFF"/>
                    </a:solidFill>
                  </a:tcPr>
                </a:tc>
                <a:tc>
                  <a:txBody>
                    <a:bodyPr/>
                    <a:lstStyle/>
                    <a:p>
                      <a:pPr algn="ctr">
                        <a:defRPr sz="1200" b="0">
                          <a:solidFill>
                            <a:srgbClr val="0B0B0B"/>
                          </a:solidFill>
                          <a:latin typeface="Calibri"/>
                        </a:defRPr>
                      </a:pPr>
                      <a:r>
                        <a:t>K</a:t>
                      </a:r>
                    </a:p>
                  </a:txBody>
                  <a:tcPr marL="54864" marR="54864" marT="18288" marB="18288" anchor="ctr">
                    <a:solidFill>
                      <a:srgbClr val="FFFFFF"/>
                    </a:solidFill>
                  </a:tcPr>
                </a:tc>
              </a:tr>
              <a:tr h="329184">
                <a:tc>
                  <a:txBody>
                    <a:bodyPr/>
                    <a:lstStyle/>
                    <a:p>
                      <a:pPr algn="l">
                        <a:defRPr sz="1200" b="0">
                          <a:solidFill>
                            <a:srgbClr val="0B0B0B"/>
                          </a:solidFill>
                          <a:latin typeface="Calibri"/>
                        </a:defRPr>
                      </a:pPr>
                      <a:r>
                        <a:t>Rotational speed</a:t>
                      </a:r>
                    </a:p>
                  </a:txBody>
                  <a:tcPr marL="54864" marR="54864" marT="18288" marB="18288" anchor="ctr">
                    <a:solidFill>
                      <a:srgbClr val="EEF1F6"/>
                    </a:solidFill>
                  </a:tcPr>
                </a:tc>
                <a:tc>
                  <a:txBody>
                    <a:bodyPr/>
                    <a:lstStyle/>
                    <a:p>
                      <a:pPr algn="ctr">
                        <a:defRPr sz="1200" b="0">
                          <a:solidFill>
                            <a:srgbClr val="0B0B0B"/>
                          </a:solidFill>
                          <a:latin typeface="Calibri"/>
                        </a:defRPr>
                      </a:pPr>
                      <a:r>
                        <a:t>entera</a:t>
                      </a:r>
                    </a:p>
                  </a:txBody>
                  <a:tcPr marL="54864" marR="54864" marT="18288" marB="18288" anchor="ctr">
                    <a:solidFill>
                      <a:srgbClr val="EEF1F6"/>
                    </a:solidFill>
                  </a:tcPr>
                </a:tc>
                <a:tc>
                  <a:txBody>
                    <a:bodyPr/>
                    <a:lstStyle/>
                    <a:p>
                      <a:pPr algn="ctr">
                        <a:defRPr sz="1200" b="0">
                          <a:solidFill>
                            <a:srgbClr val="0B0B0B"/>
                          </a:solidFill>
                          <a:latin typeface="Calibri"/>
                        </a:defRPr>
                      </a:pPr>
                      <a:r>
                        <a:t>rpm</a:t>
                      </a:r>
                    </a:p>
                  </a:txBody>
                  <a:tcPr marL="54864" marR="54864" marT="18288" marB="18288" anchor="ctr">
                    <a:solidFill>
                      <a:srgbClr val="EEF1F6"/>
                    </a:solidFill>
                  </a:tcPr>
                </a:tc>
              </a:tr>
              <a:tr h="329184">
                <a:tc>
                  <a:txBody>
                    <a:bodyPr/>
                    <a:lstStyle/>
                    <a:p>
                      <a:pPr algn="l">
                        <a:defRPr sz="1200" b="0">
                          <a:solidFill>
                            <a:srgbClr val="0B0B0B"/>
                          </a:solidFill>
                          <a:latin typeface="Calibri"/>
                        </a:defRPr>
                      </a:pPr>
                      <a:r>
                        <a:t>Torque</a:t>
                      </a:r>
                    </a:p>
                  </a:txBody>
                  <a:tcPr marL="54864" marR="54864" marT="18288" marB="18288" anchor="ctr">
                    <a:solidFill>
                      <a:srgbClr val="FFFFFF"/>
                    </a:solidFill>
                  </a:tcPr>
                </a:tc>
                <a:tc>
                  <a:txBody>
                    <a:bodyPr/>
                    <a:lstStyle/>
                    <a:p>
                      <a:pPr algn="ctr">
                        <a:defRPr sz="1200" b="0">
                          <a:solidFill>
                            <a:srgbClr val="0B0B0B"/>
                          </a:solidFill>
                          <a:latin typeface="Calibri"/>
                        </a:defRPr>
                      </a:pPr>
                      <a:r>
                        <a:t>continua</a:t>
                      </a:r>
                    </a:p>
                  </a:txBody>
                  <a:tcPr marL="54864" marR="54864" marT="18288" marB="18288" anchor="ctr">
                    <a:solidFill>
                      <a:srgbClr val="FFFFFF"/>
                    </a:solidFill>
                  </a:tcPr>
                </a:tc>
                <a:tc>
                  <a:txBody>
                    <a:bodyPr/>
                    <a:lstStyle/>
                    <a:p>
                      <a:pPr algn="ctr">
                        <a:defRPr sz="1200" b="0">
                          <a:solidFill>
                            <a:srgbClr val="0B0B0B"/>
                          </a:solidFill>
                          <a:latin typeface="Calibri"/>
                        </a:defRPr>
                      </a:pPr>
                      <a:r>
                        <a:t>Nm</a:t>
                      </a:r>
                    </a:p>
                  </a:txBody>
                  <a:tcPr marL="54864" marR="54864" marT="18288" marB="18288" anchor="ctr">
                    <a:solidFill>
                      <a:srgbClr val="FFFFFF"/>
                    </a:solidFill>
                  </a:tcPr>
                </a:tc>
              </a:tr>
              <a:tr h="329184">
                <a:tc>
                  <a:txBody>
                    <a:bodyPr/>
                    <a:lstStyle/>
                    <a:p>
                      <a:pPr algn="l">
                        <a:defRPr sz="1200" b="0">
                          <a:solidFill>
                            <a:srgbClr val="0B0B0B"/>
                          </a:solidFill>
                          <a:latin typeface="Calibri"/>
                        </a:defRPr>
                      </a:pPr>
                      <a:r>
                        <a:t>Tool wear</a:t>
                      </a:r>
                    </a:p>
                  </a:txBody>
                  <a:tcPr marL="54864" marR="54864" marT="18288" marB="18288" anchor="ctr">
                    <a:solidFill>
                      <a:srgbClr val="EEF1F6"/>
                    </a:solidFill>
                  </a:tcPr>
                </a:tc>
                <a:tc>
                  <a:txBody>
                    <a:bodyPr/>
                    <a:lstStyle/>
                    <a:p>
                      <a:pPr algn="ctr">
                        <a:defRPr sz="1200" b="0">
                          <a:solidFill>
                            <a:srgbClr val="0B0B0B"/>
                          </a:solidFill>
                          <a:latin typeface="Calibri"/>
                        </a:defRPr>
                      </a:pPr>
                      <a:r>
                        <a:t>entera</a:t>
                      </a:r>
                    </a:p>
                  </a:txBody>
                  <a:tcPr marL="54864" marR="54864" marT="18288" marB="18288" anchor="ctr">
                    <a:solidFill>
                      <a:srgbClr val="EEF1F6"/>
                    </a:solidFill>
                  </a:tcPr>
                </a:tc>
                <a:tc>
                  <a:txBody>
                    <a:bodyPr/>
                    <a:lstStyle/>
                    <a:p>
                      <a:pPr algn="ctr">
                        <a:defRPr sz="1200" b="0">
                          <a:solidFill>
                            <a:srgbClr val="0B0B0B"/>
                          </a:solidFill>
                          <a:latin typeface="Calibri"/>
                        </a:defRPr>
                      </a:pPr>
                      <a:r>
                        <a:t>min</a:t>
                      </a:r>
                    </a:p>
                  </a:txBody>
                  <a:tcPr marL="54864" marR="54864" marT="18288" marB="18288" anchor="ctr">
                    <a:solidFill>
                      <a:srgbClr val="EEF1F6"/>
                    </a:solidFill>
                  </a:tcPr>
                </a:tc>
              </a:tr>
            </a:tbl>
          </a:graphicData>
        </a:graphic>
      </p:graphicFrame>
      <p:graphicFrame>
        <p:nvGraphicFramePr>
          <p:cNvPr id="20" name="Table 19"/>
          <p:cNvGraphicFramePr>
            <a:graphicFrameLocks noGrp="1"/>
          </p:cNvGraphicFramePr>
          <p:nvPr/>
        </p:nvGraphicFramePr>
        <p:xfrm>
          <a:off x="6400800" y="2743200"/>
          <a:ext cx="5120640" cy="1975104"/>
        </p:xfrm>
        <a:graphic>
          <a:graphicData uri="http://schemas.openxmlformats.org/drawingml/2006/table">
            <a:tbl>
              <a:tblPr firstRow="1" bandRow="1">
                <a:tableStyleId>{5C22544A-7EE6-4342-B048-85BDC9FD1C3A}</a:tableStyleId>
              </a:tblPr>
              <a:tblGrid>
                <a:gridCol w="822960"/>
                <a:gridCol w="1828800"/>
                <a:gridCol w="2468880"/>
              </a:tblGrid>
              <a:tr h="329184">
                <a:tc>
                  <a:txBody>
                    <a:bodyPr/>
                    <a:lstStyle/>
                    <a:p>
                      <a:pPr algn="l">
                        <a:defRPr sz="1200" b="1">
                          <a:solidFill>
                            <a:srgbClr val="FFFFFF"/>
                          </a:solidFill>
                          <a:latin typeface="Calibri"/>
                        </a:defRPr>
                      </a:pPr>
                      <a:r>
                        <a:t>Clase</a:t>
                      </a:r>
                    </a:p>
                  </a:txBody>
                  <a:tcPr marL="54864" marR="54864" marT="18288" marB="18288" anchor="ctr">
                    <a:solidFill>
                      <a:srgbClr val="1C5CAB"/>
                    </a:solidFill>
                  </a:tcPr>
                </a:tc>
                <a:tc>
                  <a:txBody>
                    <a:bodyPr/>
                    <a:lstStyle/>
                    <a:p>
                      <a:pPr algn="ctr">
                        <a:defRPr sz="1200" b="1">
                          <a:solidFill>
                            <a:srgbClr val="FFFFFF"/>
                          </a:solidFill>
                          <a:latin typeface="Calibri"/>
                        </a:defRPr>
                      </a:pPr>
                      <a:r>
                        <a:t>Modo de falla</a:t>
                      </a:r>
                    </a:p>
                  </a:txBody>
                  <a:tcPr marL="54864" marR="54864" marT="18288" marB="18288" anchor="ctr">
                    <a:solidFill>
                      <a:srgbClr val="1C5CAB"/>
                    </a:solidFill>
                  </a:tcPr>
                </a:tc>
                <a:tc>
                  <a:txBody>
                    <a:bodyPr/>
                    <a:lstStyle/>
                    <a:p>
                      <a:pPr algn="ctr">
                        <a:defRPr sz="1200" b="1">
                          <a:solidFill>
                            <a:srgbClr val="FFFFFF"/>
                          </a:solidFill>
                          <a:latin typeface="Calibri"/>
                        </a:defRPr>
                      </a:pPr>
                      <a:r>
                        <a:t>Mecanismo físico</a:t>
                      </a:r>
                    </a:p>
                  </a:txBody>
                  <a:tcPr marL="54864" marR="54864" marT="18288" marB="18288" anchor="ctr">
                    <a:solidFill>
                      <a:srgbClr val="1C5CAB"/>
                    </a:solidFill>
                  </a:tcPr>
                </a:tc>
              </a:tr>
              <a:tr h="329184">
                <a:tc>
                  <a:txBody>
                    <a:bodyPr/>
                    <a:lstStyle/>
                    <a:p>
                      <a:pPr algn="l">
                        <a:defRPr sz="1200" b="0">
                          <a:solidFill>
                            <a:srgbClr val="0B0B0B"/>
                          </a:solidFill>
                          <a:latin typeface="Calibri"/>
                        </a:defRPr>
                      </a:pPr>
                      <a:r>
                        <a:t>Normal</a:t>
                      </a:r>
                    </a:p>
                  </a:txBody>
                  <a:tcPr marL="54864" marR="54864" marT="18288" marB="18288" anchor="ctr">
                    <a:solidFill>
                      <a:srgbClr val="FFFFFF"/>
                    </a:solidFill>
                  </a:tcPr>
                </a:tc>
                <a:tc>
                  <a:txBody>
                    <a:bodyPr/>
                    <a:lstStyle/>
                    <a:p>
                      <a:pPr algn="ctr">
                        <a:defRPr sz="1200" b="0">
                          <a:solidFill>
                            <a:srgbClr val="0B0B0B"/>
                          </a:solidFill>
                          <a:latin typeface="Calibri"/>
                        </a:defRPr>
                      </a:pPr>
                      <a:r>
                        <a:t>Sin falla</a:t>
                      </a:r>
                    </a:p>
                  </a:txBody>
                  <a:tcPr marL="54864" marR="54864" marT="18288" marB="18288" anchor="ctr">
                    <a:solidFill>
                      <a:srgbClr val="FFFFFF"/>
                    </a:solidFill>
                  </a:tcPr>
                </a:tc>
                <a:tc>
                  <a:txBody>
                    <a:bodyPr/>
                    <a:lstStyle/>
                    <a:p>
                      <a:pPr algn="ctr">
                        <a:defRPr sz="1200" b="0">
                          <a:solidFill>
                            <a:srgbClr val="0B0B0B"/>
                          </a:solidFill>
                          <a:latin typeface="Calibri"/>
                        </a:defRPr>
                      </a:pPr>
                      <a:r>
                        <a:t>—</a:t>
                      </a:r>
                    </a:p>
                  </a:txBody>
                  <a:tcPr marL="54864" marR="54864" marT="18288" marB="18288" anchor="ctr">
                    <a:solidFill>
                      <a:srgbClr val="FFFFFF"/>
                    </a:solidFill>
                  </a:tcPr>
                </a:tc>
              </a:tr>
              <a:tr h="329184">
                <a:tc>
                  <a:txBody>
                    <a:bodyPr/>
                    <a:lstStyle/>
                    <a:p>
                      <a:pPr algn="l">
                        <a:defRPr sz="1200" b="0">
                          <a:solidFill>
                            <a:srgbClr val="0B0B0B"/>
                          </a:solidFill>
                          <a:latin typeface="Calibri"/>
                        </a:defRPr>
                      </a:pPr>
                      <a:r>
                        <a:t>TWF</a:t>
                      </a:r>
                    </a:p>
                  </a:txBody>
                  <a:tcPr marL="54864" marR="54864" marT="18288" marB="18288" anchor="ctr">
                    <a:solidFill>
                      <a:srgbClr val="EEF1F6"/>
                    </a:solidFill>
                  </a:tcPr>
                </a:tc>
                <a:tc>
                  <a:txBody>
                    <a:bodyPr/>
                    <a:lstStyle/>
                    <a:p>
                      <a:pPr algn="ctr">
                        <a:defRPr sz="1200" b="0">
                          <a:solidFill>
                            <a:srgbClr val="0B0B0B"/>
                          </a:solidFill>
                          <a:latin typeface="Calibri"/>
                        </a:defRPr>
                      </a:pPr>
                      <a:r>
                        <a:t>Desgaste de herramienta</a:t>
                      </a:r>
                    </a:p>
                  </a:txBody>
                  <a:tcPr marL="54864" marR="54864" marT="18288" marB="18288" anchor="ctr">
                    <a:solidFill>
                      <a:srgbClr val="EEF1F6"/>
                    </a:solidFill>
                  </a:tcPr>
                </a:tc>
                <a:tc>
                  <a:txBody>
                    <a:bodyPr/>
                    <a:lstStyle/>
                    <a:p>
                      <a:pPr algn="ctr">
                        <a:defRPr sz="1200" b="0">
                          <a:solidFill>
                            <a:srgbClr val="0B0B0B"/>
                          </a:solidFill>
                          <a:latin typeface="Calibri"/>
                        </a:defRPr>
                      </a:pPr>
                      <a:r>
                        <a:t>Desgaste acumulado sobre umbral</a:t>
                      </a:r>
                    </a:p>
                  </a:txBody>
                  <a:tcPr marL="54864" marR="54864" marT="18288" marB="18288" anchor="ctr">
                    <a:solidFill>
                      <a:srgbClr val="EEF1F6"/>
                    </a:solidFill>
                  </a:tcPr>
                </a:tc>
              </a:tr>
              <a:tr h="329184">
                <a:tc>
                  <a:txBody>
                    <a:bodyPr/>
                    <a:lstStyle/>
                    <a:p>
                      <a:pPr algn="l">
                        <a:defRPr sz="1200" b="0">
                          <a:solidFill>
                            <a:srgbClr val="0B0B0B"/>
                          </a:solidFill>
                          <a:latin typeface="Calibri"/>
                        </a:defRPr>
                      </a:pPr>
                      <a:r>
                        <a:t>HDF</a:t>
                      </a:r>
                    </a:p>
                  </a:txBody>
                  <a:tcPr marL="54864" marR="54864" marT="18288" marB="18288" anchor="ctr">
                    <a:solidFill>
                      <a:srgbClr val="FFFFFF"/>
                    </a:solidFill>
                  </a:tcPr>
                </a:tc>
                <a:tc>
                  <a:txBody>
                    <a:bodyPr/>
                    <a:lstStyle/>
                    <a:p>
                      <a:pPr algn="ctr">
                        <a:defRPr sz="1200" b="0">
                          <a:solidFill>
                            <a:srgbClr val="0B0B0B"/>
                          </a:solidFill>
                          <a:latin typeface="Calibri"/>
                        </a:defRPr>
                      </a:pPr>
                      <a:r>
                        <a:t>Disipación de calor</a:t>
                      </a:r>
                    </a:p>
                  </a:txBody>
                  <a:tcPr marL="54864" marR="54864" marT="18288" marB="18288" anchor="ctr">
                    <a:solidFill>
                      <a:srgbClr val="FFFFFF"/>
                    </a:solidFill>
                  </a:tcPr>
                </a:tc>
                <a:tc>
                  <a:txBody>
                    <a:bodyPr/>
                    <a:lstStyle/>
                    <a:p>
                      <a:pPr algn="ctr">
                        <a:defRPr sz="1200" b="0">
                          <a:solidFill>
                            <a:srgbClr val="0B0B0B"/>
                          </a:solidFill>
                          <a:latin typeface="Calibri"/>
                        </a:defRPr>
                      </a:pPr>
                      <a:r>
                        <a:t>Diferencial térmico insuficiente</a:t>
                      </a:r>
                    </a:p>
                  </a:txBody>
                  <a:tcPr marL="54864" marR="54864" marT="18288" marB="18288" anchor="ctr">
                    <a:solidFill>
                      <a:srgbClr val="FFFFFF"/>
                    </a:solidFill>
                  </a:tcPr>
                </a:tc>
              </a:tr>
              <a:tr h="329184">
                <a:tc>
                  <a:txBody>
                    <a:bodyPr/>
                    <a:lstStyle/>
                    <a:p>
                      <a:pPr algn="l">
                        <a:defRPr sz="1200" b="0">
                          <a:solidFill>
                            <a:srgbClr val="0B0B0B"/>
                          </a:solidFill>
                          <a:latin typeface="Calibri"/>
                        </a:defRPr>
                      </a:pPr>
                      <a:r>
                        <a:t>PWF</a:t>
                      </a:r>
                    </a:p>
                  </a:txBody>
                  <a:tcPr marL="54864" marR="54864" marT="18288" marB="18288" anchor="ctr">
                    <a:solidFill>
                      <a:srgbClr val="EEF1F6"/>
                    </a:solidFill>
                  </a:tcPr>
                </a:tc>
                <a:tc>
                  <a:txBody>
                    <a:bodyPr/>
                    <a:lstStyle/>
                    <a:p>
                      <a:pPr algn="ctr">
                        <a:defRPr sz="1200" b="0">
                          <a:solidFill>
                            <a:srgbClr val="0B0B0B"/>
                          </a:solidFill>
                          <a:latin typeface="Calibri"/>
                        </a:defRPr>
                      </a:pPr>
                      <a:r>
                        <a:t>Potencia</a:t>
                      </a:r>
                    </a:p>
                  </a:txBody>
                  <a:tcPr marL="54864" marR="54864" marT="18288" marB="18288" anchor="ctr">
                    <a:solidFill>
                      <a:srgbClr val="EEF1F6"/>
                    </a:solidFill>
                  </a:tcPr>
                </a:tc>
                <a:tc>
                  <a:txBody>
                    <a:bodyPr/>
                    <a:lstStyle/>
                    <a:p>
                      <a:pPr algn="ctr">
                        <a:defRPr sz="1200" b="0">
                          <a:solidFill>
                            <a:srgbClr val="0B0B0B"/>
                          </a:solidFill>
                          <a:latin typeface="Calibri"/>
                        </a:defRPr>
                      </a:pPr>
                      <a:r>
                        <a:t>Torque × velocidad fuera de rango</a:t>
                      </a:r>
                    </a:p>
                  </a:txBody>
                  <a:tcPr marL="54864" marR="54864" marT="18288" marB="18288" anchor="ctr">
                    <a:solidFill>
                      <a:srgbClr val="EEF1F6"/>
                    </a:solidFill>
                  </a:tcPr>
                </a:tc>
              </a:tr>
              <a:tr h="329184">
                <a:tc>
                  <a:txBody>
                    <a:bodyPr/>
                    <a:lstStyle/>
                    <a:p>
                      <a:pPr algn="l">
                        <a:defRPr sz="1200" b="0">
                          <a:solidFill>
                            <a:srgbClr val="0B0B0B"/>
                          </a:solidFill>
                          <a:latin typeface="Calibri"/>
                        </a:defRPr>
                      </a:pPr>
                      <a:r>
                        <a:t>OSF</a:t>
                      </a:r>
                    </a:p>
                  </a:txBody>
                  <a:tcPr marL="54864" marR="54864" marT="18288" marB="18288" anchor="ctr">
                    <a:solidFill>
                      <a:srgbClr val="FFFFFF"/>
                    </a:solidFill>
                  </a:tcPr>
                </a:tc>
                <a:tc>
                  <a:txBody>
                    <a:bodyPr/>
                    <a:lstStyle/>
                    <a:p>
                      <a:pPr algn="ctr">
                        <a:defRPr sz="1200" b="0">
                          <a:solidFill>
                            <a:srgbClr val="0B0B0B"/>
                          </a:solidFill>
                          <a:latin typeface="Calibri"/>
                        </a:defRPr>
                      </a:pPr>
                      <a:r>
                        <a:t>Sobreesfuerzo</a:t>
                      </a:r>
                    </a:p>
                  </a:txBody>
                  <a:tcPr marL="54864" marR="54864" marT="18288" marB="18288" anchor="ctr">
                    <a:solidFill>
                      <a:srgbClr val="FFFFFF"/>
                    </a:solidFill>
                  </a:tcPr>
                </a:tc>
                <a:tc>
                  <a:txBody>
                    <a:bodyPr/>
                    <a:lstStyle/>
                    <a:p>
                      <a:pPr algn="ctr">
                        <a:defRPr sz="1200" b="0">
                          <a:solidFill>
                            <a:srgbClr val="0B0B0B"/>
                          </a:solidFill>
                          <a:latin typeface="Calibri"/>
                        </a:defRPr>
                      </a:pPr>
                      <a:r>
                        <a:t>Desgaste × torque sobre umbral</a:t>
                      </a:r>
                    </a:p>
                  </a:txBody>
                  <a:tcPr marL="54864" marR="54864" marT="18288" marB="18288" anchor="ctr">
                    <a:solidFill>
                      <a:srgbClr val="FFFFFF"/>
                    </a:solidFill>
                  </a:tcPr>
                </a:tc>
              </a:tr>
            </a:tbl>
          </a:graphicData>
        </a:graphic>
      </p:graphicFrame>
      <p:sp>
        <p:nvSpPr>
          <p:cNvPr id="21" name="TextBox 20"/>
          <p:cNvSpPr txBox="1"/>
          <p:nvPr/>
        </p:nvSpPr>
        <p:spPr>
          <a:xfrm>
            <a:off x="640080" y="5257800"/>
            <a:ext cx="10881360" cy="731520"/>
          </a:xfrm>
          <a:prstGeom prst="rect">
            <a:avLst/>
          </a:prstGeom>
          <a:noFill/>
        </p:spPr>
        <p:txBody>
          <a:bodyPr wrap="square" anchor="t" lIns="45720" rIns="45720" tIns="27432" bIns="27432">
            <a:spAutoFit/>
          </a:bodyPr>
          <a:lstStyle/>
          <a:p>
            <a:pPr algn="l">
              <a:lnSpc>
                <a:spcPct val="110000"/>
              </a:lnSpc>
              <a:defRPr sz="1100" b="0" i="0">
                <a:solidFill>
                  <a:srgbClr val="52514E"/>
                </a:solidFill>
                <a:latin typeface="Calibri"/>
              </a:defRPr>
            </a:pPr>
            <a:r>
              <a:t>Fuente: UCI Machine Learning Repository, id 601, CC BY 4.0. Descarga con ucimlrepo, bytes conservados, SHA-256 registrado (ffc3c28f…9b5a18). Los identificadores UID y Product ID se conservan para trazabilidad, nunca como predictores.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1170432"/>
            <a:ext cx="548640" cy="45720"/>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7315200" cy="274320"/>
          </a:xfrm>
          <a:prstGeom prst="rect">
            <a:avLst/>
          </a:prstGeom>
          <a:noFill/>
        </p:spPr>
        <p:txBody>
          <a:bodyPr wrap="square" anchor="t" lIns="45720" rIns="45720" tIns="27432" bIns="27432">
            <a:spAutoFit/>
          </a:bodyPr>
          <a:lstStyle/>
          <a:p>
            <a:pPr algn="l">
              <a:lnSpc>
                <a:spcPct val="110000"/>
              </a:lnSpc>
              <a:defRPr sz="1100" b="1" i="0">
                <a:solidFill>
                  <a:srgbClr val="EB6834"/>
                </a:solidFill>
                <a:latin typeface="Calibri"/>
              </a:defRPr>
            </a:pPr>
            <a:r>
              <a:t>APÉNDICE H</a:t>
            </a:r>
          </a:p>
        </p:txBody>
      </p:sp>
      <p:sp>
        <p:nvSpPr>
          <p:cNvPr id="5" name="TextBox 4"/>
          <p:cNvSpPr txBox="1"/>
          <p:nvPr/>
        </p:nvSpPr>
        <p:spPr>
          <a:xfrm>
            <a:off x="640080" y="566928"/>
            <a:ext cx="10058400" cy="640080"/>
          </a:xfrm>
          <a:prstGeom prst="rect">
            <a:avLst/>
          </a:prstGeom>
          <a:noFill/>
        </p:spPr>
        <p:txBody>
          <a:bodyPr wrap="square" anchor="t" lIns="45720" rIns="45720" tIns="27432" bIns="27432">
            <a:spAutoFit/>
          </a:bodyPr>
          <a:lstStyle/>
          <a:p>
            <a:pPr algn="l">
              <a:lnSpc>
                <a:spcPct val="110000"/>
              </a:lnSpc>
              <a:defRPr sz="2400" b="1" i="0">
                <a:solidFill>
                  <a:srgbClr val="0F2A4A"/>
                </a:solidFill>
                <a:latin typeface="Calibri"/>
              </a:defRPr>
            </a:pPr>
            <a:r>
              <a:t>Particiones y viabilidad de calibración por alpha</a:t>
            </a:r>
          </a:p>
        </p:txBody>
      </p:sp>
      <p:sp>
        <p:nvSpPr>
          <p:cNvPr id="6" name="Rectangle 5"/>
          <p:cNvSpPr/>
          <p:nvPr/>
        </p:nvSpPr>
        <p:spPr>
          <a:xfrm>
            <a:off x="0" y="6537960"/>
            <a:ext cx="12191695" cy="320040"/>
          </a:xfrm>
          <a:prstGeom prst="rect">
            <a:avLst/>
          </a:prstGeom>
          <a:solidFill>
            <a:srgbClr val="0F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574536"/>
            <a:ext cx="7315200" cy="256032"/>
          </a:xfrm>
          <a:prstGeom prst="rect">
            <a:avLst/>
          </a:prstGeom>
          <a:noFill/>
        </p:spPr>
        <p:txBody>
          <a:bodyPr wrap="square" anchor="t" lIns="45720" rIns="45720" tIns="27432" bIns="27432">
            <a:spAutoFit/>
          </a:bodyPr>
          <a:lstStyle/>
          <a:p>
            <a:pPr algn="l">
              <a:lnSpc>
                <a:spcPct val="110000"/>
              </a:lnSpc>
              <a:defRPr sz="900" b="0" i="0">
                <a:solidFill>
                  <a:srgbClr val="C9D6E8"/>
                </a:solidFill>
                <a:latin typeface="Calibri"/>
              </a:defRPr>
            </a:pPr>
            <a:r>
              <a:t>Predicción conforme y abstención selectiva · AI4I 2020</a:t>
            </a:r>
          </a:p>
        </p:txBody>
      </p:sp>
      <p:sp>
        <p:nvSpPr>
          <p:cNvPr id="8" name="TextBox 7"/>
          <p:cNvSpPr txBox="1"/>
          <p:nvPr/>
        </p:nvSpPr>
        <p:spPr>
          <a:xfrm>
            <a:off x="11155680" y="6574536"/>
            <a:ext cx="457200" cy="256032"/>
          </a:xfrm>
          <a:prstGeom prst="rect">
            <a:avLst/>
          </a:prstGeom>
          <a:noFill/>
        </p:spPr>
        <p:txBody>
          <a:bodyPr wrap="square" anchor="t" lIns="45720" rIns="45720" tIns="27432" bIns="27432">
            <a:spAutoFit/>
          </a:bodyPr>
          <a:lstStyle/>
          <a:p>
            <a:pPr algn="r">
              <a:lnSpc>
                <a:spcPct val="110000"/>
              </a:lnSpc>
              <a:defRPr sz="900" b="0" i="0">
                <a:solidFill>
                  <a:srgbClr val="C9D6E8"/>
                </a:solidFill>
                <a:latin typeface="Calibri"/>
              </a:defRPr>
            </a:pPr>
            <a:r>
              <a:t>18</a:t>
            </a:r>
          </a:p>
        </p:txBody>
      </p:sp>
      <p:graphicFrame>
        <p:nvGraphicFramePr>
          <p:cNvPr id="9" name="Table 8"/>
          <p:cNvGraphicFramePr>
            <a:graphicFrameLocks noGrp="1"/>
          </p:cNvGraphicFramePr>
          <p:nvPr/>
        </p:nvGraphicFramePr>
        <p:xfrm>
          <a:off x="640080" y="1417320"/>
          <a:ext cx="4937760" cy="1865376"/>
        </p:xfrm>
        <a:graphic>
          <a:graphicData uri="http://schemas.openxmlformats.org/drawingml/2006/table">
            <a:tbl>
              <a:tblPr firstRow="1" bandRow="1">
                <a:tableStyleId>{5C22544A-7EE6-4342-B048-85BDC9FD1C3A}</a:tableStyleId>
              </a:tblPr>
              <a:tblGrid>
                <a:gridCol w="1097280"/>
                <a:gridCol w="960120"/>
                <a:gridCol w="960120"/>
                <a:gridCol w="960120"/>
                <a:gridCol w="960120"/>
              </a:tblGrid>
              <a:tr h="310896">
                <a:tc>
                  <a:txBody>
                    <a:bodyPr/>
                    <a:lstStyle/>
                    <a:p>
                      <a:pPr algn="l">
                        <a:defRPr sz="1200" b="1">
                          <a:solidFill>
                            <a:srgbClr val="FFFFFF"/>
                          </a:solidFill>
                          <a:latin typeface="Calibri"/>
                        </a:defRPr>
                      </a:pPr>
                      <a:r>
                        <a:t>Clase</a:t>
                      </a:r>
                    </a:p>
                  </a:txBody>
                  <a:tcPr marL="54864" marR="54864" marT="18288" marB="18288" anchor="ctr">
                    <a:solidFill>
                      <a:srgbClr val="1C5CAB"/>
                    </a:solidFill>
                  </a:tcPr>
                </a:tc>
                <a:tc>
                  <a:txBody>
                    <a:bodyPr/>
                    <a:lstStyle/>
                    <a:p>
                      <a:pPr algn="ctr">
                        <a:defRPr sz="1200" b="1">
                          <a:solidFill>
                            <a:srgbClr val="FFFFFF"/>
                          </a:solidFill>
                          <a:latin typeface="Calibri"/>
                        </a:defRPr>
                      </a:pPr>
                      <a:r>
                        <a:t>Entren.</a:t>
                      </a:r>
                    </a:p>
                  </a:txBody>
                  <a:tcPr marL="54864" marR="54864" marT="18288" marB="18288" anchor="ctr">
                    <a:solidFill>
                      <a:srgbClr val="1C5CAB"/>
                    </a:solidFill>
                  </a:tcPr>
                </a:tc>
                <a:tc>
                  <a:txBody>
                    <a:bodyPr/>
                    <a:lstStyle/>
                    <a:p>
                      <a:pPr algn="ctr">
                        <a:defRPr sz="1200" b="1">
                          <a:solidFill>
                            <a:srgbClr val="FFFFFF"/>
                          </a:solidFill>
                          <a:latin typeface="Calibri"/>
                        </a:defRPr>
                      </a:pPr>
                      <a:r>
                        <a:t>Calib.</a:t>
                      </a:r>
                    </a:p>
                  </a:txBody>
                  <a:tcPr marL="54864" marR="54864" marT="18288" marB="18288" anchor="ctr">
                    <a:solidFill>
                      <a:srgbClr val="1C5CAB"/>
                    </a:solidFill>
                  </a:tcPr>
                </a:tc>
                <a:tc>
                  <a:txBody>
                    <a:bodyPr/>
                    <a:lstStyle/>
                    <a:p>
                      <a:pPr algn="ctr">
                        <a:defRPr sz="1200" b="1">
                          <a:solidFill>
                            <a:srgbClr val="FFFFFF"/>
                          </a:solidFill>
                          <a:latin typeface="Calibri"/>
                        </a:defRPr>
                      </a:pPr>
                      <a:r>
                        <a:t>Prueba</a:t>
                      </a:r>
                    </a:p>
                  </a:txBody>
                  <a:tcPr marL="54864" marR="54864" marT="18288" marB="18288" anchor="ctr">
                    <a:solidFill>
                      <a:srgbClr val="1C5CAB"/>
                    </a:solidFill>
                  </a:tcPr>
                </a:tc>
                <a:tc>
                  <a:txBody>
                    <a:bodyPr/>
                    <a:lstStyle/>
                    <a:p>
                      <a:pPr algn="ctr">
                        <a:defRPr sz="1200" b="1">
                          <a:solidFill>
                            <a:srgbClr val="FFFFFF"/>
                          </a:solidFill>
                          <a:latin typeface="Calibri"/>
                        </a:defRPr>
                      </a:pPr>
                      <a:r>
                        <a:t>Total</a:t>
                      </a:r>
                    </a:p>
                  </a:txBody>
                  <a:tcPr marL="54864" marR="54864" marT="18288" marB="18288" anchor="ctr">
                    <a:solidFill>
                      <a:srgbClr val="1C5CAB"/>
                    </a:solidFill>
                  </a:tcPr>
                </a:tc>
              </a:tr>
              <a:tr h="310896">
                <a:tc>
                  <a:txBody>
                    <a:bodyPr/>
                    <a:lstStyle/>
                    <a:p>
                      <a:pPr algn="l">
                        <a:defRPr sz="1200" b="1">
                          <a:solidFill>
                            <a:srgbClr val="0B0B0B"/>
                          </a:solidFill>
                          <a:latin typeface="Calibri"/>
                        </a:defRPr>
                      </a:pPr>
                      <a:r>
                        <a:t>Normal</a:t>
                      </a:r>
                    </a:p>
                  </a:txBody>
                  <a:tcPr marL="54864" marR="54864" marT="18288" marB="18288" anchor="ctr">
                    <a:solidFill>
                      <a:srgbClr val="FFFFFF"/>
                    </a:solidFill>
                  </a:tcPr>
                </a:tc>
                <a:tc>
                  <a:txBody>
                    <a:bodyPr/>
                    <a:lstStyle/>
                    <a:p>
                      <a:pPr algn="ctr">
                        <a:defRPr sz="1200" b="0">
                          <a:solidFill>
                            <a:srgbClr val="0B0B0B"/>
                          </a:solidFill>
                          <a:latin typeface="Calibri"/>
                        </a:defRPr>
                      </a:pPr>
                      <a:r>
                        <a:t>4 821</a:t>
                      </a:r>
                    </a:p>
                  </a:txBody>
                  <a:tcPr marL="54864" marR="54864" marT="18288" marB="18288" anchor="ctr">
                    <a:solidFill>
                      <a:srgbClr val="FFFFFF"/>
                    </a:solidFill>
                  </a:tcPr>
                </a:tc>
                <a:tc>
                  <a:txBody>
                    <a:bodyPr/>
                    <a:lstStyle/>
                    <a:p>
                      <a:pPr algn="ctr">
                        <a:defRPr sz="1200" b="0">
                          <a:solidFill>
                            <a:srgbClr val="0B0B0B"/>
                          </a:solidFill>
                          <a:latin typeface="Calibri"/>
                        </a:defRPr>
                      </a:pPr>
                      <a:r>
                        <a:t>2 893</a:t>
                      </a:r>
                    </a:p>
                  </a:txBody>
                  <a:tcPr marL="54864" marR="54864" marT="18288" marB="18288" anchor="ctr">
                    <a:solidFill>
                      <a:srgbClr val="FFFFFF"/>
                    </a:solidFill>
                  </a:tcPr>
                </a:tc>
                <a:tc>
                  <a:txBody>
                    <a:bodyPr/>
                    <a:lstStyle/>
                    <a:p>
                      <a:pPr algn="ctr">
                        <a:defRPr sz="1200" b="0">
                          <a:solidFill>
                            <a:srgbClr val="0B0B0B"/>
                          </a:solidFill>
                          <a:latin typeface="Calibri"/>
                        </a:defRPr>
                      </a:pPr>
                      <a:r>
                        <a:t>1 929</a:t>
                      </a:r>
                    </a:p>
                  </a:txBody>
                  <a:tcPr marL="54864" marR="54864" marT="18288" marB="18288" anchor="ctr">
                    <a:solidFill>
                      <a:srgbClr val="FFFFFF"/>
                    </a:solidFill>
                  </a:tcPr>
                </a:tc>
                <a:tc>
                  <a:txBody>
                    <a:bodyPr/>
                    <a:lstStyle/>
                    <a:p>
                      <a:pPr algn="ctr">
                        <a:defRPr sz="1200" b="0">
                          <a:solidFill>
                            <a:srgbClr val="0B0B0B"/>
                          </a:solidFill>
                          <a:latin typeface="Calibri"/>
                        </a:defRPr>
                      </a:pPr>
                      <a:r>
                        <a:t>9 643</a:t>
                      </a:r>
                    </a:p>
                  </a:txBody>
                  <a:tcPr marL="54864" marR="54864" marT="18288" marB="18288" anchor="ctr">
                    <a:solidFill>
                      <a:srgbClr val="FFFFFF"/>
                    </a:solidFill>
                  </a:tcPr>
                </a:tc>
              </a:tr>
              <a:tr h="310896">
                <a:tc>
                  <a:txBody>
                    <a:bodyPr/>
                    <a:lstStyle/>
                    <a:p>
                      <a:pPr algn="l">
                        <a:defRPr sz="1200" b="1">
                          <a:solidFill>
                            <a:srgbClr val="0B0B0B"/>
                          </a:solidFill>
                          <a:latin typeface="Calibri"/>
                        </a:defRPr>
                      </a:pPr>
                      <a:r>
                        <a:t>TWF</a:t>
                      </a:r>
                    </a:p>
                  </a:txBody>
                  <a:tcPr marL="54864" marR="54864" marT="18288" marB="18288" anchor="ctr">
                    <a:solidFill>
                      <a:srgbClr val="FBE3D8"/>
                    </a:solidFill>
                  </a:tcPr>
                </a:tc>
                <a:tc>
                  <a:txBody>
                    <a:bodyPr/>
                    <a:lstStyle/>
                    <a:p>
                      <a:pPr algn="ctr">
                        <a:defRPr sz="1200" b="0">
                          <a:solidFill>
                            <a:srgbClr val="0B0B0B"/>
                          </a:solidFill>
                          <a:latin typeface="Calibri"/>
                        </a:defRPr>
                      </a:pPr>
                      <a:r>
                        <a:t>23</a:t>
                      </a:r>
                    </a:p>
                  </a:txBody>
                  <a:tcPr marL="54864" marR="54864" marT="18288" marB="18288" anchor="ctr">
                    <a:solidFill>
                      <a:srgbClr val="FBE3D8"/>
                    </a:solidFill>
                  </a:tcPr>
                </a:tc>
                <a:tc>
                  <a:txBody>
                    <a:bodyPr/>
                    <a:lstStyle/>
                    <a:p>
                      <a:pPr algn="ctr">
                        <a:defRPr sz="1200" b="0">
                          <a:solidFill>
                            <a:srgbClr val="0B0B0B"/>
                          </a:solidFill>
                          <a:latin typeface="Calibri"/>
                        </a:defRPr>
                      </a:pPr>
                      <a:r>
                        <a:t>14</a:t>
                      </a:r>
                    </a:p>
                  </a:txBody>
                  <a:tcPr marL="54864" marR="54864" marT="18288" marB="18288" anchor="ctr">
                    <a:solidFill>
                      <a:srgbClr val="FBE3D8"/>
                    </a:solidFill>
                  </a:tcPr>
                </a:tc>
                <a:tc>
                  <a:txBody>
                    <a:bodyPr/>
                    <a:lstStyle/>
                    <a:p>
                      <a:pPr algn="ctr">
                        <a:defRPr sz="1200" b="0">
                          <a:solidFill>
                            <a:srgbClr val="0B0B0B"/>
                          </a:solidFill>
                          <a:latin typeface="Calibri"/>
                        </a:defRPr>
                      </a:pPr>
                      <a:r>
                        <a:t>9</a:t>
                      </a:r>
                    </a:p>
                  </a:txBody>
                  <a:tcPr marL="54864" marR="54864" marT="18288" marB="18288" anchor="ctr">
                    <a:solidFill>
                      <a:srgbClr val="FBE3D8"/>
                    </a:solidFill>
                  </a:tcPr>
                </a:tc>
                <a:tc>
                  <a:txBody>
                    <a:bodyPr/>
                    <a:lstStyle/>
                    <a:p>
                      <a:pPr algn="ctr">
                        <a:defRPr sz="1200" b="0">
                          <a:solidFill>
                            <a:srgbClr val="0B0B0B"/>
                          </a:solidFill>
                          <a:latin typeface="Calibri"/>
                        </a:defRPr>
                      </a:pPr>
                      <a:r>
                        <a:t>46</a:t>
                      </a:r>
                    </a:p>
                  </a:txBody>
                  <a:tcPr marL="54864" marR="54864" marT="18288" marB="18288" anchor="ctr">
                    <a:solidFill>
                      <a:srgbClr val="FBE3D8"/>
                    </a:solidFill>
                  </a:tcPr>
                </a:tc>
              </a:tr>
              <a:tr h="310896">
                <a:tc>
                  <a:txBody>
                    <a:bodyPr/>
                    <a:lstStyle/>
                    <a:p>
                      <a:pPr algn="l">
                        <a:defRPr sz="1200" b="1">
                          <a:solidFill>
                            <a:srgbClr val="0B0B0B"/>
                          </a:solidFill>
                          <a:latin typeface="Calibri"/>
                        </a:defRPr>
                      </a:pPr>
                      <a:r>
                        <a:t>HDF</a:t>
                      </a:r>
                    </a:p>
                  </a:txBody>
                  <a:tcPr marL="54864" marR="54864" marT="18288" marB="18288" anchor="ctr">
                    <a:solidFill>
                      <a:srgbClr val="FFFFFF"/>
                    </a:solidFill>
                  </a:tcPr>
                </a:tc>
                <a:tc>
                  <a:txBody>
                    <a:bodyPr/>
                    <a:lstStyle/>
                    <a:p>
                      <a:pPr algn="ctr">
                        <a:defRPr sz="1200" b="0">
                          <a:solidFill>
                            <a:srgbClr val="0B0B0B"/>
                          </a:solidFill>
                          <a:latin typeface="Calibri"/>
                        </a:defRPr>
                      </a:pPr>
                      <a:r>
                        <a:t>53</a:t>
                      </a:r>
                    </a:p>
                  </a:txBody>
                  <a:tcPr marL="54864" marR="54864" marT="18288" marB="18288" anchor="ctr">
                    <a:solidFill>
                      <a:srgbClr val="FFFFFF"/>
                    </a:solidFill>
                  </a:tcPr>
                </a:tc>
                <a:tc>
                  <a:txBody>
                    <a:bodyPr/>
                    <a:lstStyle/>
                    <a:p>
                      <a:pPr algn="ctr">
                        <a:defRPr sz="1200" b="0">
                          <a:solidFill>
                            <a:srgbClr val="0B0B0B"/>
                          </a:solidFill>
                          <a:latin typeface="Calibri"/>
                        </a:defRPr>
                      </a:pPr>
                      <a:r>
                        <a:t>32</a:t>
                      </a:r>
                    </a:p>
                  </a:txBody>
                  <a:tcPr marL="54864" marR="54864" marT="18288" marB="18288" anchor="ctr">
                    <a:solidFill>
                      <a:srgbClr val="FFFFFF"/>
                    </a:solidFill>
                  </a:tcPr>
                </a:tc>
                <a:tc>
                  <a:txBody>
                    <a:bodyPr/>
                    <a:lstStyle/>
                    <a:p>
                      <a:pPr algn="ctr">
                        <a:defRPr sz="1200" b="0">
                          <a:solidFill>
                            <a:srgbClr val="0B0B0B"/>
                          </a:solidFill>
                          <a:latin typeface="Calibri"/>
                        </a:defRPr>
                      </a:pPr>
                      <a:r>
                        <a:t>21</a:t>
                      </a:r>
                    </a:p>
                  </a:txBody>
                  <a:tcPr marL="54864" marR="54864" marT="18288" marB="18288" anchor="ctr">
                    <a:solidFill>
                      <a:srgbClr val="FFFFFF"/>
                    </a:solidFill>
                  </a:tcPr>
                </a:tc>
                <a:tc>
                  <a:txBody>
                    <a:bodyPr/>
                    <a:lstStyle/>
                    <a:p>
                      <a:pPr algn="ctr">
                        <a:defRPr sz="1200" b="0">
                          <a:solidFill>
                            <a:srgbClr val="0B0B0B"/>
                          </a:solidFill>
                          <a:latin typeface="Calibri"/>
                        </a:defRPr>
                      </a:pPr>
                      <a:r>
                        <a:t>106</a:t>
                      </a:r>
                    </a:p>
                  </a:txBody>
                  <a:tcPr marL="54864" marR="54864" marT="18288" marB="18288" anchor="ctr">
                    <a:solidFill>
                      <a:srgbClr val="FFFFFF"/>
                    </a:solidFill>
                  </a:tcPr>
                </a:tc>
              </a:tr>
              <a:tr h="310896">
                <a:tc>
                  <a:txBody>
                    <a:bodyPr/>
                    <a:lstStyle/>
                    <a:p>
                      <a:pPr algn="l">
                        <a:defRPr sz="1200" b="1">
                          <a:solidFill>
                            <a:srgbClr val="0B0B0B"/>
                          </a:solidFill>
                          <a:latin typeface="Calibri"/>
                        </a:defRPr>
                      </a:pPr>
                      <a:r>
                        <a:t>PWF</a:t>
                      </a:r>
                    </a:p>
                  </a:txBody>
                  <a:tcPr marL="54864" marR="54864" marT="18288" marB="18288" anchor="ctr">
                    <a:solidFill>
                      <a:srgbClr val="EEF1F6"/>
                    </a:solidFill>
                  </a:tcPr>
                </a:tc>
                <a:tc>
                  <a:txBody>
                    <a:bodyPr/>
                    <a:lstStyle/>
                    <a:p>
                      <a:pPr algn="ctr">
                        <a:defRPr sz="1200" b="0">
                          <a:solidFill>
                            <a:srgbClr val="0B0B0B"/>
                          </a:solidFill>
                          <a:latin typeface="Calibri"/>
                        </a:defRPr>
                      </a:pPr>
                      <a:r>
                        <a:t>47</a:t>
                      </a:r>
                    </a:p>
                  </a:txBody>
                  <a:tcPr marL="54864" marR="54864" marT="18288" marB="18288" anchor="ctr">
                    <a:solidFill>
                      <a:srgbClr val="EEF1F6"/>
                    </a:solidFill>
                  </a:tcPr>
                </a:tc>
                <a:tc>
                  <a:txBody>
                    <a:bodyPr/>
                    <a:lstStyle/>
                    <a:p>
                      <a:pPr algn="ctr">
                        <a:defRPr sz="1200" b="0">
                          <a:solidFill>
                            <a:srgbClr val="0B0B0B"/>
                          </a:solidFill>
                          <a:latin typeface="Calibri"/>
                        </a:defRPr>
                      </a:pPr>
                      <a:r>
                        <a:t>28</a:t>
                      </a:r>
                    </a:p>
                  </a:txBody>
                  <a:tcPr marL="54864" marR="54864" marT="18288" marB="18288" anchor="ctr">
                    <a:solidFill>
                      <a:srgbClr val="EEF1F6"/>
                    </a:solidFill>
                  </a:tcPr>
                </a:tc>
                <a:tc>
                  <a:txBody>
                    <a:bodyPr/>
                    <a:lstStyle/>
                    <a:p>
                      <a:pPr algn="ctr">
                        <a:defRPr sz="1200" b="0">
                          <a:solidFill>
                            <a:srgbClr val="0B0B0B"/>
                          </a:solidFill>
                          <a:latin typeface="Calibri"/>
                        </a:defRPr>
                      </a:pPr>
                      <a:r>
                        <a:t>19</a:t>
                      </a:r>
                    </a:p>
                  </a:txBody>
                  <a:tcPr marL="54864" marR="54864" marT="18288" marB="18288" anchor="ctr">
                    <a:solidFill>
                      <a:srgbClr val="EEF1F6"/>
                    </a:solidFill>
                  </a:tcPr>
                </a:tc>
                <a:tc>
                  <a:txBody>
                    <a:bodyPr/>
                    <a:lstStyle/>
                    <a:p>
                      <a:pPr algn="ctr">
                        <a:defRPr sz="1200" b="0">
                          <a:solidFill>
                            <a:srgbClr val="0B0B0B"/>
                          </a:solidFill>
                          <a:latin typeface="Calibri"/>
                        </a:defRPr>
                      </a:pPr>
                      <a:r>
                        <a:t>94</a:t>
                      </a:r>
                    </a:p>
                  </a:txBody>
                  <a:tcPr marL="54864" marR="54864" marT="18288" marB="18288" anchor="ctr">
                    <a:solidFill>
                      <a:srgbClr val="EEF1F6"/>
                    </a:solidFill>
                  </a:tcPr>
                </a:tc>
              </a:tr>
              <a:tr h="310896">
                <a:tc>
                  <a:txBody>
                    <a:bodyPr/>
                    <a:lstStyle/>
                    <a:p>
                      <a:pPr algn="l">
                        <a:defRPr sz="1200" b="1">
                          <a:solidFill>
                            <a:srgbClr val="0B0B0B"/>
                          </a:solidFill>
                          <a:latin typeface="Calibri"/>
                        </a:defRPr>
                      </a:pPr>
                      <a:r>
                        <a:t>OSF</a:t>
                      </a:r>
                    </a:p>
                  </a:txBody>
                  <a:tcPr marL="54864" marR="54864" marT="18288" marB="18288" anchor="ctr">
                    <a:solidFill>
                      <a:srgbClr val="FFFFFF"/>
                    </a:solidFill>
                  </a:tcPr>
                </a:tc>
                <a:tc>
                  <a:txBody>
                    <a:bodyPr/>
                    <a:lstStyle/>
                    <a:p>
                      <a:pPr algn="ctr">
                        <a:defRPr sz="1200" b="0">
                          <a:solidFill>
                            <a:srgbClr val="0B0B0B"/>
                          </a:solidFill>
                          <a:latin typeface="Calibri"/>
                        </a:defRPr>
                      </a:pPr>
                      <a:r>
                        <a:t>42</a:t>
                      </a:r>
                    </a:p>
                  </a:txBody>
                  <a:tcPr marL="54864" marR="54864" marT="18288" marB="18288" anchor="ctr">
                    <a:solidFill>
                      <a:srgbClr val="FFFFFF"/>
                    </a:solidFill>
                  </a:tcPr>
                </a:tc>
                <a:tc>
                  <a:txBody>
                    <a:bodyPr/>
                    <a:lstStyle/>
                    <a:p>
                      <a:pPr algn="ctr">
                        <a:defRPr sz="1200" b="0">
                          <a:solidFill>
                            <a:srgbClr val="0B0B0B"/>
                          </a:solidFill>
                          <a:latin typeface="Calibri"/>
                        </a:defRPr>
                      </a:pPr>
                      <a:r>
                        <a:t>25</a:t>
                      </a:r>
                    </a:p>
                  </a:txBody>
                  <a:tcPr marL="54864" marR="54864" marT="18288" marB="18288" anchor="ctr">
                    <a:solidFill>
                      <a:srgbClr val="FFFFFF"/>
                    </a:solidFill>
                  </a:tcPr>
                </a:tc>
                <a:tc>
                  <a:txBody>
                    <a:bodyPr/>
                    <a:lstStyle/>
                    <a:p>
                      <a:pPr algn="ctr">
                        <a:defRPr sz="1200" b="0">
                          <a:solidFill>
                            <a:srgbClr val="0B0B0B"/>
                          </a:solidFill>
                          <a:latin typeface="Calibri"/>
                        </a:defRPr>
                      </a:pPr>
                      <a:r>
                        <a:t>17</a:t>
                      </a:r>
                    </a:p>
                  </a:txBody>
                  <a:tcPr marL="54864" marR="54864" marT="18288" marB="18288" anchor="ctr">
                    <a:solidFill>
                      <a:srgbClr val="FFFFFF"/>
                    </a:solidFill>
                  </a:tcPr>
                </a:tc>
                <a:tc>
                  <a:txBody>
                    <a:bodyPr/>
                    <a:lstStyle/>
                    <a:p>
                      <a:pPr algn="ctr">
                        <a:defRPr sz="1200" b="0">
                          <a:solidFill>
                            <a:srgbClr val="0B0B0B"/>
                          </a:solidFill>
                          <a:latin typeface="Calibri"/>
                        </a:defRPr>
                      </a:pPr>
                      <a:r>
                        <a:t>84</a:t>
                      </a:r>
                    </a:p>
                  </a:txBody>
                  <a:tcPr marL="54864" marR="54864" marT="18288" marB="18288" anchor="ctr">
                    <a:solidFill>
                      <a:srgbClr val="FFFFFF"/>
                    </a:solidFill>
                  </a:tcPr>
                </a:tc>
              </a:tr>
            </a:tbl>
          </a:graphicData>
        </a:graphic>
      </p:graphicFrame>
      <p:sp>
        <p:nvSpPr>
          <p:cNvPr id="10" name="TextBox 9"/>
          <p:cNvSpPr txBox="1"/>
          <p:nvPr/>
        </p:nvSpPr>
        <p:spPr>
          <a:xfrm>
            <a:off x="640080" y="3474720"/>
            <a:ext cx="4937760" cy="640080"/>
          </a:xfrm>
          <a:prstGeom prst="rect">
            <a:avLst/>
          </a:prstGeom>
          <a:noFill/>
        </p:spPr>
        <p:txBody>
          <a:bodyPr wrap="square" anchor="t" lIns="45720" rIns="45720" tIns="27432" bIns="27432">
            <a:spAutoFit/>
          </a:bodyPr>
          <a:lstStyle/>
          <a:p>
            <a:pPr algn="l">
              <a:lnSpc>
                <a:spcPct val="110000"/>
              </a:lnSpc>
              <a:defRPr sz="1100" b="0" i="0">
                <a:solidFill>
                  <a:srgbClr val="52514E"/>
                </a:solidFill>
                <a:latin typeface="Calibri"/>
              </a:defRPr>
            </a:pPr>
            <a:r>
              <a:t>Estratificada 0.50 / 0.30 / 0.20, semilla 42, fracciones respecto al total. Cada fila en un solo bloque; índices UID guardados.</a:t>
            </a:r>
          </a:p>
        </p:txBody>
      </p:sp>
      <p:graphicFrame>
        <p:nvGraphicFramePr>
          <p:cNvPr id="11" name="Table 10"/>
          <p:cNvGraphicFramePr>
            <a:graphicFrameLocks noGrp="1"/>
          </p:cNvGraphicFramePr>
          <p:nvPr/>
        </p:nvGraphicFramePr>
        <p:xfrm>
          <a:off x="5852160" y="1417320"/>
          <a:ext cx="5897880" cy="1865376"/>
        </p:xfrm>
        <a:graphic>
          <a:graphicData uri="http://schemas.openxmlformats.org/drawingml/2006/table">
            <a:tbl>
              <a:tblPr firstRow="1" bandRow="1">
                <a:tableStyleId>{5C22544A-7EE6-4342-B048-85BDC9FD1C3A}</a:tableStyleId>
              </a:tblPr>
              <a:tblGrid>
                <a:gridCol w="1371600"/>
                <a:gridCol w="914400"/>
                <a:gridCol w="594360"/>
                <a:gridCol w="914400"/>
                <a:gridCol w="594360"/>
                <a:gridCol w="914400"/>
                <a:gridCol w="594360"/>
              </a:tblGrid>
              <a:tr h="310896">
                <a:tc>
                  <a:txBody>
                    <a:bodyPr/>
                    <a:lstStyle/>
                    <a:p>
                      <a:pPr algn="l">
                        <a:defRPr sz="1100" b="1">
                          <a:solidFill>
                            <a:srgbClr val="FFFFFF"/>
                          </a:solidFill>
                          <a:latin typeface="Calibri"/>
                        </a:defRPr>
                      </a:pPr>
                      <a:r>
                        <a:t>Clase (n calib.)</a:t>
                      </a:r>
                    </a:p>
                  </a:txBody>
                  <a:tcPr marL="54864" marR="54864" marT="18288" marB="18288" anchor="ctr">
                    <a:solidFill>
                      <a:srgbClr val="1C5CAB"/>
                    </a:solidFill>
                  </a:tcPr>
                </a:tc>
                <a:tc>
                  <a:txBody>
                    <a:bodyPr/>
                    <a:lstStyle/>
                    <a:p>
                      <a:pPr algn="ctr">
                        <a:defRPr sz="1100" b="1">
                          <a:solidFill>
                            <a:srgbClr val="FFFFFF"/>
                          </a:solidFill>
                          <a:latin typeface="Calibri"/>
                        </a:defRPr>
                      </a:pPr>
                      <a:r>
                        <a:t>α = 0.05: rango</a:t>
                      </a:r>
                    </a:p>
                  </a:txBody>
                  <a:tcPr marL="54864" marR="54864" marT="18288" marB="18288" anchor="ctr">
                    <a:solidFill>
                      <a:srgbClr val="1C5CAB"/>
                    </a:solidFill>
                  </a:tcPr>
                </a:tc>
                <a:tc>
                  <a:txBody>
                    <a:bodyPr/>
                    <a:lstStyle/>
                    <a:p>
                      <a:pPr algn="ctr">
                        <a:defRPr sz="1100" b="1">
                          <a:solidFill>
                            <a:srgbClr val="FFFFFF"/>
                          </a:solidFill>
                          <a:latin typeface="Calibri"/>
                        </a:defRPr>
                      </a:pPr>
                      <a:r>
                        <a:t>finito</a:t>
                      </a:r>
                    </a:p>
                  </a:txBody>
                  <a:tcPr marL="54864" marR="54864" marT="18288" marB="18288" anchor="ctr">
                    <a:solidFill>
                      <a:srgbClr val="1C5CAB"/>
                    </a:solidFill>
                  </a:tcPr>
                </a:tc>
                <a:tc>
                  <a:txBody>
                    <a:bodyPr/>
                    <a:lstStyle/>
                    <a:p>
                      <a:pPr algn="ctr">
                        <a:defRPr sz="1100" b="1">
                          <a:solidFill>
                            <a:srgbClr val="FFFFFF"/>
                          </a:solidFill>
                          <a:latin typeface="Calibri"/>
                        </a:defRPr>
                      </a:pPr>
                      <a:r>
                        <a:t>α = 0.10: rango</a:t>
                      </a:r>
                    </a:p>
                  </a:txBody>
                  <a:tcPr marL="54864" marR="54864" marT="18288" marB="18288" anchor="ctr">
                    <a:solidFill>
                      <a:srgbClr val="1C5CAB"/>
                    </a:solidFill>
                  </a:tcPr>
                </a:tc>
                <a:tc>
                  <a:txBody>
                    <a:bodyPr/>
                    <a:lstStyle/>
                    <a:p>
                      <a:pPr algn="ctr">
                        <a:defRPr sz="1100" b="1">
                          <a:solidFill>
                            <a:srgbClr val="FFFFFF"/>
                          </a:solidFill>
                          <a:latin typeface="Calibri"/>
                        </a:defRPr>
                      </a:pPr>
                      <a:r>
                        <a:t>finito</a:t>
                      </a:r>
                    </a:p>
                  </a:txBody>
                  <a:tcPr marL="54864" marR="54864" marT="18288" marB="18288" anchor="ctr">
                    <a:solidFill>
                      <a:srgbClr val="1C5CAB"/>
                    </a:solidFill>
                  </a:tcPr>
                </a:tc>
                <a:tc>
                  <a:txBody>
                    <a:bodyPr/>
                    <a:lstStyle/>
                    <a:p>
                      <a:pPr algn="ctr">
                        <a:defRPr sz="1100" b="1">
                          <a:solidFill>
                            <a:srgbClr val="FFFFFF"/>
                          </a:solidFill>
                          <a:latin typeface="Calibri"/>
                        </a:defRPr>
                      </a:pPr>
                      <a:r>
                        <a:t>α = 0.20: rango</a:t>
                      </a:r>
                    </a:p>
                  </a:txBody>
                  <a:tcPr marL="54864" marR="54864" marT="18288" marB="18288" anchor="ctr">
                    <a:solidFill>
                      <a:srgbClr val="1C5CAB"/>
                    </a:solidFill>
                  </a:tcPr>
                </a:tc>
                <a:tc>
                  <a:txBody>
                    <a:bodyPr/>
                    <a:lstStyle/>
                    <a:p>
                      <a:pPr algn="ctr">
                        <a:defRPr sz="1100" b="1">
                          <a:solidFill>
                            <a:srgbClr val="FFFFFF"/>
                          </a:solidFill>
                          <a:latin typeface="Calibri"/>
                        </a:defRPr>
                      </a:pPr>
                      <a:r>
                        <a:t>finito</a:t>
                      </a:r>
                    </a:p>
                  </a:txBody>
                  <a:tcPr marL="54864" marR="54864" marT="18288" marB="18288" anchor="ctr">
                    <a:solidFill>
                      <a:srgbClr val="1C5CAB"/>
                    </a:solidFill>
                  </a:tcPr>
                </a:tc>
              </a:tr>
              <a:tr h="310896">
                <a:tc>
                  <a:txBody>
                    <a:bodyPr/>
                    <a:lstStyle/>
                    <a:p>
                      <a:pPr algn="l">
                        <a:defRPr sz="1100" b="1">
                          <a:solidFill>
                            <a:srgbClr val="0B0B0B"/>
                          </a:solidFill>
                          <a:latin typeface="Calibri"/>
                        </a:defRPr>
                      </a:pPr>
                      <a:r>
                        <a:t>Normal (2 893)</a:t>
                      </a:r>
                    </a:p>
                  </a:txBody>
                  <a:tcPr marL="54864" marR="54864" marT="18288" marB="18288" anchor="ctr">
                    <a:solidFill>
                      <a:srgbClr val="FFFFFF"/>
                    </a:solidFill>
                  </a:tcPr>
                </a:tc>
                <a:tc>
                  <a:txBody>
                    <a:bodyPr/>
                    <a:lstStyle/>
                    <a:p>
                      <a:pPr algn="ctr">
                        <a:defRPr sz="1100" b="0">
                          <a:solidFill>
                            <a:srgbClr val="0B0B0B"/>
                          </a:solidFill>
                          <a:latin typeface="Calibri"/>
                        </a:defRPr>
                      </a:pPr>
                      <a:r>
                        <a:t>2 750</a:t>
                      </a:r>
                    </a:p>
                  </a:txBody>
                  <a:tcPr marL="54864" marR="54864" marT="18288" marB="18288" anchor="ctr">
                    <a:solidFill>
                      <a:srgbClr val="FFFFFF"/>
                    </a:solidFill>
                  </a:tcPr>
                </a:tc>
                <a:tc>
                  <a:txBody>
                    <a:bodyPr/>
                    <a:lstStyle/>
                    <a:p>
                      <a:pPr algn="ctr">
                        <a:defRPr sz="1100" b="0">
                          <a:solidFill>
                            <a:srgbClr val="0B0B0B"/>
                          </a:solidFill>
                          <a:latin typeface="Calibri"/>
                        </a:defRPr>
                      </a:pPr>
                      <a:r>
                        <a:t>sí</a:t>
                      </a:r>
                    </a:p>
                  </a:txBody>
                  <a:tcPr marL="54864" marR="54864" marT="18288" marB="18288" anchor="ctr">
                    <a:solidFill>
                      <a:srgbClr val="FFFFFF"/>
                    </a:solidFill>
                  </a:tcPr>
                </a:tc>
                <a:tc>
                  <a:txBody>
                    <a:bodyPr/>
                    <a:lstStyle/>
                    <a:p>
                      <a:pPr algn="ctr">
                        <a:defRPr sz="1100" b="0">
                          <a:solidFill>
                            <a:srgbClr val="0B0B0B"/>
                          </a:solidFill>
                          <a:latin typeface="Calibri"/>
                        </a:defRPr>
                      </a:pPr>
                      <a:r>
                        <a:t>2 605</a:t>
                      </a:r>
                    </a:p>
                  </a:txBody>
                  <a:tcPr marL="54864" marR="54864" marT="18288" marB="18288" anchor="ctr">
                    <a:solidFill>
                      <a:srgbClr val="FFFFFF"/>
                    </a:solidFill>
                  </a:tcPr>
                </a:tc>
                <a:tc>
                  <a:txBody>
                    <a:bodyPr/>
                    <a:lstStyle/>
                    <a:p>
                      <a:pPr algn="ctr">
                        <a:defRPr sz="1100" b="0">
                          <a:solidFill>
                            <a:srgbClr val="0B0B0B"/>
                          </a:solidFill>
                          <a:latin typeface="Calibri"/>
                        </a:defRPr>
                      </a:pPr>
                      <a:r>
                        <a:t>sí</a:t>
                      </a:r>
                    </a:p>
                  </a:txBody>
                  <a:tcPr marL="54864" marR="54864" marT="18288" marB="18288" anchor="ctr">
                    <a:solidFill>
                      <a:srgbClr val="FFFFFF"/>
                    </a:solidFill>
                  </a:tcPr>
                </a:tc>
                <a:tc>
                  <a:txBody>
                    <a:bodyPr/>
                    <a:lstStyle/>
                    <a:p>
                      <a:pPr algn="ctr">
                        <a:defRPr sz="1100" b="0">
                          <a:solidFill>
                            <a:srgbClr val="0B0B0B"/>
                          </a:solidFill>
                          <a:latin typeface="Calibri"/>
                        </a:defRPr>
                      </a:pPr>
                      <a:r>
                        <a:t>2 316</a:t>
                      </a:r>
                    </a:p>
                  </a:txBody>
                  <a:tcPr marL="54864" marR="54864" marT="18288" marB="18288" anchor="ctr">
                    <a:solidFill>
                      <a:srgbClr val="FFFFFF"/>
                    </a:solidFill>
                  </a:tcPr>
                </a:tc>
                <a:tc>
                  <a:txBody>
                    <a:bodyPr/>
                    <a:lstStyle/>
                    <a:p>
                      <a:pPr algn="ctr">
                        <a:defRPr sz="1100" b="0">
                          <a:solidFill>
                            <a:srgbClr val="0B0B0B"/>
                          </a:solidFill>
                          <a:latin typeface="Calibri"/>
                        </a:defRPr>
                      </a:pPr>
                      <a:r>
                        <a:t>sí</a:t>
                      </a:r>
                    </a:p>
                  </a:txBody>
                  <a:tcPr marL="54864" marR="54864" marT="18288" marB="18288" anchor="ctr">
                    <a:solidFill>
                      <a:srgbClr val="FFFFFF"/>
                    </a:solidFill>
                  </a:tcPr>
                </a:tc>
              </a:tr>
              <a:tr h="310896">
                <a:tc>
                  <a:txBody>
                    <a:bodyPr/>
                    <a:lstStyle/>
                    <a:p>
                      <a:pPr algn="l">
                        <a:defRPr sz="1100" b="1">
                          <a:solidFill>
                            <a:srgbClr val="0B0B0B"/>
                          </a:solidFill>
                          <a:latin typeface="Calibri"/>
                        </a:defRPr>
                      </a:pPr>
                      <a:r>
                        <a:t>TWF (14)</a:t>
                      </a:r>
                    </a:p>
                  </a:txBody>
                  <a:tcPr marL="54864" marR="54864" marT="18288" marB="18288" anchor="ctr">
                    <a:solidFill>
                      <a:srgbClr val="FBE3D8"/>
                    </a:solidFill>
                  </a:tcPr>
                </a:tc>
                <a:tc>
                  <a:txBody>
                    <a:bodyPr/>
                    <a:lstStyle/>
                    <a:p>
                      <a:pPr algn="ctr">
                        <a:defRPr sz="1100" b="0">
                          <a:solidFill>
                            <a:srgbClr val="0B0B0B"/>
                          </a:solidFill>
                          <a:latin typeface="Calibri"/>
                        </a:defRPr>
                      </a:pPr>
                      <a:r>
                        <a:t>15</a:t>
                      </a:r>
                    </a:p>
                  </a:txBody>
                  <a:tcPr marL="54864" marR="54864" marT="18288" marB="18288" anchor="ctr">
                    <a:solidFill>
                      <a:srgbClr val="FBE3D8"/>
                    </a:solidFill>
                  </a:tcPr>
                </a:tc>
                <a:tc>
                  <a:txBody>
                    <a:bodyPr/>
                    <a:lstStyle/>
                    <a:p>
                      <a:pPr algn="ctr">
                        <a:defRPr sz="1100" b="0">
                          <a:solidFill>
                            <a:srgbClr val="0B0B0B"/>
                          </a:solidFill>
                          <a:latin typeface="Calibri"/>
                        </a:defRPr>
                      </a:pPr>
                      <a:r>
                        <a:t>no → ∞</a:t>
                      </a:r>
                    </a:p>
                  </a:txBody>
                  <a:tcPr marL="54864" marR="54864" marT="18288" marB="18288" anchor="ctr">
                    <a:solidFill>
                      <a:srgbClr val="FBE3D8"/>
                    </a:solidFill>
                  </a:tcPr>
                </a:tc>
                <a:tc>
                  <a:txBody>
                    <a:bodyPr/>
                    <a:lstStyle/>
                    <a:p>
                      <a:pPr algn="ctr">
                        <a:defRPr sz="1100" b="0">
                          <a:solidFill>
                            <a:srgbClr val="0B0B0B"/>
                          </a:solidFill>
                          <a:latin typeface="Calibri"/>
                        </a:defRPr>
                      </a:pPr>
                      <a:r>
                        <a:t>14</a:t>
                      </a:r>
                    </a:p>
                  </a:txBody>
                  <a:tcPr marL="54864" marR="54864" marT="18288" marB="18288" anchor="ctr">
                    <a:solidFill>
                      <a:srgbClr val="FBE3D8"/>
                    </a:solidFill>
                  </a:tcPr>
                </a:tc>
                <a:tc>
                  <a:txBody>
                    <a:bodyPr/>
                    <a:lstStyle/>
                    <a:p>
                      <a:pPr algn="ctr">
                        <a:defRPr sz="1100" b="0">
                          <a:solidFill>
                            <a:srgbClr val="0B0B0B"/>
                          </a:solidFill>
                          <a:latin typeface="Calibri"/>
                        </a:defRPr>
                      </a:pPr>
                      <a:r>
                        <a:t>sí</a:t>
                      </a:r>
                    </a:p>
                  </a:txBody>
                  <a:tcPr marL="54864" marR="54864" marT="18288" marB="18288" anchor="ctr">
                    <a:solidFill>
                      <a:srgbClr val="FBE3D8"/>
                    </a:solidFill>
                  </a:tcPr>
                </a:tc>
                <a:tc>
                  <a:txBody>
                    <a:bodyPr/>
                    <a:lstStyle/>
                    <a:p>
                      <a:pPr algn="ctr">
                        <a:defRPr sz="1100" b="0">
                          <a:solidFill>
                            <a:srgbClr val="0B0B0B"/>
                          </a:solidFill>
                          <a:latin typeface="Calibri"/>
                        </a:defRPr>
                      </a:pPr>
                      <a:r>
                        <a:t>12</a:t>
                      </a:r>
                    </a:p>
                  </a:txBody>
                  <a:tcPr marL="54864" marR="54864" marT="18288" marB="18288" anchor="ctr">
                    <a:solidFill>
                      <a:srgbClr val="FBE3D8"/>
                    </a:solidFill>
                  </a:tcPr>
                </a:tc>
                <a:tc>
                  <a:txBody>
                    <a:bodyPr/>
                    <a:lstStyle/>
                    <a:p>
                      <a:pPr algn="ctr">
                        <a:defRPr sz="1100" b="0">
                          <a:solidFill>
                            <a:srgbClr val="0B0B0B"/>
                          </a:solidFill>
                          <a:latin typeface="Calibri"/>
                        </a:defRPr>
                      </a:pPr>
                      <a:r>
                        <a:t>sí</a:t>
                      </a:r>
                    </a:p>
                  </a:txBody>
                  <a:tcPr marL="54864" marR="54864" marT="18288" marB="18288" anchor="ctr">
                    <a:solidFill>
                      <a:srgbClr val="FBE3D8"/>
                    </a:solidFill>
                  </a:tcPr>
                </a:tc>
              </a:tr>
              <a:tr h="310896">
                <a:tc>
                  <a:txBody>
                    <a:bodyPr/>
                    <a:lstStyle/>
                    <a:p>
                      <a:pPr algn="l">
                        <a:defRPr sz="1100" b="1">
                          <a:solidFill>
                            <a:srgbClr val="0B0B0B"/>
                          </a:solidFill>
                          <a:latin typeface="Calibri"/>
                        </a:defRPr>
                      </a:pPr>
                      <a:r>
                        <a:t>HDF (32)</a:t>
                      </a:r>
                    </a:p>
                  </a:txBody>
                  <a:tcPr marL="54864" marR="54864" marT="18288" marB="18288" anchor="ctr">
                    <a:solidFill>
                      <a:srgbClr val="FFFFFF"/>
                    </a:solidFill>
                  </a:tcPr>
                </a:tc>
                <a:tc>
                  <a:txBody>
                    <a:bodyPr/>
                    <a:lstStyle/>
                    <a:p>
                      <a:pPr algn="ctr">
                        <a:defRPr sz="1100" b="0">
                          <a:solidFill>
                            <a:srgbClr val="0B0B0B"/>
                          </a:solidFill>
                          <a:latin typeface="Calibri"/>
                        </a:defRPr>
                      </a:pPr>
                      <a:r>
                        <a:t>32</a:t>
                      </a:r>
                    </a:p>
                  </a:txBody>
                  <a:tcPr marL="54864" marR="54864" marT="18288" marB="18288" anchor="ctr">
                    <a:solidFill>
                      <a:srgbClr val="FFFFFF"/>
                    </a:solidFill>
                  </a:tcPr>
                </a:tc>
                <a:tc>
                  <a:txBody>
                    <a:bodyPr/>
                    <a:lstStyle/>
                    <a:p>
                      <a:pPr algn="ctr">
                        <a:defRPr sz="1100" b="0">
                          <a:solidFill>
                            <a:srgbClr val="0B0B0B"/>
                          </a:solidFill>
                          <a:latin typeface="Calibri"/>
                        </a:defRPr>
                      </a:pPr>
                      <a:r>
                        <a:t>sí</a:t>
                      </a:r>
                    </a:p>
                  </a:txBody>
                  <a:tcPr marL="54864" marR="54864" marT="18288" marB="18288" anchor="ctr">
                    <a:solidFill>
                      <a:srgbClr val="FFFFFF"/>
                    </a:solidFill>
                  </a:tcPr>
                </a:tc>
                <a:tc>
                  <a:txBody>
                    <a:bodyPr/>
                    <a:lstStyle/>
                    <a:p>
                      <a:pPr algn="ctr">
                        <a:defRPr sz="1100" b="0">
                          <a:solidFill>
                            <a:srgbClr val="0B0B0B"/>
                          </a:solidFill>
                          <a:latin typeface="Calibri"/>
                        </a:defRPr>
                      </a:pPr>
                      <a:r>
                        <a:t>30</a:t>
                      </a:r>
                    </a:p>
                  </a:txBody>
                  <a:tcPr marL="54864" marR="54864" marT="18288" marB="18288" anchor="ctr">
                    <a:solidFill>
                      <a:srgbClr val="FFFFFF"/>
                    </a:solidFill>
                  </a:tcPr>
                </a:tc>
                <a:tc>
                  <a:txBody>
                    <a:bodyPr/>
                    <a:lstStyle/>
                    <a:p>
                      <a:pPr algn="ctr">
                        <a:defRPr sz="1100" b="0">
                          <a:solidFill>
                            <a:srgbClr val="0B0B0B"/>
                          </a:solidFill>
                          <a:latin typeface="Calibri"/>
                        </a:defRPr>
                      </a:pPr>
                      <a:r>
                        <a:t>sí</a:t>
                      </a:r>
                    </a:p>
                  </a:txBody>
                  <a:tcPr marL="54864" marR="54864" marT="18288" marB="18288" anchor="ctr">
                    <a:solidFill>
                      <a:srgbClr val="FFFFFF"/>
                    </a:solidFill>
                  </a:tcPr>
                </a:tc>
                <a:tc>
                  <a:txBody>
                    <a:bodyPr/>
                    <a:lstStyle/>
                    <a:p>
                      <a:pPr algn="ctr">
                        <a:defRPr sz="1100" b="0">
                          <a:solidFill>
                            <a:srgbClr val="0B0B0B"/>
                          </a:solidFill>
                          <a:latin typeface="Calibri"/>
                        </a:defRPr>
                      </a:pPr>
                      <a:r>
                        <a:t>27</a:t>
                      </a:r>
                    </a:p>
                  </a:txBody>
                  <a:tcPr marL="54864" marR="54864" marT="18288" marB="18288" anchor="ctr">
                    <a:solidFill>
                      <a:srgbClr val="FFFFFF"/>
                    </a:solidFill>
                  </a:tcPr>
                </a:tc>
                <a:tc>
                  <a:txBody>
                    <a:bodyPr/>
                    <a:lstStyle/>
                    <a:p>
                      <a:pPr algn="ctr">
                        <a:defRPr sz="1100" b="0">
                          <a:solidFill>
                            <a:srgbClr val="0B0B0B"/>
                          </a:solidFill>
                          <a:latin typeface="Calibri"/>
                        </a:defRPr>
                      </a:pPr>
                      <a:r>
                        <a:t>sí</a:t>
                      </a:r>
                    </a:p>
                  </a:txBody>
                  <a:tcPr marL="54864" marR="54864" marT="18288" marB="18288" anchor="ctr">
                    <a:solidFill>
                      <a:srgbClr val="FFFFFF"/>
                    </a:solidFill>
                  </a:tcPr>
                </a:tc>
              </a:tr>
              <a:tr h="310896">
                <a:tc>
                  <a:txBody>
                    <a:bodyPr/>
                    <a:lstStyle/>
                    <a:p>
                      <a:pPr algn="l">
                        <a:defRPr sz="1100" b="1">
                          <a:solidFill>
                            <a:srgbClr val="0B0B0B"/>
                          </a:solidFill>
                          <a:latin typeface="Calibri"/>
                        </a:defRPr>
                      </a:pPr>
                      <a:r>
                        <a:t>PWF (28)</a:t>
                      </a:r>
                    </a:p>
                  </a:txBody>
                  <a:tcPr marL="54864" marR="54864" marT="18288" marB="18288" anchor="ctr">
                    <a:solidFill>
                      <a:srgbClr val="EEF1F6"/>
                    </a:solidFill>
                  </a:tcPr>
                </a:tc>
                <a:tc>
                  <a:txBody>
                    <a:bodyPr/>
                    <a:lstStyle/>
                    <a:p>
                      <a:pPr algn="ctr">
                        <a:defRPr sz="1100" b="0">
                          <a:solidFill>
                            <a:srgbClr val="0B0B0B"/>
                          </a:solidFill>
                          <a:latin typeface="Calibri"/>
                        </a:defRPr>
                      </a:pPr>
                      <a:r>
                        <a:t>28</a:t>
                      </a:r>
                    </a:p>
                  </a:txBody>
                  <a:tcPr marL="54864" marR="54864" marT="18288" marB="18288" anchor="ctr">
                    <a:solidFill>
                      <a:srgbClr val="EEF1F6"/>
                    </a:solidFill>
                  </a:tcPr>
                </a:tc>
                <a:tc>
                  <a:txBody>
                    <a:bodyPr/>
                    <a:lstStyle/>
                    <a:p>
                      <a:pPr algn="ctr">
                        <a:defRPr sz="1100" b="0">
                          <a:solidFill>
                            <a:srgbClr val="0B0B0B"/>
                          </a:solidFill>
                          <a:latin typeface="Calibri"/>
                        </a:defRPr>
                      </a:pPr>
                      <a:r>
                        <a:t>sí</a:t>
                      </a:r>
                    </a:p>
                  </a:txBody>
                  <a:tcPr marL="54864" marR="54864" marT="18288" marB="18288" anchor="ctr">
                    <a:solidFill>
                      <a:srgbClr val="EEF1F6"/>
                    </a:solidFill>
                  </a:tcPr>
                </a:tc>
                <a:tc>
                  <a:txBody>
                    <a:bodyPr/>
                    <a:lstStyle/>
                    <a:p>
                      <a:pPr algn="ctr">
                        <a:defRPr sz="1100" b="0">
                          <a:solidFill>
                            <a:srgbClr val="0B0B0B"/>
                          </a:solidFill>
                          <a:latin typeface="Calibri"/>
                        </a:defRPr>
                      </a:pPr>
                      <a:r>
                        <a:t>27</a:t>
                      </a:r>
                    </a:p>
                  </a:txBody>
                  <a:tcPr marL="54864" marR="54864" marT="18288" marB="18288" anchor="ctr">
                    <a:solidFill>
                      <a:srgbClr val="EEF1F6"/>
                    </a:solidFill>
                  </a:tcPr>
                </a:tc>
                <a:tc>
                  <a:txBody>
                    <a:bodyPr/>
                    <a:lstStyle/>
                    <a:p>
                      <a:pPr algn="ctr">
                        <a:defRPr sz="1100" b="0">
                          <a:solidFill>
                            <a:srgbClr val="0B0B0B"/>
                          </a:solidFill>
                          <a:latin typeface="Calibri"/>
                        </a:defRPr>
                      </a:pPr>
                      <a:r>
                        <a:t>sí</a:t>
                      </a:r>
                    </a:p>
                  </a:txBody>
                  <a:tcPr marL="54864" marR="54864" marT="18288" marB="18288" anchor="ctr">
                    <a:solidFill>
                      <a:srgbClr val="EEF1F6"/>
                    </a:solidFill>
                  </a:tcPr>
                </a:tc>
                <a:tc>
                  <a:txBody>
                    <a:bodyPr/>
                    <a:lstStyle/>
                    <a:p>
                      <a:pPr algn="ctr">
                        <a:defRPr sz="1100" b="0">
                          <a:solidFill>
                            <a:srgbClr val="0B0B0B"/>
                          </a:solidFill>
                          <a:latin typeface="Calibri"/>
                        </a:defRPr>
                      </a:pPr>
                      <a:r>
                        <a:t>24</a:t>
                      </a:r>
                    </a:p>
                  </a:txBody>
                  <a:tcPr marL="54864" marR="54864" marT="18288" marB="18288" anchor="ctr">
                    <a:solidFill>
                      <a:srgbClr val="EEF1F6"/>
                    </a:solidFill>
                  </a:tcPr>
                </a:tc>
                <a:tc>
                  <a:txBody>
                    <a:bodyPr/>
                    <a:lstStyle/>
                    <a:p>
                      <a:pPr algn="ctr">
                        <a:defRPr sz="1100" b="0">
                          <a:solidFill>
                            <a:srgbClr val="0B0B0B"/>
                          </a:solidFill>
                          <a:latin typeface="Calibri"/>
                        </a:defRPr>
                      </a:pPr>
                      <a:r>
                        <a:t>sí</a:t>
                      </a:r>
                    </a:p>
                  </a:txBody>
                  <a:tcPr marL="54864" marR="54864" marT="18288" marB="18288" anchor="ctr">
                    <a:solidFill>
                      <a:srgbClr val="EEF1F6"/>
                    </a:solidFill>
                  </a:tcPr>
                </a:tc>
              </a:tr>
              <a:tr h="310896">
                <a:tc>
                  <a:txBody>
                    <a:bodyPr/>
                    <a:lstStyle/>
                    <a:p>
                      <a:pPr algn="l">
                        <a:defRPr sz="1100" b="1">
                          <a:solidFill>
                            <a:srgbClr val="0B0B0B"/>
                          </a:solidFill>
                          <a:latin typeface="Calibri"/>
                        </a:defRPr>
                      </a:pPr>
                      <a:r>
                        <a:t>OSF (25)</a:t>
                      </a:r>
                    </a:p>
                  </a:txBody>
                  <a:tcPr marL="54864" marR="54864" marT="18288" marB="18288" anchor="ctr">
                    <a:solidFill>
                      <a:srgbClr val="FFFFFF"/>
                    </a:solidFill>
                  </a:tcPr>
                </a:tc>
                <a:tc>
                  <a:txBody>
                    <a:bodyPr/>
                    <a:lstStyle/>
                    <a:p>
                      <a:pPr algn="ctr">
                        <a:defRPr sz="1100" b="0">
                          <a:solidFill>
                            <a:srgbClr val="0B0B0B"/>
                          </a:solidFill>
                          <a:latin typeface="Calibri"/>
                        </a:defRPr>
                      </a:pPr>
                      <a:r>
                        <a:t>25</a:t>
                      </a:r>
                    </a:p>
                  </a:txBody>
                  <a:tcPr marL="54864" marR="54864" marT="18288" marB="18288" anchor="ctr">
                    <a:solidFill>
                      <a:srgbClr val="FFFFFF"/>
                    </a:solidFill>
                  </a:tcPr>
                </a:tc>
                <a:tc>
                  <a:txBody>
                    <a:bodyPr/>
                    <a:lstStyle/>
                    <a:p>
                      <a:pPr algn="ctr">
                        <a:defRPr sz="1100" b="0">
                          <a:solidFill>
                            <a:srgbClr val="0B0B0B"/>
                          </a:solidFill>
                          <a:latin typeface="Calibri"/>
                        </a:defRPr>
                      </a:pPr>
                      <a:r>
                        <a:t>sí</a:t>
                      </a:r>
                    </a:p>
                  </a:txBody>
                  <a:tcPr marL="54864" marR="54864" marT="18288" marB="18288" anchor="ctr">
                    <a:solidFill>
                      <a:srgbClr val="FFFFFF"/>
                    </a:solidFill>
                  </a:tcPr>
                </a:tc>
                <a:tc>
                  <a:txBody>
                    <a:bodyPr/>
                    <a:lstStyle/>
                    <a:p>
                      <a:pPr algn="ctr">
                        <a:defRPr sz="1100" b="0">
                          <a:solidFill>
                            <a:srgbClr val="0B0B0B"/>
                          </a:solidFill>
                          <a:latin typeface="Calibri"/>
                        </a:defRPr>
                      </a:pPr>
                      <a:r>
                        <a:t>24</a:t>
                      </a:r>
                    </a:p>
                  </a:txBody>
                  <a:tcPr marL="54864" marR="54864" marT="18288" marB="18288" anchor="ctr">
                    <a:solidFill>
                      <a:srgbClr val="FFFFFF"/>
                    </a:solidFill>
                  </a:tcPr>
                </a:tc>
                <a:tc>
                  <a:txBody>
                    <a:bodyPr/>
                    <a:lstStyle/>
                    <a:p>
                      <a:pPr algn="ctr">
                        <a:defRPr sz="1100" b="0">
                          <a:solidFill>
                            <a:srgbClr val="0B0B0B"/>
                          </a:solidFill>
                          <a:latin typeface="Calibri"/>
                        </a:defRPr>
                      </a:pPr>
                      <a:r>
                        <a:t>sí</a:t>
                      </a:r>
                    </a:p>
                  </a:txBody>
                  <a:tcPr marL="54864" marR="54864" marT="18288" marB="18288" anchor="ctr">
                    <a:solidFill>
                      <a:srgbClr val="FFFFFF"/>
                    </a:solidFill>
                  </a:tcPr>
                </a:tc>
                <a:tc>
                  <a:txBody>
                    <a:bodyPr/>
                    <a:lstStyle/>
                    <a:p>
                      <a:pPr algn="ctr">
                        <a:defRPr sz="1100" b="0">
                          <a:solidFill>
                            <a:srgbClr val="0B0B0B"/>
                          </a:solidFill>
                          <a:latin typeface="Calibri"/>
                        </a:defRPr>
                      </a:pPr>
                      <a:r>
                        <a:t>21</a:t>
                      </a:r>
                    </a:p>
                  </a:txBody>
                  <a:tcPr marL="54864" marR="54864" marT="18288" marB="18288" anchor="ctr">
                    <a:solidFill>
                      <a:srgbClr val="FFFFFF"/>
                    </a:solidFill>
                  </a:tcPr>
                </a:tc>
                <a:tc>
                  <a:txBody>
                    <a:bodyPr/>
                    <a:lstStyle/>
                    <a:p>
                      <a:pPr algn="ctr">
                        <a:defRPr sz="1100" b="0">
                          <a:solidFill>
                            <a:srgbClr val="0B0B0B"/>
                          </a:solidFill>
                          <a:latin typeface="Calibri"/>
                        </a:defRPr>
                      </a:pPr>
                      <a:r>
                        <a:t>sí</a:t>
                      </a:r>
                    </a:p>
                  </a:txBody>
                  <a:tcPr marL="54864" marR="54864" marT="18288" marB="18288" anchor="ctr">
                    <a:solidFill>
                      <a:srgbClr val="FFFFFF"/>
                    </a:solidFill>
                  </a:tcPr>
                </a:tc>
              </a:tr>
            </a:tbl>
          </a:graphicData>
        </a:graphic>
      </p:graphicFrame>
      <p:sp>
        <p:nvSpPr>
          <p:cNvPr id="12" name="TextBox 11"/>
          <p:cNvSpPr txBox="1"/>
          <p:nvPr/>
        </p:nvSpPr>
        <p:spPr>
          <a:xfrm>
            <a:off x="5852160" y="3474720"/>
            <a:ext cx="5669280" cy="457200"/>
          </a:xfrm>
          <a:prstGeom prst="rect">
            <a:avLst/>
          </a:prstGeom>
          <a:noFill/>
        </p:spPr>
        <p:txBody>
          <a:bodyPr wrap="square" anchor="t" lIns="45720" rIns="45720" tIns="27432" bIns="27432">
            <a:spAutoFit/>
          </a:bodyPr>
          <a:lstStyle/>
          <a:p>
            <a:pPr algn="l">
              <a:lnSpc>
                <a:spcPct val="110000"/>
              </a:lnSpc>
              <a:defRPr sz="1100" b="0" i="0">
                <a:solidFill>
                  <a:srgbClr val="52514E"/>
                </a:solidFill>
                <a:latin typeface="Calibri"/>
              </a:defRPr>
            </a:pPr>
            <a:r>
              <a:t>rango = ⌈(n + 1)(1 − α)⌉. Si supera n, el umbral es infinito y la clase entra siempre en el conjunto.</a:t>
            </a:r>
          </a:p>
        </p:txBody>
      </p:sp>
      <p:sp>
        <p:nvSpPr>
          <p:cNvPr id="13" name="Rounded Rectangle 12"/>
          <p:cNvSpPr/>
          <p:nvPr/>
        </p:nvSpPr>
        <p:spPr>
          <a:xfrm>
            <a:off x="640080" y="4297680"/>
            <a:ext cx="10881360" cy="1645920"/>
          </a:xfrm>
          <a:prstGeom prst="roundRect">
            <a:avLst>
              <a:gd name="adj" fmla="val 6000"/>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40080" y="4297680"/>
            <a:ext cx="82296" cy="1645920"/>
          </a:xfrm>
          <a:prstGeom prst="roundRect">
            <a:avLst>
              <a:gd name="adj" fmla="val 50000"/>
            </a:avLst>
          </a:prstGeom>
          <a:solidFill>
            <a:srgbClr val="1C5C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59" y="4389120"/>
            <a:ext cx="10607040" cy="411480"/>
          </a:xfrm>
          <a:prstGeom prst="rect">
            <a:avLst/>
          </a:prstGeom>
          <a:noFill/>
        </p:spPr>
        <p:txBody>
          <a:bodyPr wrap="square" anchor="t" lIns="45720" rIns="45720" tIns="27432" bIns="27432">
            <a:spAutoFit/>
          </a:bodyPr>
          <a:lstStyle/>
          <a:p>
            <a:pPr algn="l">
              <a:lnSpc>
                <a:spcPct val="110000"/>
              </a:lnSpc>
              <a:defRPr sz="1500" b="1" i="0">
                <a:solidFill>
                  <a:srgbClr val="0B0B0B"/>
                </a:solidFill>
                <a:latin typeface="Calibri"/>
              </a:defRPr>
            </a:pPr>
            <a:r>
              <a:t>Por qué 0.30 de calibración y no más</a:t>
            </a:r>
          </a:p>
        </p:txBody>
      </p:sp>
      <p:sp>
        <p:nvSpPr>
          <p:cNvPr id="16" name="TextBox 15"/>
          <p:cNvSpPr txBox="1"/>
          <p:nvPr/>
        </p:nvSpPr>
        <p:spPr>
          <a:xfrm>
            <a:off x="822959" y="4800600"/>
            <a:ext cx="10607040" cy="1097280"/>
          </a:xfrm>
          <a:prstGeom prst="rect">
            <a:avLst/>
          </a:prstGeom>
          <a:noFill/>
        </p:spPr>
        <p:txBody>
          <a:bodyPr wrap="square" anchor="t" lIns="45720" rIns="45720" tIns="27432" bIns="27432">
            <a:spAutoFit/>
          </a:bodyPr>
          <a:lstStyle/>
          <a:p>
            <a:pPr algn="l">
              <a:lnSpc>
                <a:spcPct val="110000"/>
              </a:lnSpc>
              <a:defRPr sz="1200" b="0" i="0">
                <a:solidFill>
                  <a:srgbClr val="52514E"/>
                </a:solidFill>
                <a:latin typeface="Calibri"/>
              </a:defRPr>
            </a:pPr>
            <a:r>
              <a:t>Con α = 0.05, TWF necesita 19 ejemplos de calibración. Alcanzarlos exige poner el 45 % de los datos en calibración, dejando 7 casos de TWF en prueba: su cobertura sería prácticamente no medible. Se eligió 0.30 / 0.20 y se reportan tres alphas (0.05, 0.10, 0.20). Con 0.05, Mondrian asigna umbral infinito a TWF: no es un error, es el comportamiento conservador de la garantía con calibración escasa. No se duplicaron ni generaron ejemplos.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1170432"/>
            <a:ext cx="548640" cy="45720"/>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7315200" cy="274320"/>
          </a:xfrm>
          <a:prstGeom prst="rect">
            <a:avLst/>
          </a:prstGeom>
          <a:noFill/>
        </p:spPr>
        <p:txBody>
          <a:bodyPr wrap="square" anchor="t" lIns="45720" rIns="45720" tIns="27432" bIns="27432">
            <a:spAutoFit/>
          </a:bodyPr>
          <a:lstStyle/>
          <a:p>
            <a:pPr algn="l">
              <a:lnSpc>
                <a:spcPct val="110000"/>
              </a:lnSpc>
              <a:defRPr sz="1100" b="1" i="0">
                <a:solidFill>
                  <a:srgbClr val="EB6834"/>
                </a:solidFill>
                <a:latin typeface="Calibri"/>
              </a:defRPr>
            </a:pPr>
            <a:r>
              <a:t>APÉNDICE I</a:t>
            </a:r>
          </a:p>
        </p:txBody>
      </p:sp>
      <p:sp>
        <p:nvSpPr>
          <p:cNvPr id="5" name="TextBox 4"/>
          <p:cNvSpPr txBox="1"/>
          <p:nvPr/>
        </p:nvSpPr>
        <p:spPr>
          <a:xfrm>
            <a:off x="640080" y="566928"/>
            <a:ext cx="10058400" cy="640080"/>
          </a:xfrm>
          <a:prstGeom prst="rect">
            <a:avLst/>
          </a:prstGeom>
          <a:noFill/>
        </p:spPr>
        <p:txBody>
          <a:bodyPr wrap="square" anchor="t" lIns="45720" rIns="45720" tIns="27432" bIns="27432">
            <a:spAutoFit/>
          </a:bodyPr>
          <a:lstStyle/>
          <a:p>
            <a:pPr algn="l">
              <a:lnSpc>
                <a:spcPct val="110000"/>
              </a:lnSpc>
              <a:defRPr sz="2400" b="1" i="0">
                <a:solidFill>
                  <a:srgbClr val="0F2A4A"/>
                </a:solidFill>
                <a:latin typeface="Calibri"/>
              </a:defRPr>
            </a:pPr>
            <a:r>
              <a:t>Split conformal frente a Mondrian y el argumento del rango</a:t>
            </a:r>
          </a:p>
        </p:txBody>
      </p:sp>
      <p:sp>
        <p:nvSpPr>
          <p:cNvPr id="6" name="Rectangle 5"/>
          <p:cNvSpPr/>
          <p:nvPr/>
        </p:nvSpPr>
        <p:spPr>
          <a:xfrm>
            <a:off x="0" y="6537960"/>
            <a:ext cx="12191695" cy="320040"/>
          </a:xfrm>
          <a:prstGeom prst="rect">
            <a:avLst/>
          </a:prstGeom>
          <a:solidFill>
            <a:srgbClr val="0F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574536"/>
            <a:ext cx="7315200" cy="256032"/>
          </a:xfrm>
          <a:prstGeom prst="rect">
            <a:avLst/>
          </a:prstGeom>
          <a:noFill/>
        </p:spPr>
        <p:txBody>
          <a:bodyPr wrap="square" anchor="t" lIns="45720" rIns="45720" tIns="27432" bIns="27432">
            <a:spAutoFit/>
          </a:bodyPr>
          <a:lstStyle/>
          <a:p>
            <a:pPr algn="l">
              <a:lnSpc>
                <a:spcPct val="110000"/>
              </a:lnSpc>
              <a:defRPr sz="900" b="0" i="0">
                <a:solidFill>
                  <a:srgbClr val="C9D6E8"/>
                </a:solidFill>
                <a:latin typeface="Calibri"/>
              </a:defRPr>
            </a:pPr>
            <a:r>
              <a:t>Predicción conforme y abstención selectiva · AI4I 2020</a:t>
            </a:r>
          </a:p>
        </p:txBody>
      </p:sp>
      <p:sp>
        <p:nvSpPr>
          <p:cNvPr id="8" name="TextBox 7"/>
          <p:cNvSpPr txBox="1"/>
          <p:nvPr/>
        </p:nvSpPr>
        <p:spPr>
          <a:xfrm>
            <a:off x="11155680" y="6574536"/>
            <a:ext cx="457200" cy="256032"/>
          </a:xfrm>
          <a:prstGeom prst="rect">
            <a:avLst/>
          </a:prstGeom>
          <a:noFill/>
        </p:spPr>
        <p:txBody>
          <a:bodyPr wrap="square" anchor="t" lIns="45720" rIns="45720" tIns="27432" bIns="27432">
            <a:spAutoFit/>
          </a:bodyPr>
          <a:lstStyle/>
          <a:p>
            <a:pPr algn="r">
              <a:lnSpc>
                <a:spcPct val="110000"/>
              </a:lnSpc>
              <a:defRPr sz="900" b="0" i="0">
                <a:solidFill>
                  <a:srgbClr val="C9D6E8"/>
                </a:solidFill>
                <a:latin typeface="Calibri"/>
              </a:defRPr>
            </a:pPr>
            <a:r>
              <a:t>19</a:t>
            </a:r>
          </a:p>
        </p:txBody>
      </p:sp>
      <p:sp>
        <p:nvSpPr>
          <p:cNvPr id="9" name="Rounded Rectangle 8"/>
          <p:cNvSpPr/>
          <p:nvPr/>
        </p:nvSpPr>
        <p:spPr>
          <a:xfrm>
            <a:off x="640080" y="1417320"/>
            <a:ext cx="5303520" cy="2834640"/>
          </a:xfrm>
          <a:prstGeom prst="roundRect">
            <a:avLst>
              <a:gd name="adj" fmla="val 5000"/>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1481328"/>
            <a:ext cx="4937760" cy="365760"/>
          </a:xfrm>
          <a:prstGeom prst="rect">
            <a:avLst/>
          </a:prstGeom>
          <a:noFill/>
        </p:spPr>
        <p:txBody>
          <a:bodyPr wrap="square" anchor="t" lIns="45720" rIns="45720" tIns="27432" bIns="27432">
            <a:spAutoFit/>
          </a:bodyPr>
          <a:lstStyle/>
          <a:p>
            <a:pPr algn="l">
              <a:lnSpc>
                <a:spcPct val="110000"/>
              </a:lnSpc>
              <a:defRPr sz="1500" b="1" i="0">
                <a:solidFill>
                  <a:srgbClr val="2A78D6"/>
                </a:solidFill>
                <a:latin typeface="Calibri"/>
              </a:defRPr>
            </a:pPr>
            <a:r>
              <a:t>Split conformal</a:t>
            </a:r>
          </a:p>
        </p:txBody>
      </p:sp>
      <p:sp>
        <p:nvSpPr>
          <p:cNvPr id="11" name="TextBox 10"/>
          <p:cNvSpPr txBox="1"/>
          <p:nvPr/>
        </p:nvSpPr>
        <p:spPr>
          <a:xfrm>
            <a:off x="822960" y="1828800"/>
            <a:ext cx="4937760" cy="640080"/>
          </a:xfrm>
          <a:prstGeom prst="rect">
            <a:avLst/>
          </a:prstGeom>
          <a:noFill/>
        </p:spPr>
        <p:txBody>
          <a:bodyPr wrap="square" anchor="t" lIns="45720" rIns="45720" tIns="27432" bIns="27432">
            <a:spAutoFit/>
          </a:bodyPr>
          <a:lstStyle/>
          <a:p>
            <a:pPr algn="l">
              <a:lnSpc>
                <a:spcPct val="110000"/>
              </a:lnSpc>
              <a:defRPr sz="1200" b="0" i="0">
                <a:solidFill>
                  <a:srgbClr val="0B0B0B"/>
                </a:solidFill>
                <a:latin typeface="Calibri"/>
              </a:defRPr>
            </a:pPr>
            <a:r>
              <a:t>Todas las puntuaciones de calibración juntas → un solo q̂. Garantía marginal: promedio sobre todas las clases.</a:t>
            </a:r>
          </a:p>
        </p:txBody>
      </p:sp>
      <p:sp>
        <p:nvSpPr>
          <p:cNvPr id="12" name="Rounded Rectangle 11"/>
          <p:cNvSpPr/>
          <p:nvPr/>
        </p:nvSpPr>
        <p:spPr>
          <a:xfrm>
            <a:off x="822960" y="2514600"/>
            <a:ext cx="4937760" cy="640080"/>
          </a:xfrm>
          <a:prstGeom prst="roundRect">
            <a:avLst>
              <a:gd name="adj" fmla="val 15000"/>
            </a:avLst>
          </a:prstGeom>
          <a:solidFill>
            <a:srgbClr val="DCE8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defRPr sz="1200" b="0">
                <a:solidFill>
                  <a:srgbClr val="0B0B0B"/>
                </a:solidFill>
                <a:latin typeface="Calibri"/>
              </a:defRPr>
            </a:pPr>
            <a:r>
              <a:t>2 992 puntuaciones: 2 893 Normal + 99 fallas → q̂ = 0.0019 (α = 0.05)</a:t>
            </a:r>
          </a:p>
        </p:txBody>
      </p:sp>
      <p:sp>
        <p:nvSpPr>
          <p:cNvPr id="13" name="TextBox 12"/>
          <p:cNvSpPr txBox="1"/>
          <p:nvPr/>
        </p:nvSpPr>
        <p:spPr>
          <a:xfrm>
            <a:off x="822960" y="3246120"/>
            <a:ext cx="4937760" cy="822960"/>
          </a:xfrm>
          <a:prstGeom prst="rect">
            <a:avLst/>
          </a:prstGeom>
          <a:noFill/>
        </p:spPr>
        <p:txBody>
          <a:bodyPr wrap="square" anchor="t" lIns="45720" rIns="45720" tIns="27432" bIns="27432">
            <a:spAutoFit/>
          </a:bodyPr>
          <a:lstStyle/>
          <a:p>
            <a:pPr algn="l">
              <a:lnSpc>
                <a:spcPct val="110000"/>
              </a:lnSpc>
              <a:defRPr sz="1200" b="0" i="1">
                <a:solidFill>
                  <a:srgbClr val="EB6834"/>
                </a:solidFill>
                <a:latin typeface="Calibri"/>
              </a:defRPr>
            </a:pPr>
            <a:r>
              <a:t>Riesgo: con 96.7 % de Normal, la cobertura del 95 % puede alcanzarse ignorando por completo las clases de falla.</a:t>
            </a:r>
          </a:p>
        </p:txBody>
      </p:sp>
      <p:sp>
        <p:nvSpPr>
          <p:cNvPr id="14" name="Rounded Rectangle 13"/>
          <p:cNvSpPr/>
          <p:nvPr/>
        </p:nvSpPr>
        <p:spPr>
          <a:xfrm>
            <a:off x="6217920" y="1417320"/>
            <a:ext cx="5303520" cy="2834640"/>
          </a:xfrm>
          <a:prstGeom prst="roundRect">
            <a:avLst>
              <a:gd name="adj" fmla="val 5000"/>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1481328"/>
            <a:ext cx="4937760" cy="365760"/>
          </a:xfrm>
          <a:prstGeom prst="rect">
            <a:avLst/>
          </a:prstGeom>
          <a:noFill/>
        </p:spPr>
        <p:txBody>
          <a:bodyPr wrap="square" anchor="t" lIns="45720" rIns="45720" tIns="27432" bIns="27432">
            <a:spAutoFit/>
          </a:bodyPr>
          <a:lstStyle/>
          <a:p>
            <a:pPr algn="l">
              <a:lnSpc>
                <a:spcPct val="110000"/>
              </a:lnSpc>
              <a:defRPr sz="1500" b="1" i="0">
                <a:solidFill>
                  <a:srgbClr val="EB6834"/>
                </a:solidFill>
                <a:latin typeface="Calibri"/>
              </a:defRPr>
            </a:pPr>
            <a:r>
              <a:t>Mondrian (condicionado por clase)</a:t>
            </a:r>
          </a:p>
        </p:txBody>
      </p:sp>
      <p:sp>
        <p:nvSpPr>
          <p:cNvPr id="16" name="TextBox 15"/>
          <p:cNvSpPr txBox="1"/>
          <p:nvPr/>
        </p:nvSpPr>
        <p:spPr>
          <a:xfrm>
            <a:off x="6400800" y="1828800"/>
            <a:ext cx="4937760" cy="640080"/>
          </a:xfrm>
          <a:prstGeom prst="rect">
            <a:avLst/>
          </a:prstGeom>
          <a:noFill/>
        </p:spPr>
        <p:txBody>
          <a:bodyPr wrap="square" anchor="t" lIns="45720" rIns="45720" tIns="27432" bIns="27432">
            <a:spAutoFit/>
          </a:bodyPr>
          <a:lstStyle/>
          <a:p>
            <a:pPr algn="l">
              <a:lnSpc>
                <a:spcPct val="110000"/>
              </a:lnSpc>
              <a:defRPr sz="1200" b="0" i="0">
                <a:solidFill>
                  <a:srgbClr val="0B0B0B"/>
                </a:solidFill>
                <a:latin typeface="Calibri"/>
              </a:defRPr>
            </a:pPr>
            <a:r>
              <a:t>Calibración agrupada por etiqueta verdadera → un q̂ₖ por clase. El mismo argumento dentro de cada clase garantiza cobertura por clase.</a:t>
            </a:r>
          </a:p>
        </p:txBody>
      </p:sp>
      <p:sp>
        <p:nvSpPr>
          <p:cNvPr id="17" name="Rounded Rectangle 16"/>
          <p:cNvSpPr/>
          <p:nvPr/>
        </p:nvSpPr>
        <p:spPr>
          <a:xfrm>
            <a:off x="6400800" y="2514600"/>
            <a:ext cx="914400" cy="868680"/>
          </a:xfrm>
          <a:prstGeom prst="roundRect">
            <a:avLst>
              <a:gd name="adj" fmla="val 12000"/>
            </a:avLst>
          </a:prstGeom>
          <a:solidFill>
            <a:srgbClr val="FBE3D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defRPr sz="1100" b="1">
                <a:solidFill>
                  <a:srgbClr val="0B0B0B"/>
                </a:solidFill>
                <a:latin typeface="Calibri"/>
              </a:defRPr>
            </a:pPr>
            <a:r>
              <a:t>Normal</a:t>
            </a:r>
          </a:p>
          <a:p>
            <a:pPr algn="ctr">
              <a:defRPr sz="900" b="0">
                <a:solidFill>
                  <a:srgbClr val="0B0B0B"/>
                </a:solidFill>
                <a:latin typeface="Calibri"/>
              </a:defRPr>
            </a:pPr>
            <a:r>
              <a:t>n 2 893</a:t>
            </a:r>
          </a:p>
          <a:p>
            <a:pPr algn="ctr">
              <a:defRPr sz="900" b="0">
                <a:solidFill>
                  <a:srgbClr val="0B0B0B"/>
                </a:solidFill>
                <a:latin typeface="Calibri"/>
              </a:defRPr>
            </a:pPr>
            <a:r>
              <a:t>q̂ = 1.1e-4</a:t>
            </a:r>
          </a:p>
        </p:txBody>
      </p:sp>
      <p:sp>
        <p:nvSpPr>
          <p:cNvPr id="18" name="Rounded Rectangle 17"/>
          <p:cNvSpPr/>
          <p:nvPr/>
        </p:nvSpPr>
        <p:spPr>
          <a:xfrm>
            <a:off x="7397496" y="2514600"/>
            <a:ext cx="914400" cy="868680"/>
          </a:xfrm>
          <a:prstGeom prst="roundRect">
            <a:avLst>
              <a:gd name="adj" fmla="val 12000"/>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defRPr sz="1100" b="1">
                <a:solidFill>
                  <a:srgbClr val="FFFFFF"/>
                </a:solidFill>
                <a:latin typeface="Calibri"/>
              </a:defRPr>
            </a:pPr>
            <a:r>
              <a:t>TWF</a:t>
            </a:r>
          </a:p>
          <a:p>
            <a:pPr algn="ctr">
              <a:defRPr sz="900" b="0">
                <a:solidFill>
                  <a:srgbClr val="FFFFFF"/>
                </a:solidFill>
                <a:latin typeface="Calibri"/>
              </a:defRPr>
            </a:pPr>
            <a:r>
              <a:t>n 14</a:t>
            </a:r>
          </a:p>
          <a:p>
            <a:pPr algn="ctr">
              <a:defRPr sz="900" b="0">
                <a:solidFill>
                  <a:srgbClr val="FFFFFF"/>
                </a:solidFill>
                <a:latin typeface="Calibri"/>
              </a:defRPr>
            </a:pPr>
            <a:r>
              <a:t>q̂ = ∞</a:t>
            </a:r>
          </a:p>
        </p:txBody>
      </p:sp>
      <p:sp>
        <p:nvSpPr>
          <p:cNvPr id="19" name="Rounded Rectangle 18"/>
          <p:cNvSpPr/>
          <p:nvPr/>
        </p:nvSpPr>
        <p:spPr>
          <a:xfrm>
            <a:off x="8394192" y="2514600"/>
            <a:ext cx="914400" cy="868680"/>
          </a:xfrm>
          <a:prstGeom prst="roundRect">
            <a:avLst>
              <a:gd name="adj" fmla="val 12000"/>
            </a:avLst>
          </a:prstGeom>
          <a:solidFill>
            <a:srgbClr val="FBE3D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defRPr sz="1100" b="1">
                <a:solidFill>
                  <a:srgbClr val="0B0B0B"/>
                </a:solidFill>
                <a:latin typeface="Calibri"/>
              </a:defRPr>
            </a:pPr>
            <a:r>
              <a:t>HDF</a:t>
            </a:r>
          </a:p>
          <a:p>
            <a:pPr algn="ctr">
              <a:defRPr sz="900" b="0">
                <a:solidFill>
                  <a:srgbClr val="0B0B0B"/>
                </a:solidFill>
                <a:latin typeface="Calibri"/>
              </a:defRPr>
            </a:pPr>
            <a:r>
              <a:t>n 32</a:t>
            </a:r>
          </a:p>
          <a:p>
            <a:pPr algn="ctr">
              <a:defRPr sz="900" b="0">
                <a:solidFill>
                  <a:srgbClr val="0B0B0B"/>
                </a:solidFill>
                <a:latin typeface="Calibri"/>
              </a:defRPr>
            </a:pPr>
            <a:r>
              <a:t>q̂ = 0.982</a:t>
            </a:r>
          </a:p>
        </p:txBody>
      </p:sp>
      <p:sp>
        <p:nvSpPr>
          <p:cNvPr id="20" name="Rounded Rectangle 19"/>
          <p:cNvSpPr/>
          <p:nvPr/>
        </p:nvSpPr>
        <p:spPr>
          <a:xfrm>
            <a:off x="9390888" y="2514600"/>
            <a:ext cx="914400" cy="868680"/>
          </a:xfrm>
          <a:prstGeom prst="roundRect">
            <a:avLst>
              <a:gd name="adj" fmla="val 12000"/>
            </a:avLst>
          </a:prstGeom>
          <a:solidFill>
            <a:srgbClr val="FBE3D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defRPr sz="1100" b="1">
                <a:solidFill>
                  <a:srgbClr val="0B0B0B"/>
                </a:solidFill>
                <a:latin typeface="Calibri"/>
              </a:defRPr>
            </a:pPr>
            <a:r>
              <a:t>PWF</a:t>
            </a:r>
          </a:p>
          <a:p>
            <a:pPr algn="ctr">
              <a:defRPr sz="900" b="0">
                <a:solidFill>
                  <a:srgbClr val="0B0B0B"/>
                </a:solidFill>
                <a:latin typeface="Calibri"/>
              </a:defRPr>
            </a:pPr>
            <a:r>
              <a:t>n 28</a:t>
            </a:r>
          </a:p>
          <a:p>
            <a:pPr algn="ctr">
              <a:defRPr sz="900" b="0">
                <a:solidFill>
                  <a:srgbClr val="0B0B0B"/>
                </a:solidFill>
                <a:latin typeface="Calibri"/>
              </a:defRPr>
            </a:pPr>
            <a:r>
              <a:t>q̂ = 1.000</a:t>
            </a:r>
          </a:p>
        </p:txBody>
      </p:sp>
      <p:sp>
        <p:nvSpPr>
          <p:cNvPr id="21" name="Rounded Rectangle 20"/>
          <p:cNvSpPr/>
          <p:nvPr/>
        </p:nvSpPr>
        <p:spPr>
          <a:xfrm>
            <a:off x="10387584" y="2514600"/>
            <a:ext cx="914400" cy="868680"/>
          </a:xfrm>
          <a:prstGeom prst="roundRect">
            <a:avLst>
              <a:gd name="adj" fmla="val 12000"/>
            </a:avLst>
          </a:prstGeom>
          <a:solidFill>
            <a:srgbClr val="FBE3D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defRPr sz="1100" b="1">
                <a:solidFill>
                  <a:srgbClr val="0B0B0B"/>
                </a:solidFill>
                <a:latin typeface="Calibri"/>
              </a:defRPr>
            </a:pPr>
            <a:r>
              <a:t>OSF</a:t>
            </a:r>
          </a:p>
          <a:p>
            <a:pPr algn="ctr">
              <a:defRPr sz="900" b="0">
                <a:solidFill>
                  <a:srgbClr val="0B0B0B"/>
                </a:solidFill>
                <a:latin typeface="Calibri"/>
              </a:defRPr>
            </a:pPr>
            <a:r>
              <a:t>n 25</a:t>
            </a:r>
          </a:p>
          <a:p>
            <a:pPr algn="ctr">
              <a:defRPr sz="900" b="0">
                <a:solidFill>
                  <a:srgbClr val="0B0B0B"/>
                </a:solidFill>
                <a:latin typeface="Calibri"/>
              </a:defRPr>
            </a:pPr>
            <a:r>
              <a:t>q̂ = 1.000</a:t>
            </a:r>
          </a:p>
        </p:txBody>
      </p:sp>
      <p:sp>
        <p:nvSpPr>
          <p:cNvPr id="22" name="TextBox 21"/>
          <p:cNvSpPr txBox="1"/>
          <p:nvPr/>
        </p:nvSpPr>
        <p:spPr>
          <a:xfrm>
            <a:off x="6400800" y="3474720"/>
            <a:ext cx="4937760" cy="640080"/>
          </a:xfrm>
          <a:prstGeom prst="rect">
            <a:avLst/>
          </a:prstGeom>
          <a:noFill/>
        </p:spPr>
        <p:txBody>
          <a:bodyPr wrap="square" anchor="t" lIns="45720" rIns="45720" tIns="27432" bIns="27432">
            <a:spAutoFit/>
          </a:bodyPr>
          <a:lstStyle/>
          <a:p>
            <a:pPr algn="l">
              <a:lnSpc>
                <a:spcPct val="110000"/>
              </a:lnSpc>
              <a:defRPr sz="1200" b="0" i="1">
                <a:solidFill>
                  <a:srgbClr val="52514E"/>
                </a:solidFill>
                <a:latin typeface="Calibri"/>
              </a:defRPr>
            </a:pPr>
            <a:r>
              <a:t>Precio: cada clase se calibra con pocas muestras; TWF con 14 ejemplos recibe umbral infinito con α = 0.05.</a:t>
            </a:r>
          </a:p>
        </p:txBody>
      </p:sp>
      <p:sp>
        <p:nvSpPr>
          <p:cNvPr id="23" name="Rounded Rectangle 22"/>
          <p:cNvSpPr/>
          <p:nvPr/>
        </p:nvSpPr>
        <p:spPr>
          <a:xfrm>
            <a:off x="640080" y="4480560"/>
            <a:ext cx="10881360" cy="1554480"/>
          </a:xfrm>
          <a:prstGeom prst="roundRect">
            <a:avLst>
              <a:gd name="adj" fmla="val 5000"/>
            </a:avLst>
          </a:prstGeom>
          <a:solidFill>
            <a:srgbClr val="DC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 y="4544568"/>
            <a:ext cx="10515600" cy="365760"/>
          </a:xfrm>
          <a:prstGeom prst="rect">
            <a:avLst/>
          </a:prstGeom>
          <a:noFill/>
        </p:spPr>
        <p:txBody>
          <a:bodyPr wrap="square" anchor="t" lIns="45720" rIns="45720" tIns="27432" bIns="27432">
            <a:spAutoFit/>
          </a:bodyPr>
          <a:lstStyle/>
          <a:p>
            <a:pPr algn="l">
              <a:lnSpc>
                <a:spcPct val="110000"/>
              </a:lnSpc>
              <a:defRPr sz="1300" b="1" i="0">
                <a:solidFill>
                  <a:srgbClr val="1C5CAB"/>
                </a:solidFill>
                <a:latin typeface="Calibri"/>
              </a:defRPr>
            </a:pPr>
            <a:r>
              <a:t>Por qué ⌈(n + 1)(1 − α)⌉ y no el cuantil empírico de n</a:t>
            </a:r>
          </a:p>
        </p:txBody>
      </p:sp>
      <p:sp>
        <p:nvSpPr>
          <p:cNvPr id="25" name="TextBox 24"/>
          <p:cNvSpPr txBox="1"/>
          <p:nvPr/>
        </p:nvSpPr>
        <p:spPr>
          <a:xfrm>
            <a:off x="822960" y="4892040"/>
            <a:ext cx="10515600" cy="1097280"/>
          </a:xfrm>
          <a:prstGeom prst="rect">
            <a:avLst/>
          </a:prstGeom>
          <a:noFill/>
        </p:spPr>
        <p:txBody>
          <a:bodyPr wrap="square" anchor="t" lIns="45720" rIns="45720" tIns="27432" bIns="27432">
            <a:spAutoFit/>
          </a:bodyPr>
          <a:lstStyle/>
          <a:p>
            <a:pPr algn="l">
              <a:lnSpc>
                <a:spcPct val="115000"/>
              </a:lnSpc>
              <a:defRPr sz="1100" b="0" i="0">
                <a:solidFill>
                  <a:srgbClr val="0B0B0B"/>
                </a:solidFill>
                <a:latin typeface="Calibri"/>
              </a:defRPr>
            </a:pPr>
            <a:r>
              <a:t>Bajo intercambiabilidad, el rango de la puntuación nueva entre las n + 1 es uniforme en {1, …, n + 1}. Así P(s_new ≤ s_(k)) ≥ k / (n + 1) para cualquier k.</a:t>
            </a:r>
          </a:p>
          <a:p>
            <a:pPr algn="l">
              <a:lnSpc>
                <a:spcPct val="115000"/>
              </a:lnSpc>
              <a:defRPr sz="1100" b="0" i="0">
                <a:solidFill>
                  <a:srgbClr val="0B0B0B"/>
                </a:solidFill>
                <a:latin typeface="Calibri"/>
              </a:defRPr>
            </a:pPr>
            <a:r>
              <a:t>Con k = ⌈(n + 1)(1 − α)⌉ se obtiene k / (n + 1) ≥ 1 − α. Sin la corrección +1 el rango es menor y la cobertura puede quedar por debajo de 1 − α. Sin empates, la cobertura tampoco supera 1 − α + 1/(n + 1) (Lei et al., 2018).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1170432"/>
            <a:ext cx="548640" cy="45720"/>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7315200" cy="274320"/>
          </a:xfrm>
          <a:prstGeom prst="rect">
            <a:avLst/>
          </a:prstGeom>
          <a:noFill/>
        </p:spPr>
        <p:txBody>
          <a:bodyPr wrap="square" anchor="t" lIns="45720" rIns="45720" tIns="27432" bIns="27432">
            <a:spAutoFit/>
          </a:bodyPr>
          <a:lstStyle/>
          <a:p>
            <a:pPr algn="l">
              <a:lnSpc>
                <a:spcPct val="110000"/>
              </a:lnSpc>
              <a:defRPr sz="1100" b="1" i="0">
                <a:solidFill>
                  <a:srgbClr val="EB6834"/>
                </a:solidFill>
                <a:latin typeface="Calibri"/>
              </a:defRPr>
            </a:pPr>
            <a:r>
              <a:t>APÉNDICE J</a:t>
            </a:r>
          </a:p>
        </p:txBody>
      </p:sp>
      <p:sp>
        <p:nvSpPr>
          <p:cNvPr id="5" name="TextBox 4"/>
          <p:cNvSpPr txBox="1"/>
          <p:nvPr/>
        </p:nvSpPr>
        <p:spPr>
          <a:xfrm>
            <a:off x="640080" y="566928"/>
            <a:ext cx="10058400" cy="640080"/>
          </a:xfrm>
          <a:prstGeom prst="rect">
            <a:avLst/>
          </a:prstGeom>
          <a:noFill/>
        </p:spPr>
        <p:txBody>
          <a:bodyPr wrap="square" anchor="t" lIns="45720" rIns="45720" tIns="27432" bIns="27432">
            <a:spAutoFit/>
          </a:bodyPr>
          <a:lstStyle/>
          <a:p>
            <a:pPr algn="l">
              <a:lnSpc>
                <a:spcPct val="110000"/>
              </a:lnSpc>
              <a:defRPr sz="2400" b="1" i="0">
                <a:solidFill>
                  <a:srgbClr val="0F2A4A"/>
                </a:solidFill>
                <a:latin typeface="Calibri"/>
              </a:defRPr>
            </a:pPr>
            <a:r>
              <a:t>Los dos clasificadores y la traza de entrenamiento del MLP</a:t>
            </a:r>
          </a:p>
        </p:txBody>
      </p:sp>
      <p:sp>
        <p:nvSpPr>
          <p:cNvPr id="6" name="Rectangle 5"/>
          <p:cNvSpPr/>
          <p:nvPr/>
        </p:nvSpPr>
        <p:spPr>
          <a:xfrm>
            <a:off x="0" y="6537960"/>
            <a:ext cx="12191695" cy="320040"/>
          </a:xfrm>
          <a:prstGeom prst="rect">
            <a:avLst/>
          </a:prstGeom>
          <a:solidFill>
            <a:srgbClr val="0F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574536"/>
            <a:ext cx="7315200" cy="256032"/>
          </a:xfrm>
          <a:prstGeom prst="rect">
            <a:avLst/>
          </a:prstGeom>
          <a:noFill/>
        </p:spPr>
        <p:txBody>
          <a:bodyPr wrap="square" anchor="t" lIns="45720" rIns="45720" tIns="27432" bIns="27432">
            <a:spAutoFit/>
          </a:bodyPr>
          <a:lstStyle/>
          <a:p>
            <a:pPr algn="l">
              <a:lnSpc>
                <a:spcPct val="110000"/>
              </a:lnSpc>
              <a:defRPr sz="900" b="0" i="0">
                <a:solidFill>
                  <a:srgbClr val="C9D6E8"/>
                </a:solidFill>
                <a:latin typeface="Calibri"/>
              </a:defRPr>
            </a:pPr>
            <a:r>
              <a:t>Predicción conforme y abstención selectiva · AI4I 2020</a:t>
            </a:r>
          </a:p>
        </p:txBody>
      </p:sp>
      <p:sp>
        <p:nvSpPr>
          <p:cNvPr id="8" name="TextBox 7"/>
          <p:cNvSpPr txBox="1"/>
          <p:nvPr/>
        </p:nvSpPr>
        <p:spPr>
          <a:xfrm>
            <a:off x="11155680" y="6574536"/>
            <a:ext cx="457200" cy="256032"/>
          </a:xfrm>
          <a:prstGeom prst="rect">
            <a:avLst/>
          </a:prstGeom>
          <a:noFill/>
        </p:spPr>
        <p:txBody>
          <a:bodyPr wrap="square" anchor="t" lIns="45720" rIns="45720" tIns="27432" bIns="27432">
            <a:spAutoFit/>
          </a:bodyPr>
          <a:lstStyle/>
          <a:p>
            <a:pPr algn="r">
              <a:lnSpc>
                <a:spcPct val="110000"/>
              </a:lnSpc>
              <a:defRPr sz="900" b="0" i="0">
                <a:solidFill>
                  <a:srgbClr val="C9D6E8"/>
                </a:solidFill>
                <a:latin typeface="Calibri"/>
              </a:defRPr>
            </a:pPr>
            <a:r>
              <a:t>20</a:t>
            </a:r>
          </a:p>
        </p:txBody>
      </p:sp>
      <p:graphicFrame>
        <p:nvGraphicFramePr>
          <p:cNvPr id="9" name="Table 8"/>
          <p:cNvGraphicFramePr>
            <a:graphicFrameLocks noGrp="1"/>
          </p:cNvGraphicFramePr>
          <p:nvPr/>
        </p:nvGraphicFramePr>
        <p:xfrm>
          <a:off x="640080" y="1417320"/>
          <a:ext cx="10881360" cy="2194560"/>
        </p:xfrm>
        <a:graphic>
          <a:graphicData uri="http://schemas.openxmlformats.org/drawingml/2006/table">
            <a:tbl>
              <a:tblPr firstRow="1" bandRow="1">
                <a:tableStyleId>{5C22544A-7EE6-4342-B048-85BDC9FD1C3A}</a:tableStyleId>
              </a:tblPr>
              <a:tblGrid>
                <a:gridCol w="2194560"/>
                <a:gridCol w="4206240"/>
                <a:gridCol w="4480560"/>
              </a:tblGrid>
              <a:tr h="365760">
                <a:tc>
                  <a:txBody>
                    <a:bodyPr/>
                    <a:lstStyle/>
                    <a:p>
                      <a:pPr algn="l">
                        <a:defRPr sz="1100" b="1">
                          <a:solidFill>
                            <a:srgbClr val="FFFFFF"/>
                          </a:solidFill>
                          <a:latin typeface="Calibri"/>
                        </a:defRPr>
                      </a:pPr>
                    </a:p>
                  </a:txBody>
                  <a:tcPr marL="54864" marR="54864" marT="18288" marB="18288" anchor="ctr">
                    <a:solidFill>
                      <a:srgbClr val="1C5CAB"/>
                    </a:solidFill>
                  </a:tcPr>
                </a:tc>
                <a:tc>
                  <a:txBody>
                    <a:bodyPr/>
                    <a:lstStyle/>
                    <a:p>
                      <a:pPr algn="ctr">
                        <a:defRPr sz="1100" b="1">
                          <a:solidFill>
                            <a:srgbClr val="FFFFFF"/>
                          </a:solidFill>
                          <a:latin typeface="Calibri"/>
                        </a:defRPr>
                      </a:pPr>
                      <a:r>
                        <a:t>HistGradientBoosting (base aprobado)</a:t>
                      </a:r>
                    </a:p>
                  </a:txBody>
                  <a:tcPr marL="54864" marR="54864" marT="18288" marB="18288" anchor="ctr">
                    <a:solidFill>
                      <a:srgbClr val="1C5CAB"/>
                    </a:solidFill>
                  </a:tcPr>
                </a:tc>
                <a:tc>
                  <a:txBody>
                    <a:bodyPr/>
                    <a:lstStyle/>
                    <a:p>
                      <a:pPr algn="ctr">
                        <a:defRPr sz="1100" b="1">
                          <a:solidFill>
                            <a:srgbClr val="FFFFFF"/>
                          </a:solidFill>
                          <a:latin typeface="Calibri"/>
                        </a:defRPr>
                      </a:pPr>
                      <a:r>
                        <a:t>MLP en PyTorch (extensión)</a:t>
                      </a:r>
                    </a:p>
                  </a:txBody>
                  <a:tcPr marL="54864" marR="54864" marT="18288" marB="18288" anchor="ctr">
                    <a:solidFill>
                      <a:srgbClr val="1C5CAB"/>
                    </a:solidFill>
                  </a:tcPr>
                </a:tc>
              </a:tr>
              <a:tr h="365760">
                <a:tc>
                  <a:txBody>
                    <a:bodyPr/>
                    <a:lstStyle/>
                    <a:p>
                      <a:pPr algn="l">
                        <a:defRPr sz="1100" b="1">
                          <a:solidFill>
                            <a:srgbClr val="0B0B0B"/>
                          </a:solidFill>
                          <a:latin typeface="Calibri"/>
                        </a:defRPr>
                      </a:pPr>
                      <a:r>
                        <a:t>Preprocesamiento</a:t>
                      </a:r>
                    </a:p>
                  </a:txBody>
                  <a:tcPr marL="54864" marR="54864" marT="18288" marB="18288" anchor="ctr">
                    <a:solidFill>
                      <a:srgbClr val="FFFFFF"/>
                    </a:solidFill>
                  </a:tcPr>
                </a:tc>
                <a:tc>
                  <a:txBody>
                    <a:bodyPr/>
                    <a:lstStyle/>
                    <a:p>
                      <a:pPr algn="ctr">
                        <a:defRPr sz="1100" b="0">
                          <a:solidFill>
                            <a:srgbClr val="0B0B0B"/>
                          </a:solidFill>
                          <a:latin typeface="Calibri"/>
                        </a:defRPr>
                      </a:pPr>
                      <a:r>
                        <a:t>One-hot de Type; numéricas sin escalar</a:t>
                      </a:r>
                    </a:p>
                  </a:txBody>
                  <a:tcPr marL="54864" marR="54864" marT="18288" marB="18288" anchor="ctr">
                    <a:solidFill>
                      <a:srgbClr val="FFFFFF"/>
                    </a:solidFill>
                  </a:tcPr>
                </a:tc>
                <a:tc>
                  <a:txBody>
                    <a:bodyPr/>
                    <a:lstStyle/>
                    <a:p>
                      <a:pPr algn="ctr">
                        <a:defRPr sz="1100" b="0">
                          <a:solidFill>
                            <a:srgbClr val="0B0B0B"/>
                          </a:solidFill>
                          <a:latin typeface="Calibri"/>
                        </a:defRPr>
                      </a:pPr>
                      <a:r>
                        <a:t>One-hot de Type; StandardScaler ajustado solo con entrenamiento</a:t>
                      </a:r>
                    </a:p>
                  </a:txBody>
                  <a:tcPr marL="54864" marR="54864" marT="18288" marB="18288" anchor="ctr">
                    <a:solidFill>
                      <a:srgbClr val="FFFFFF"/>
                    </a:solidFill>
                  </a:tcPr>
                </a:tc>
              </a:tr>
              <a:tr h="365760">
                <a:tc>
                  <a:txBody>
                    <a:bodyPr/>
                    <a:lstStyle/>
                    <a:p>
                      <a:pPr algn="l">
                        <a:defRPr sz="1100" b="1">
                          <a:solidFill>
                            <a:srgbClr val="0B0B0B"/>
                          </a:solidFill>
                          <a:latin typeface="Calibri"/>
                        </a:defRPr>
                      </a:pPr>
                      <a:r>
                        <a:t>Arquitectura</a:t>
                      </a:r>
                    </a:p>
                  </a:txBody>
                  <a:tcPr marL="54864" marR="54864" marT="18288" marB="18288" anchor="ctr">
                    <a:solidFill>
                      <a:srgbClr val="EEF1F6"/>
                    </a:solidFill>
                  </a:tcPr>
                </a:tc>
                <a:tc>
                  <a:txBody>
                    <a:bodyPr/>
                    <a:lstStyle/>
                    <a:p>
                      <a:pPr algn="ctr">
                        <a:defRPr sz="1100" b="0">
                          <a:solidFill>
                            <a:srgbClr val="0B0B0B"/>
                          </a:solidFill>
                          <a:latin typeface="Calibri"/>
                        </a:defRPr>
                      </a:pPr>
                      <a:r>
                        <a:t>100 iteraciones, sin early stopping</a:t>
                      </a:r>
                    </a:p>
                  </a:txBody>
                  <a:tcPr marL="54864" marR="54864" marT="18288" marB="18288" anchor="ctr">
                    <a:solidFill>
                      <a:srgbClr val="EEF1F6"/>
                    </a:solidFill>
                  </a:tcPr>
                </a:tc>
                <a:tc>
                  <a:txBody>
                    <a:bodyPr/>
                    <a:lstStyle/>
                    <a:p>
                      <a:pPr algn="ctr">
                        <a:defRPr sz="1100" b="0">
                          <a:solidFill>
                            <a:srgbClr val="0B0B0B"/>
                          </a:solidFill>
                          <a:latin typeface="Calibri"/>
                        </a:defRPr>
                      </a:pPr>
                      <a:r>
                        <a:t>8 → 64 → 64 → 5, ReLU; 5 061 parámetros</a:t>
                      </a:r>
                    </a:p>
                  </a:txBody>
                  <a:tcPr marL="54864" marR="54864" marT="18288" marB="18288" anchor="ctr">
                    <a:solidFill>
                      <a:srgbClr val="EEF1F6"/>
                    </a:solidFill>
                  </a:tcPr>
                </a:tc>
              </a:tr>
              <a:tr h="365760">
                <a:tc>
                  <a:txBody>
                    <a:bodyPr/>
                    <a:lstStyle/>
                    <a:p>
                      <a:pPr algn="l">
                        <a:defRPr sz="1100" b="1">
                          <a:solidFill>
                            <a:srgbClr val="0B0B0B"/>
                          </a:solidFill>
                          <a:latin typeface="Calibri"/>
                        </a:defRPr>
                      </a:pPr>
                      <a:r>
                        <a:t>Entrenamiento</a:t>
                      </a:r>
                    </a:p>
                  </a:txBody>
                  <a:tcPr marL="54864" marR="54864" marT="18288" marB="18288" anchor="ctr">
                    <a:solidFill>
                      <a:srgbClr val="FFFFFF"/>
                    </a:solidFill>
                  </a:tcPr>
                </a:tc>
                <a:tc>
                  <a:txBody>
                    <a:bodyPr/>
                    <a:lstStyle/>
                    <a:p>
                      <a:pPr algn="ctr">
                        <a:defRPr sz="1100" b="0">
                          <a:solidFill>
                            <a:srgbClr val="0B0B0B"/>
                          </a:solidFill>
                          <a:latin typeface="Calibri"/>
                        </a:defRPr>
                      </a:pPr>
                      <a:r>
                        <a:t>scikit-learn, CPU</a:t>
                      </a:r>
                    </a:p>
                  </a:txBody>
                  <a:tcPr marL="54864" marR="54864" marT="18288" marB="18288" anchor="ctr">
                    <a:solidFill>
                      <a:srgbClr val="FFFFFF"/>
                    </a:solidFill>
                  </a:tcPr>
                </a:tc>
                <a:tc>
                  <a:txBody>
                    <a:bodyPr/>
                    <a:lstStyle/>
                    <a:p>
                      <a:pPr algn="ctr">
                        <a:defRPr sz="1100" b="0">
                          <a:solidFill>
                            <a:srgbClr val="0B0B0B"/>
                          </a:solidFill>
                          <a:latin typeface="Calibri"/>
                        </a:defRPr>
                      </a:pPr>
                      <a:r>
                        <a:t>Adam 1e-3, 200 épocas, lotes de 256, RTX 5070 Ti</a:t>
                      </a:r>
                    </a:p>
                  </a:txBody>
                  <a:tcPr marL="54864" marR="54864" marT="18288" marB="18288" anchor="ctr">
                    <a:solidFill>
                      <a:srgbClr val="FFFFFF"/>
                    </a:solidFill>
                  </a:tcPr>
                </a:tc>
              </a:tr>
              <a:tr h="365760">
                <a:tc>
                  <a:txBody>
                    <a:bodyPr/>
                    <a:lstStyle/>
                    <a:p>
                      <a:pPr algn="l">
                        <a:defRPr sz="1100" b="1">
                          <a:solidFill>
                            <a:srgbClr val="0B0B0B"/>
                          </a:solidFill>
                          <a:latin typeface="Calibri"/>
                        </a:defRPr>
                      </a:pPr>
                      <a:r>
                        <a:t>Selección</a:t>
                      </a:r>
                    </a:p>
                  </a:txBody>
                  <a:tcPr marL="54864" marR="54864" marT="18288" marB="18288" anchor="ctr">
                    <a:solidFill>
                      <a:srgbClr val="EEF1F6"/>
                    </a:solidFill>
                  </a:tcPr>
                </a:tc>
                <a:tc>
                  <a:txBody>
                    <a:bodyPr/>
                    <a:lstStyle/>
                    <a:p>
                      <a:pPr algn="ctr">
                        <a:defRPr sz="1100" b="0">
                          <a:solidFill>
                            <a:srgbClr val="0B0B0B"/>
                          </a:solidFill>
                          <a:latin typeface="Calibri"/>
                        </a:defRPr>
                      </a:pPr>
                      <a:r>
                        <a:t>Ninguna: configuración fija</a:t>
                      </a:r>
                    </a:p>
                  </a:txBody>
                  <a:tcPr marL="54864" marR="54864" marT="18288" marB="18288" anchor="ctr">
                    <a:solidFill>
                      <a:srgbClr val="EEF1F6"/>
                    </a:solidFill>
                  </a:tcPr>
                </a:tc>
                <a:tc>
                  <a:txBody>
                    <a:bodyPr/>
                    <a:lstStyle/>
                    <a:p>
                      <a:pPr algn="ctr">
                        <a:defRPr sz="1100" b="0">
                          <a:solidFill>
                            <a:srgbClr val="0B0B0B"/>
                          </a:solidFill>
                          <a:latin typeface="Calibri"/>
                        </a:defRPr>
                      </a:pPr>
                      <a:r>
                        <a:t>Ninguna: épocas fijas, sin usar calibración ni prueba</a:t>
                      </a:r>
                    </a:p>
                  </a:txBody>
                  <a:tcPr marL="54864" marR="54864" marT="18288" marB="18288" anchor="ctr">
                    <a:solidFill>
                      <a:srgbClr val="EEF1F6"/>
                    </a:solidFill>
                  </a:tcPr>
                </a:tc>
              </a:tr>
              <a:tr h="365760">
                <a:tc>
                  <a:txBody>
                    <a:bodyPr/>
                    <a:lstStyle/>
                    <a:p>
                      <a:pPr algn="l">
                        <a:defRPr sz="1100" b="1">
                          <a:solidFill>
                            <a:srgbClr val="0B0B0B"/>
                          </a:solidFill>
                          <a:latin typeface="Calibri"/>
                        </a:defRPr>
                      </a:pPr>
                      <a:r>
                        <a:t>Exactitud en prueba (referencia)</a:t>
                      </a:r>
                    </a:p>
                  </a:txBody>
                  <a:tcPr marL="54864" marR="54864" marT="18288" marB="18288" anchor="ctr">
                    <a:solidFill>
                      <a:srgbClr val="FFFFFF"/>
                    </a:solidFill>
                  </a:tcPr>
                </a:tc>
                <a:tc>
                  <a:txBody>
                    <a:bodyPr/>
                    <a:lstStyle/>
                    <a:p>
                      <a:pPr algn="ctr">
                        <a:defRPr sz="1100" b="0">
                          <a:solidFill>
                            <a:srgbClr val="0B0B0B"/>
                          </a:solidFill>
                          <a:latin typeface="Calibri"/>
                        </a:defRPr>
                      </a:pPr>
                      <a:r>
                        <a:t>0.979 global · TWF 0.000</a:t>
                      </a:r>
                    </a:p>
                  </a:txBody>
                  <a:tcPr marL="54864" marR="54864" marT="18288" marB="18288" anchor="ctr">
                    <a:solidFill>
                      <a:srgbClr val="FFFFFF"/>
                    </a:solidFill>
                  </a:tcPr>
                </a:tc>
                <a:tc>
                  <a:txBody>
                    <a:bodyPr/>
                    <a:lstStyle/>
                    <a:p>
                      <a:pPr algn="ctr">
                        <a:defRPr sz="1100" b="0">
                          <a:solidFill>
                            <a:srgbClr val="0B0B0B"/>
                          </a:solidFill>
                          <a:latin typeface="Calibri"/>
                        </a:defRPr>
                      </a:pPr>
                      <a:r>
                        <a:t>0.982 global · TWF 0.111</a:t>
                      </a:r>
                    </a:p>
                  </a:txBody>
                  <a:tcPr marL="54864" marR="54864" marT="18288" marB="18288" anchor="ctr">
                    <a:solidFill>
                      <a:srgbClr val="FFFFFF"/>
                    </a:solidFill>
                  </a:tcPr>
                </a:tc>
              </a:tr>
            </a:tbl>
          </a:graphicData>
        </a:graphic>
      </p:graphicFrame>
      <p:pic>
        <p:nvPicPr>
          <p:cNvPr id="10" name="Picture 9" descr="training_trace_mlp.png"/>
          <p:cNvPicPr>
            <a:picLocks noChangeAspect="1"/>
          </p:cNvPicPr>
          <p:nvPr/>
        </p:nvPicPr>
        <p:blipFill>
          <a:blip r:embed="rId2"/>
          <a:stretch>
            <a:fillRect/>
          </a:stretch>
        </p:blipFill>
        <p:spPr>
          <a:xfrm>
            <a:off x="640080" y="3749039"/>
            <a:ext cx="7498079" cy="2124456"/>
          </a:xfrm>
          <a:prstGeom prst="rect">
            <a:avLst/>
          </a:prstGeom>
        </p:spPr>
      </p:pic>
      <p:sp>
        <p:nvSpPr>
          <p:cNvPr id="11" name="TextBox 10"/>
          <p:cNvSpPr txBox="1"/>
          <p:nvPr/>
        </p:nvSpPr>
        <p:spPr>
          <a:xfrm>
            <a:off x="8321040" y="3794760"/>
            <a:ext cx="3200400" cy="2468880"/>
          </a:xfrm>
          <a:prstGeom prst="rect">
            <a:avLst/>
          </a:prstGeom>
          <a:noFill/>
        </p:spPr>
        <p:txBody>
          <a:bodyPr wrap="square" anchor="t" lIns="45720" rIns="45720" tIns="27432" bIns="27432">
            <a:spAutoFit/>
          </a:bodyPr>
          <a:lstStyle/>
          <a:p>
            <a:pPr algn="l">
              <a:lnSpc>
                <a:spcPct val="110000"/>
              </a:lnSpc>
              <a:defRPr sz="1100" b="0" i="0">
                <a:solidFill>
                  <a:srgbClr val="0B0B0B"/>
                </a:solidFill>
                <a:latin typeface="Calibri"/>
              </a:defRPr>
            </a:pPr>
            <a:r>
              <a:t>Traza por época al estilo del hackatón 3: pérdida antes del paso, norma del gradiente y norma del cambio de parámetros.</a:t>
            </a:r>
          </a:p>
          <a:p>
            <a:pPr algn="l">
              <a:lnSpc>
                <a:spcPct val="110000"/>
              </a:lnSpc>
              <a:defRPr sz="1100" b="0" i="0">
                <a:solidFill>
                  <a:srgbClr val="0B0B0B"/>
                </a:solidFill>
                <a:latin typeface="Calibri"/>
              </a:defRPr>
            </a:pPr>
            <a:r>
              <a:t>La exactitud global de entrenamiento (0.995) apenas supera responder siempre Normal (0.967) y esconde que TWF baja de 0.22 a 0.13: la misma lección del 75 % del hackatón.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1170432"/>
            <a:ext cx="548640" cy="45720"/>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7315200" cy="274320"/>
          </a:xfrm>
          <a:prstGeom prst="rect">
            <a:avLst/>
          </a:prstGeom>
          <a:noFill/>
        </p:spPr>
        <p:txBody>
          <a:bodyPr wrap="square" anchor="t" lIns="45720" rIns="45720" tIns="27432" bIns="27432">
            <a:spAutoFit/>
          </a:bodyPr>
          <a:lstStyle/>
          <a:p>
            <a:pPr algn="l">
              <a:lnSpc>
                <a:spcPct val="110000"/>
              </a:lnSpc>
              <a:defRPr sz="1100" b="1" i="0">
                <a:solidFill>
                  <a:srgbClr val="EB6834"/>
                </a:solidFill>
                <a:latin typeface="Calibri"/>
              </a:defRPr>
            </a:pPr>
            <a:r>
              <a:t>APÉNDICE K</a:t>
            </a:r>
          </a:p>
        </p:txBody>
      </p:sp>
      <p:sp>
        <p:nvSpPr>
          <p:cNvPr id="5" name="TextBox 4"/>
          <p:cNvSpPr txBox="1"/>
          <p:nvPr/>
        </p:nvSpPr>
        <p:spPr>
          <a:xfrm>
            <a:off x="640080" y="566928"/>
            <a:ext cx="10058400" cy="640080"/>
          </a:xfrm>
          <a:prstGeom prst="rect">
            <a:avLst/>
          </a:prstGeom>
          <a:noFill/>
        </p:spPr>
        <p:txBody>
          <a:bodyPr wrap="square" anchor="t" lIns="45720" rIns="45720" tIns="27432" bIns="27432">
            <a:spAutoFit/>
          </a:bodyPr>
          <a:lstStyle/>
          <a:p>
            <a:pPr algn="l">
              <a:lnSpc>
                <a:spcPct val="110000"/>
              </a:lnSpc>
              <a:defRPr sz="2400" b="1" i="0">
                <a:solidFill>
                  <a:srgbClr val="0F2A4A"/>
                </a:solidFill>
                <a:latin typeface="Calibri"/>
              </a:defRPr>
            </a:pPr>
            <a:r>
              <a:t>CPU frente a GPU con el protocolo del ejercicio de la semana 3</a:t>
            </a:r>
          </a:p>
        </p:txBody>
      </p:sp>
      <p:sp>
        <p:nvSpPr>
          <p:cNvPr id="6" name="Rectangle 5"/>
          <p:cNvSpPr/>
          <p:nvPr/>
        </p:nvSpPr>
        <p:spPr>
          <a:xfrm>
            <a:off x="0" y="6537960"/>
            <a:ext cx="12191695" cy="320040"/>
          </a:xfrm>
          <a:prstGeom prst="rect">
            <a:avLst/>
          </a:prstGeom>
          <a:solidFill>
            <a:srgbClr val="0F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574536"/>
            <a:ext cx="7315200" cy="256032"/>
          </a:xfrm>
          <a:prstGeom prst="rect">
            <a:avLst/>
          </a:prstGeom>
          <a:noFill/>
        </p:spPr>
        <p:txBody>
          <a:bodyPr wrap="square" anchor="t" lIns="45720" rIns="45720" tIns="27432" bIns="27432">
            <a:spAutoFit/>
          </a:bodyPr>
          <a:lstStyle/>
          <a:p>
            <a:pPr algn="l">
              <a:lnSpc>
                <a:spcPct val="110000"/>
              </a:lnSpc>
              <a:defRPr sz="900" b="0" i="0">
                <a:solidFill>
                  <a:srgbClr val="C9D6E8"/>
                </a:solidFill>
                <a:latin typeface="Calibri"/>
              </a:defRPr>
            </a:pPr>
            <a:r>
              <a:t>Predicción conforme y abstención selectiva · AI4I 2020</a:t>
            </a:r>
          </a:p>
        </p:txBody>
      </p:sp>
      <p:sp>
        <p:nvSpPr>
          <p:cNvPr id="8" name="TextBox 7"/>
          <p:cNvSpPr txBox="1"/>
          <p:nvPr/>
        </p:nvSpPr>
        <p:spPr>
          <a:xfrm>
            <a:off x="11155680" y="6574536"/>
            <a:ext cx="457200" cy="256032"/>
          </a:xfrm>
          <a:prstGeom prst="rect">
            <a:avLst/>
          </a:prstGeom>
          <a:noFill/>
        </p:spPr>
        <p:txBody>
          <a:bodyPr wrap="square" anchor="t" lIns="45720" rIns="45720" tIns="27432" bIns="27432">
            <a:spAutoFit/>
          </a:bodyPr>
          <a:lstStyle/>
          <a:p>
            <a:pPr algn="r">
              <a:lnSpc>
                <a:spcPct val="110000"/>
              </a:lnSpc>
              <a:defRPr sz="900" b="0" i="0">
                <a:solidFill>
                  <a:srgbClr val="C9D6E8"/>
                </a:solidFill>
                <a:latin typeface="Calibri"/>
              </a:defRPr>
            </a:pPr>
            <a:r>
              <a:t>21</a:t>
            </a:r>
          </a:p>
        </p:txBody>
      </p:sp>
      <p:graphicFrame>
        <p:nvGraphicFramePr>
          <p:cNvPr id="9" name="Table 8"/>
          <p:cNvGraphicFramePr>
            <a:graphicFrameLocks noGrp="1"/>
          </p:cNvGraphicFramePr>
          <p:nvPr/>
        </p:nvGraphicFramePr>
        <p:xfrm>
          <a:off x="640080" y="1417320"/>
          <a:ext cx="10881360" cy="932688"/>
        </p:xfrm>
        <a:graphic>
          <a:graphicData uri="http://schemas.openxmlformats.org/drawingml/2006/table">
            <a:tbl>
              <a:tblPr firstRow="1" bandRow="1">
                <a:tableStyleId>{5C22544A-7EE6-4342-B048-85BDC9FD1C3A}</a:tableStyleId>
              </a:tblPr>
              <a:tblGrid>
                <a:gridCol w="1280160"/>
                <a:gridCol w="914400"/>
                <a:gridCol w="1280160"/>
                <a:gridCol w="1280160"/>
                <a:gridCol w="1280160"/>
                <a:gridCol w="1280160"/>
                <a:gridCol w="1783080"/>
                <a:gridCol w="1783080"/>
              </a:tblGrid>
              <a:tr h="310896">
                <a:tc>
                  <a:txBody>
                    <a:bodyPr/>
                    <a:lstStyle/>
                    <a:p>
                      <a:pPr algn="l">
                        <a:defRPr sz="1200" b="1">
                          <a:solidFill>
                            <a:srgbClr val="FFFFFF"/>
                          </a:solidFill>
                          <a:latin typeface="Calibri"/>
                        </a:defRPr>
                      </a:pPr>
                      <a:r>
                        <a:t>Dispositivo</a:t>
                      </a:r>
                    </a:p>
                  </a:txBody>
                  <a:tcPr marL="54864" marR="54864" marT="18288" marB="18288" anchor="ctr">
                    <a:solidFill>
                      <a:srgbClr val="1C5CAB"/>
                    </a:solidFill>
                  </a:tcPr>
                </a:tc>
                <a:tc>
                  <a:txBody>
                    <a:bodyPr/>
                    <a:lstStyle/>
                    <a:p>
                      <a:pPr algn="ctr">
                        <a:defRPr sz="1200" b="1">
                          <a:solidFill>
                            <a:srgbClr val="FFFFFF"/>
                          </a:solidFill>
                          <a:latin typeface="Calibri"/>
                        </a:defRPr>
                      </a:pPr>
                      <a:r>
                        <a:t>Épocas</a:t>
                      </a:r>
                    </a:p>
                  </a:txBody>
                  <a:tcPr marL="54864" marR="54864" marT="18288" marB="18288" anchor="ctr">
                    <a:solidFill>
                      <a:srgbClr val="1C5CAB"/>
                    </a:solidFill>
                  </a:tcPr>
                </a:tc>
                <a:tc>
                  <a:txBody>
                    <a:bodyPr/>
                    <a:lstStyle/>
                    <a:p>
                      <a:pPr algn="ctr">
                        <a:defRPr sz="1200" b="1">
                          <a:solidFill>
                            <a:srgbClr val="FFFFFF"/>
                          </a:solidFill>
                          <a:latin typeface="Calibri"/>
                        </a:defRPr>
                      </a:pPr>
                      <a:r>
                        <a:t>Repeticiones</a:t>
                      </a:r>
                    </a:p>
                  </a:txBody>
                  <a:tcPr marL="54864" marR="54864" marT="18288" marB="18288" anchor="ctr">
                    <a:solidFill>
                      <a:srgbClr val="1C5CAB"/>
                    </a:solidFill>
                  </a:tcPr>
                </a:tc>
                <a:tc>
                  <a:txBody>
                    <a:bodyPr/>
                    <a:lstStyle/>
                    <a:p>
                      <a:pPr algn="ctr">
                        <a:defRPr sz="1200" b="1">
                          <a:solidFill>
                            <a:srgbClr val="FFFFFF"/>
                          </a:solidFill>
                          <a:latin typeface="Calibri"/>
                        </a:defRPr>
                      </a:pPr>
                      <a:r>
                        <a:t>Mediana</a:t>
                      </a:r>
                    </a:p>
                  </a:txBody>
                  <a:tcPr marL="54864" marR="54864" marT="18288" marB="18288" anchor="ctr">
                    <a:solidFill>
                      <a:srgbClr val="1C5CAB"/>
                    </a:solidFill>
                  </a:tcPr>
                </a:tc>
                <a:tc>
                  <a:txBody>
                    <a:bodyPr/>
                    <a:lstStyle/>
                    <a:p>
                      <a:pPr algn="ctr">
                        <a:defRPr sz="1200" b="1">
                          <a:solidFill>
                            <a:srgbClr val="FFFFFF"/>
                          </a:solidFill>
                          <a:latin typeface="Calibri"/>
                        </a:defRPr>
                      </a:pPr>
                      <a:r>
                        <a:t>Mín</a:t>
                      </a:r>
                    </a:p>
                  </a:txBody>
                  <a:tcPr marL="54864" marR="54864" marT="18288" marB="18288" anchor="ctr">
                    <a:solidFill>
                      <a:srgbClr val="1C5CAB"/>
                    </a:solidFill>
                  </a:tcPr>
                </a:tc>
                <a:tc>
                  <a:txBody>
                    <a:bodyPr/>
                    <a:lstStyle/>
                    <a:p>
                      <a:pPr algn="ctr">
                        <a:defRPr sz="1200" b="1">
                          <a:solidFill>
                            <a:srgbClr val="FFFFFF"/>
                          </a:solidFill>
                          <a:latin typeface="Calibri"/>
                        </a:defRPr>
                      </a:pPr>
                      <a:r>
                        <a:t>Máx</a:t>
                      </a:r>
                    </a:p>
                  </a:txBody>
                  <a:tcPr marL="54864" marR="54864" marT="18288" marB="18288" anchor="ctr">
                    <a:solidFill>
                      <a:srgbClr val="1C5CAB"/>
                    </a:solidFill>
                  </a:tcPr>
                </a:tc>
                <a:tc>
                  <a:txBody>
                    <a:bodyPr/>
                    <a:lstStyle/>
                    <a:p>
                      <a:pPr algn="ctr">
                        <a:defRPr sz="1200" b="1">
                          <a:solidFill>
                            <a:srgbClr val="FFFFFF"/>
                          </a:solidFill>
                          <a:latin typeface="Calibri"/>
                        </a:defRPr>
                      </a:pPr>
                      <a:r>
                        <a:t>Pérdida inicial</a:t>
                      </a:r>
                    </a:p>
                  </a:txBody>
                  <a:tcPr marL="54864" marR="54864" marT="18288" marB="18288" anchor="ctr">
                    <a:solidFill>
                      <a:srgbClr val="1C5CAB"/>
                    </a:solidFill>
                  </a:tcPr>
                </a:tc>
                <a:tc>
                  <a:txBody>
                    <a:bodyPr/>
                    <a:lstStyle/>
                    <a:p>
                      <a:pPr algn="ctr">
                        <a:defRPr sz="1200" b="1">
                          <a:solidFill>
                            <a:srgbClr val="FFFFFF"/>
                          </a:solidFill>
                          <a:latin typeface="Calibri"/>
                        </a:defRPr>
                      </a:pPr>
                      <a:r>
                        <a:t>Pérdida final</a:t>
                      </a:r>
                    </a:p>
                  </a:txBody>
                  <a:tcPr marL="54864" marR="54864" marT="18288" marB="18288" anchor="ctr">
                    <a:solidFill>
                      <a:srgbClr val="1C5CAB"/>
                    </a:solidFill>
                  </a:tcPr>
                </a:tc>
              </a:tr>
              <a:tr h="310896">
                <a:tc>
                  <a:txBody>
                    <a:bodyPr/>
                    <a:lstStyle/>
                    <a:p>
                      <a:pPr algn="l">
                        <a:defRPr sz="1200" b="0">
                          <a:solidFill>
                            <a:srgbClr val="0B0B0B"/>
                          </a:solidFill>
                          <a:latin typeface="Calibri"/>
                        </a:defRPr>
                      </a:pPr>
                      <a:r>
                        <a:t>cpu</a:t>
                      </a:r>
                    </a:p>
                  </a:txBody>
                  <a:tcPr marL="54864" marR="54864" marT="18288" marB="18288" anchor="ctr">
                    <a:solidFill>
                      <a:srgbClr val="FFFFFF"/>
                    </a:solidFill>
                  </a:tcPr>
                </a:tc>
                <a:tc>
                  <a:txBody>
                    <a:bodyPr/>
                    <a:lstStyle/>
                    <a:p>
                      <a:pPr algn="ctr">
                        <a:defRPr sz="1200" b="0">
                          <a:solidFill>
                            <a:srgbClr val="0B0B0B"/>
                          </a:solidFill>
                          <a:latin typeface="Calibri"/>
                        </a:defRPr>
                      </a:pPr>
                      <a:r>
                        <a:t>200</a:t>
                      </a:r>
                    </a:p>
                  </a:txBody>
                  <a:tcPr marL="54864" marR="54864" marT="18288" marB="18288" anchor="ctr">
                    <a:solidFill>
                      <a:srgbClr val="FFFFFF"/>
                    </a:solidFill>
                  </a:tcPr>
                </a:tc>
                <a:tc>
                  <a:txBody>
                    <a:bodyPr/>
                    <a:lstStyle/>
                    <a:p>
                      <a:pPr algn="ctr">
                        <a:defRPr sz="1200" b="0">
                          <a:solidFill>
                            <a:srgbClr val="0B0B0B"/>
                          </a:solidFill>
                          <a:latin typeface="Calibri"/>
                        </a:defRPr>
                      </a:pPr>
                      <a:r>
                        <a:t>3</a:t>
                      </a:r>
                    </a:p>
                  </a:txBody>
                  <a:tcPr marL="54864" marR="54864" marT="18288" marB="18288" anchor="ctr">
                    <a:solidFill>
                      <a:srgbClr val="FFFFFF"/>
                    </a:solidFill>
                  </a:tcPr>
                </a:tc>
                <a:tc>
                  <a:txBody>
                    <a:bodyPr/>
                    <a:lstStyle/>
                    <a:p>
                      <a:pPr algn="ctr">
                        <a:defRPr sz="1200" b="0">
                          <a:solidFill>
                            <a:srgbClr val="0B0B0B"/>
                          </a:solidFill>
                          <a:latin typeface="Calibri"/>
                        </a:defRPr>
                      </a:pPr>
                      <a:r>
                        <a:t>5.0 s</a:t>
                      </a:r>
                    </a:p>
                  </a:txBody>
                  <a:tcPr marL="54864" marR="54864" marT="18288" marB="18288" anchor="ctr">
                    <a:solidFill>
                      <a:srgbClr val="FFFFFF"/>
                    </a:solidFill>
                  </a:tcPr>
                </a:tc>
                <a:tc>
                  <a:txBody>
                    <a:bodyPr/>
                    <a:lstStyle/>
                    <a:p>
                      <a:pPr algn="ctr">
                        <a:defRPr sz="1200" b="0">
                          <a:solidFill>
                            <a:srgbClr val="0B0B0B"/>
                          </a:solidFill>
                          <a:latin typeface="Calibri"/>
                        </a:defRPr>
                      </a:pPr>
                      <a:r>
                        <a:t>4.99 s</a:t>
                      </a:r>
                    </a:p>
                  </a:txBody>
                  <a:tcPr marL="54864" marR="54864" marT="18288" marB="18288" anchor="ctr">
                    <a:solidFill>
                      <a:srgbClr val="FFFFFF"/>
                    </a:solidFill>
                  </a:tcPr>
                </a:tc>
                <a:tc>
                  <a:txBody>
                    <a:bodyPr/>
                    <a:lstStyle/>
                    <a:p>
                      <a:pPr algn="ctr">
                        <a:defRPr sz="1200" b="0">
                          <a:solidFill>
                            <a:srgbClr val="0B0B0B"/>
                          </a:solidFill>
                          <a:latin typeface="Calibri"/>
                        </a:defRPr>
                      </a:pPr>
                      <a:r>
                        <a:t>5.06 s</a:t>
                      </a:r>
                    </a:p>
                  </a:txBody>
                  <a:tcPr marL="54864" marR="54864" marT="18288" marB="18288" anchor="ctr">
                    <a:solidFill>
                      <a:srgbClr val="FFFFFF"/>
                    </a:solidFill>
                  </a:tcPr>
                </a:tc>
                <a:tc>
                  <a:txBody>
                    <a:bodyPr/>
                    <a:lstStyle/>
                    <a:p>
                      <a:pPr algn="ctr">
                        <a:defRPr sz="1200" b="0">
                          <a:solidFill>
                            <a:srgbClr val="0B0B0B"/>
                          </a:solidFill>
                          <a:latin typeface="Calibri"/>
                        </a:defRPr>
                      </a:pPr>
                      <a:r>
                        <a:t>1.1035</a:t>
                      </a:r>
                    </a:p>
                  </a:txBody>
                  <a:tcPr marL="54864" marR="54864" marT="18288" marB="18288" anchor="ctr">
                    <a:solidFill>
                      <a:srgbClr val="FFFFFF"/>
                    </a:solidFill>
                  </a:tcPr>
                </a:tc>
                <a:tc>
                  <a:txBody>
                    <a:bodyPr/>
                    <a:lstStyle/>
                    <a:p>
                      <a:pPr algn="ctr">
                        <a:defRPr sz="1200" b="0">
                          <a:solidFill>
                            <a:srgbClr val="0B0B0B"/>
                          </a:solidFill>
                          <a:latin typeface="Calibri"/>
                        </a:defRPr>
                      </a:pPr>
                      <a:r>
                        <a:t>0.0209</a:t>
                      </a:r>
                    </a:p>
                  </a:txBody>
                  <a:tcPr marL="54864" marR="54864" marT="18288" marB="18288" anchor="ctr">
                    <a:solidFill>
                      <a:srgbClr val="FFFFFF"/>
                    </a:solidFill>
                  </a:tcPr>
                </a:tc>
              </a:tr>
              <a:tr h="310896">
                <a:tc>
                  <a:txBody>
                    <a:bodyPr/>
                    <a:lstStyle/>
                    <a:p>
                      <a:pPr algn="l">
                        <a:defRPr sz="1200" b="0">
                          <a:solidFill>
                            <a:srgbClr val="0B0B0B"/>
                          </a:solidFill>
                          <a:latin typeface="Calibri"/>
                        </a:defRPr>
                      </a:pPr>
                      <a:r>
                        <a:t>cuda</a:t>
                      </a:r>
                    </a:p>
                  </a:txBody>
                  <a:tcPr marL="54864" marR="54864" marT="18288" marB="18288" anchor="ctr">
                    <a:solidFill>
                      <a:srgbClr val="EEF1F6"/>
                    </a:solidFill>
                  </a:tcPr>
                </a:tc>
                <a:tc>
                  <a:txBody>
                    <a:bodyPr/>
                    <a:lstStyle/>
                    <a:p>
                      <a:pPr algn="ctr">
                        <a:defRPr sz="1200" b="0">
                          <a:solidFill>
                            <a:srgbClr val="0B0B0B"/>
                          </a:solidFill>
                          <a:latin typeface="Calibri"/>
                        </a:defRPr>
                      </a:pPr>
                      <a:r>
                        <a:t>200</a:t>
                      </a:r>
                    </a:p>
                  </a:txBody>
                  <a:tcPr marL="54864" marR="54864" marT="18288" marB="18288" anchor="ctr">
                    <a:solidFill>
                      <a:srgbClr val="EEF1F6"/>
                    </a:solidFill>
                  </a:tcPr>
                </a:tc>
                <a:tc>
                  <a:txBody>
                    <a:bodyPr/>
                    <a:lstStyle/>
                    <a:p>
                      <a:pPr algn="ctr">
                        <a:defRPr sz="1200" b="0">
                          <a:solidFill>
                            <a:srgbClr val="0B0B0B"/>
                          </a:solidFill>
                          <a:latin typeface="Calibri"/>
                        </a:defRPr>
                      </a:pPr>
                      <a:r>
                        <a:t>3</a:t>
                      </a:r>
                    </a:p>
                  </a:txBody>
                  <a:tcPr marL="54864" marR="54864" marT="18288" marB="18288" anchor="ctr">
                    <a:solidFill>
                      <a:srgbClr val="EEF1F6"/>
                    </a:solidFill>
                  </a:tcPr>
                </a:tc>
                <a:tc>
                  <a:txBody>
                    <a:bodyPr/>
                    <a:lstStyle/>
                    <a:p>
                      <a:pPr algn="ctr">
                        <a:defRPr sz="1200" b="0">
                          <a:solidFill>
                            <a:srgbClr val="0B0B0B"/>
                          </a:solidFill>
                          <a:latin typeface="Calibri"/>
                        </a:defRPr>
                      </a:pPr>
                      <a:r>
                        <a:t>6.8 s</a:t>
                      </a:r>
                    </a:p>
                  </a:txBody>
                  <a:tcPr marL="54864" marR="54864" marT="18288" marB="18288" anchor="ctr">
                    <a:solidFill>
                      <a:srgbClr val="EEF1F6"/>
                    </a:solidFill>
                  </a:tcPr>
                </a:tc>
                <a:tc>
                  <a:txBody>
                    <a:bodyPr/>
                    <a:lstStyle/>
                    <a:p>
                      <a:pPr algn="ctr">
                        <a:defRPr sz="1200" b="0">
                          <a:solidFill>
                            <a:srgbClr val="0B0B0B"/>
                          </a:solidFill>
                          <a:latin typeface="Calibri"/>
                        </a:defRPr>
                      </a:pPr>
                      <a:r>
                        <a:t>6.76 s</a:t>
                      </a:r>
                    </a:p>
                  </a:txBody>
                  <a:tcPr marL="54864" marR="54864" marT="18288" marB="18288" anchor="ctr">
                    <a:solidFill>
                      <a:srgbClr val="EEF1F6"/>
                    </a:solidFill>
                  </a:tcPr>
                </a:tc>
                <a:tc>
                  <a:txBody>
                    <a:bodyPr/>
                    <a:lstStyle/>
                    <a:p>
                      <a:pPr algn="ctr">
                        <a:defRPr sz="1200" b="0">
                          <a:solidFill>
                            <a:srgbClr val="0B0B0B"/>
                          </a:solidFill>
                          <a:latin typeface="Calibri"/>
                        </a:defRPr>
                      </a:pPr>
                      <a:r>
                        <a:t>6.99 s</a:t>
                      </a:r>
                    </a:p>
                  </a:txBody>
                  <a:tcPr marL="54864" marR="54864" marT="18288" marB="18288" anchor="ctr">
                    <a:solidFill>
                      <a:srgbClr val="EEF1F6"/>
                    </a:solidFill>
                  </a:tcPr>
                </a:tc>
                <a:tc>
                  <a:txBody>
                    <a:bodyPr/>
                    <a:lstStyle/>
                    <a:p>
                      <a:pPr algn="ctr">
                        <a:defRPr sz="1200" b="0">
                          <a:solidFill>
                            <a:srgbClr val="0B0B0B"/>
                          </a:solidFill>
                          <a:latin typeface="Calibri"/>
                        </a:defRPr>
                      </a:pPr>
                      <a:r>
                        <a:t>1.1035</a:t>
                      </a:r>
                    </a:p>
                  </a:txBody>
                  <a:tcPr marL="54864" marR="54864" marT="18288" marB="18288" anchor="ctr">
                    <a:solidFill>
                      <a:srgbClr val="EEF1F6"/>
                    </a:solidFill>
                  </a:tcPr>
                </a:tc>
                <a:tc>
                  <a:txBody>
                    <a:bodyPr/>
                    <a:lstStyle/>
                    <a:p>
                      <a:pPr algn="ctr">
                        <a:defRPr sz="1200" b="0">
                          <a:solidFill>
                            <a:srgbClr val="0B0B0B"/>
                          </a:solidFill>
                          <a:latin typeface="Calibri"/>
                        </a:defRPr>
                      </a:pPr>
                      <a:r>
                        <a:t>0.0209</a:t>
                      </a:r>
                    </a:p>
                  </a:txBody>
                  <a:tcPr marL="54864" marR="54864" marT="18288" marB="18288" anchor="ctr">
                    <a:solidFill>
                      <a:srgbClr val="EEF1F6"/>
                    </a:solidFill>
                  </a:tcPr>
                </a:tc>
              </a:tr>
            </a:tbl>
          </a:graphicData>
        </a:graphic>
      </p:graphicFrame>
      <p:sp>
        <p:nvSpPr>
          <p:cNvPr id="10" name="Rounded Rectangle 9"/>
          <p:cNvSpPr/>
          <p:nvPr/>
        </p:nvSpPr>
        <p:spPr>
          <a:xfrm>
            <a:off x="640080" y="2651760"/>
            <a:ext cx="3520440" cy="1737360"/>
          </a:xfrm>
          <a:prstGeom prst="roundRect">
            <a:avLst>
              <a:gd name="adj" fmla="val 6000"/>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40080" y="2651760"/>
            <a:ext cx="82296" cy="1737360"/>
          </a:xfrm>
          <a:prstGeom prst="roundRect">
            <a:avLst>
              <a:gd name="adj" fmla="val 50000"/>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59" y="2743200"/>
            <a:ext cx="3246120" cy="411480"/>
          </a:xfrm>
          <a:prstGeom prst="rect">
            <a:avLst/>
          </a:prstGeom>
          <a:noFill/>
        </p:spPr>
        <p:txBody>
          <a:bodyPr wrap="square" anchor="t" lIns="45720" rIns="45720" tIns="27432" bIns="27432">
            <a:spAutoFit/>
          </a:bodyPr>
          <a:lstStyle/>
          <a:p>
            <a:pPr algn="l">
              <a:lnSpc>
                <a:spcPct val="110000"/>
              </a:lnSpc>
              <a:defRPr sz="1500" b="1" i="0">
                <a:solidFill>
                  <a:srgbClr val="0B0B0B"/>
                </a:solidFill>
                <a:latin typeface="Calibri"/>
              </a:defRPr>
            </a:pPr>
            <a:r>
              <a:t>La GPU no gana aquí</a:t>
            </a:r>
          </a:p>
        </p:txBody>
      </p:sp>
      <p:sp>
        <p:nvSpPr>
          <p:cNvPr id="13" name="TextBox 12"/>
          <p:cNvSpPr txBox="1"/>
          <p:nvPr/>
        </p:nvSpPr>
        <p:spPr>
          <a:xfrm>
            <a:off x="822959" y="3154680"/>
            <a:ext cx="3246120" cy="1188719"/>
          </a:xfrm>
          <a:prstGeom prst="rect">
            <a:avLst/>
          </a:prstGeom>
          <a:noFill/>
        </p:spPr>
        <p:txBody>
          <a:bodyPr wrap="square" anchor="t" lIns="45720" rIns="45720" tIns="27432" bIns="27432">
            <a:spAutoFit/>
          </a:bodyPr>
          <a:lstStyle/>
          <a:p>
            <a:pPr algn="l">
              <a:lnSpc>
                <a:spcPct val="110000"/>
              </a:lnSpc>
              <a:defRPr sz="1200" b="0" i="0">
                <a:solidFill>
                  <a:srgbClr val="52514E"/>
                </a:solidFill>
                <a:latin typeface="Calibri"/>
              </a:defRPr>
            </a:pPr>
            <a:r>
              <a:t>5 061 parámetros y lotes de 256: cada paso lanza kernels diminutos y el costo de lanzarlos supera al cálculo. La ventaja de CUDA aparece con matrices grandes. Se mide, no se asume.</a:t>
            </a:r>
          </a:p>
        </p:txBody>
      </p:sp>
      <p:sp>
        <p:nvSpPr>
          <p:cNvPr id="14" name="Rounded Rectangle 13"/>
          <p:cNvSpPr/>
          <p:nvPr/>
        </p:nvSpPr>
        <p:spPr>
          <a:xfrm>
            <a:off x="4315968" y="2651760"/>
            <a:ext cx="3520440" cy="1737360"/>
          </a:xfrm>
          <a:prstGeom prst="roundRect">
            <a:avLst>
              <a:gd name="adj" fmla="val 6000"/>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315968" y="2651760"/>
            <a:ext cx="82296" cy="1737360"/>
          </a:xfrm>
          <a:prstGeom prst="roundRect">
            <a:avLst>
              <a:gd name="adj" fmla="val 50000"/>
            </a:avLst>
          </a:prstGeom>
          <a:solidFill>
            <a:srgbClr val="1C5C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98848" y="2743200"/>
            <a:ext cx="3246120" cy="411480"/>
          </a:xfrm>
          <a:prstGeom prst="rect">
            <a:avLst/>
          </a:prstGeom>
          <a:noFill/>
        </p:spPr>
        <p:txBody>
          <a:bodyPr wrap="square" anchor="t" lIns="45720" rIns="45720" tIns="27432" bIns="27432">
            <a:spAutoFit/>
          </a:bodyPr>
          <a:lstStyle/>
          <a:p>
            <a:pPr algn="l">
              <a:lnSpc>
                <a:spcPct val="110000"/>
              </a:lnSpc>
              <a:defRPr sz="1500" b="1" i="0">
                <a:solidFill>
                  <a:srgbClr val="0B0B0B"/>
                </a:solidFill>
                <a:latin typeface="Calibri"/>
              </a:defRPr>
            </a:pPr>
            <a:r>
              <a:t>Resultados no idénticos bit a bit</a:t>
            </a:r>
          </a:p>
        </p:txBody>
      </p:sp>
      <p:sp>
        <p:nvSpPr>
          <p:cNvPr id="17" name="TextBox 16"/>
          <p:cNvSpPr txBox="1"/>
          <p:nvPr/>
        </p:nvSpPr>
        <p:spPr>
          <a:xfrm>
            <a:off x="4498848" y="3154680"/>
            <a:ext cx="3246120" cy="1188719"/>
          </a:xfrm>
          <a:prstGeom prst="rect">
            <a:avLst/>
          </a:prstGeom>
          <a:noFill/>
        </p:spPr>
        <p:txBody>
          <a:bodyPr wrap="square" anchor="t" lIns="45720" rIns="45720" tIns="27432" bIns="27432">
            <a:spAutoFit/>
          </a:bodyPr>
          <a:lstStyle/>
          <a:p>
            <a:pPr algn="l">
              <a:lnSpc>
                <a:spcPct val="110000"/>
              </a:lnSpc>
              <a:defRPr sz="1200" b="0" i="0">
                <a:solidFill>
                  <a:srgbClr val="52514E"/>
                </a:solidFill>
                <a:latin typeface="Calibri"/>
              </a:defRPr>
            </a:pPr>
            <a:r>
              <a:t>Pérdidas iguales a cuatro decimales, pero tras 200 épocas de Adam los parámetros difieren hasta 0.027 (fuera de la tolerancia 1e-4) y las probabilidades hasta 0.041. Misma clase predicha en 99.98 % de las filas.</a:t>
            </a:r>
          </a:p>
        </p:txBody>
      </p:sp>
      <p:sp>
        <p:nvSpPr>
          <p:cNvPr id="18" name="Rounded Rectangle 17"/>
          <p:cNvSpPr/>
          <p:nvPr/>
        </p:nvSpPr>
        <p:spPr>
          <a:xfrm>
            <a:off x="8001000" y="2651760"/>
            <a:ext cx="3520440" cy="1737360"/>
          </a:xfrm>
          <a:prstGeom prst="roundRect">
            <a:avLst>
              <a:gd name="adj" fmla="val 6000"/>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001000" y="2651760"/>
            <a:ext cx="82296" cy="1737360"/>
          </a:xfrm>
          <a:prstGeom prst="roundRect">
            <a:avLst>
              <a:gd name="adj" fmla="val 50000"/>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83879" y="2743200"/>
            <a:ext cx="3246120" cy="411480"/>
          </a:xfrm>
          <a:prstGeom prst="rect">
            <a:avLst/>
          </a:prstGeom>
          <a:noFill/>
        </p:spPr>
        <p:txBody>
          <a:bodyPr wrap="square" anchor="t" lIns="45720" rIns="45720" tIns="27432" bIns="27432">
            <a:spAutoFit/>
          </a:bodyPr>
          <a:lstStyle/>
          <a:p>
            <a:pPr algn="l">
              <a:lnSpc>
                <a:spcPct val="110000"/>
              </a:lnSpc>
              <a:defRPr sz="1500" b="1" i="0">
                <a:solidFill>
                  <a:srgbClr val="0B0B0B"/>
                </a:solidFill>
                <a:latin typeface="Calibri"/>
              </a:defRPr>
            </a:pPr>
            <a:r>
              <a:t>Transferencias</a:t>
            </a:r>
          </a:p>
        </p:txBody>
      </p:sp>
      <p:sp>
        <p:nvSpPr>
          <p:cNvPr id="21" name="TextBox 20"/>
          <p:cNvSpPr txBox="1"/>
          <p:nvPr/>
        </p:nvSpPr>
        <p:spPr>
          <a:xfrm>
            <a:off x="8183879" y="3154680"/>
            <a:ext cx="3246120" cy="1188719"/>
          </a:xfrm>
          <a:prstGeom prst="rect">
            <a:avLst/>
          </a:prstGeom>
          <a:noFill/>
        </p:spPr>
        <p:txBody>
          <a:bodyPr wrap="square" anchor="t" lIns="45720" rIns="45720" tIns="27432" bIns="27432">
            <a:spAutoFit/>
          </a:bodyPr>
          <a:lstStyle/>
          <a:p>
            <a:pPr algn="l">
              <a:lnSpc>
                <a:spcPct val="110000"/>
              </a:lnSpc>
              <a:defRPr sz="1200" b="0" i="0">
                <a:solidFill>
                  <a:srgbClr val="52514E"/>
                </a:solidFill>
                <a:latin typeface="Calibri"/>
              </a:defRPr>
            </a:pPr>
            <a:r>
              <a:t>Inferencia sobre 1 995 filas: 0.16 ms con datos residentes en GPU frente a 0.30 ms incluyendo la copia CPU → GPU → CPU. Para la capa conforme, en NumPy, es irrelevante.</a:t>
            </a:r>
          </a:p>
        </p:txBody>
      </p:sp>
      <p:sp>
        <p:nvSpPr>
          <p:cNvPr id="22" name="TextBox 21"/>
          <p:cNvSpPr txBox="1"/>
          <p:nvPr/>
        </p:nvSpPr>
        <p:spPr>
          <a:xfrm>
            <a:off x="640080" y="4572000"/>
            <a:ext cx="10881360" cy="1645920"/>
          </a:xfrm>
          <a:prstGeom prst="rect">
            <a:avLst/>
          </a:prstGeom>
          <a:noFill/>
        </p:spPr>
        <p:txBody>
          <a:bodyPr wrap="square" anchor="t" lIns="45720" rIns="45720" tIns="27432" bIns="27432">
            <a:spAutoFit/>
          </a:bodyPr>
          <a:lstStyle/>
          <a:p>
            <a:pPr algn="l">
              <a:lnSpc>
                <a:spcPct val="110000"/>
              </a:lnSpc>
              <a:defRPr sz="1100" b="0" i="0">
                <a:solidFill>
                  <a:srgbClr val="0B0B0B"/>
                </a:solidFill>
                <a:latin typeface="Calibri"/>
              </a:defRPr>
            </a:pPr>
            <a:r>
              <a:t>Entorno registrado en el manifiesto: Intel Core, 24 hilos; RTX 5070 Ti Laptop, 11.94 GiB; torch 2.11.0+cu128; float32; precisión de matmul «highest». La primera ejecución en GPU paga la inicialización del contexto CUDA (9.2 s); el benchmark corre después.</a:t>
            </a:r>
          </a:p>
          <a:p>
            <a:pPr algn="l">
              <a:lnSpc>
                <a:spcPct val="110000"/>
              </a:lnSpc>
              <a:defRPr sz="1100" b="0" i="0">
                <a:solidFill>
                  <a:srgbClr val="0B0B0B"/>
                </a:solidFill>
                <a:latin typeface="Calibri"/>
              </a:defRPr>
            </a:pPr>
            <a:r>
              <a:t>Conceptos del curso: tensores en dispositivo, autodiferenciación con backward(), ciclo zero_grad → forward → backward → step, medianas de repeticiones y comparación con tolerancia.</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1170432"/>
            <a:ext cx="548640" cy="45720"/>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7315200" cy="274320"/>
          </a:xfrm>
          <a:prstGeom prst="rect">
            <a:avLst/>
          </a:prstGeom>
          <a:noFill/>
        </p:spPr>
        <p:txBody>
          <a:bodyPr wrap="square" anchor="t" lIns="45720" rIns="45720" tIns="27432" bIns="27432">
            <a:spAutoFit/>
          </a:bodyPr>
          <a:lstStyle/>
          <a:p>
            <a:pPr algn="l">
              <a:lnSpc>
                <a:spcPct val="110000"/>
              </a:lnSpc>
              <a:defRPr sz="1100" b="1" i="0">
                <a:solidFill>
                  <a:srgbClr val="EB6834"/>
                </a:solidFill>
                <a:latin typeface="Calibri"/>
              </a:defRPr>
            </a:pPr>
            <a:r>
              <a:t>APÉNDICE L</a:t>
            </a:r>
          </a:p>
        </p:txBody>
      </p:sp>
      <p:sp>
        <p:nvSpPr>
          <p:cNvPr id="5" name="TextBox 4"/>
          <p:cNvSpPr txBox="1"/>
          <p:nvPr/>
        </p:nvSpPr>
        <p:spPr>
          <a:xfrm>
            <a:off x="640080" y="566928"/>
            <a:ext cx="10058400" cy="640080"/>
          </a:xfrm>
          <a:prstGeom prst="rect">
            <a:avLst/>
          </a:prstGeom>
          <a:noFill/>
        </p:spPr>
        <p:txBody>
          <a:bodyPr wrap="square" anchor="t" lIns="45720" rIns="45720" tIns="27432" bIns="27432">
            <a:spAutoFit/>
          </a:bodyPr>
          <a:lstStyle/>
          <a:p>
            <a:pPr algn="l">
              <a:lnSpc>
                <a:spcPct val="110000"/>
              </a:lnSpc>
              <a:defRPr sz="2400" b="1" i="0">
                <a:solidFill>
                  <a:srgbClr val="0F2A4A"/>
                </a:solidFill>
                <a:latin typeface="Calibri"/>
              </a:defRPr>
            </a:pPr>
            <a:r>
              <a:t>Hipótesis: qué se apoya en resultados y qué no</a:t>
            </a:r>
          </a:p>
        </p:txBody>
      </p:sp>
      <p:sp>
        <p:nvSpPr>
          <p:cNvPr id="6" name="Rectangle 5"/>
          <p:cNvSpPr/>
          <p:nvPr/>
        </p:nvSpPr>
        <p:spPr>
          <a:xfrm>
            <a:off x="0" y="6537960"/>
            <a:ext cx="12191695" cy="320040"/>
          </a:xfrm>
          <a:prstGeom prst="rect">
            <a:avLst/>
          </a:prstGeom>
          <a:solidFill>
            <a:srgbClr val="0F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574536"/>
            <a:ext cx="7315200" cy="256032"/>
          </a:xfrm>
          <a:prstGeom prst="rect">
            <a:avLst/>
          </a:prstGeom>
          <a:noFill/>
        </p:spPr>
        <p:txBody>
          <a:bodyPr wrap="square" anchor="t" lIns="45720" rIns="45720" tIns="27432" bIns="27432">
            <a:spAutoFit/>
          </a:bodyPr>
          <a:lstStyle/>
          <a:p>
            <a:pPr algn="l">
              <a:lnSpc>
                <a:spcPct val="110000"/>
              </a:lnSpc>
              <a:defRPr sz="900" b="0" i="0">
                <a:solidFill>
                  <a:srgbClr val="C9D6E8"/>
                </a:solidFill>
                <a:latin typeface="Calibri"/>
              </a:defRPr>
            </a:pPr>
            <a:r>
              <a:t>Predicción conforme y abstención selectiva · AI4I 2020</a:t>
            </a:r>
          </a:p>
        </p:txBody>
      </p:sp>
      <p:sp>
        <p:nvSpPr>
          <p:cNvPr id="8" name="TextBox 7"/>
          <p:cNvSpPr txBox="1"/>
          <p:nvPr/>
        </p:nvSpPr>
        <p:spPr>
          <a:xfrm>
            <a:off x="11155680" y="6574536"/>
            <a:ext cx="457200" cy="256032"/>
          </a:xfrm>
          <a:prstGeom prst="rect">
            <a:avLst/>
          </a:prstGeom>
          <a:noFill/>
        </p:spPr>
        <p:txBody>
          <a:bodyPr wrap="square" anchor="t" lIns="45720" rIns="45720" tIns="27432" bIns="27432">
            <a:spAutoFit/>
          </a:bodyPr>
          <a:lstStyle/>
          <a:p>
            <a:pPr algn="r">
              <a:lnSpc>
                <a:spcPct val="110000"/>
              </a:lnSpc>
              <a:defRPr sz="900" b="0" i="0">
                <a:solidFill>
                  <a:srgbClr val="C9D6E8"/>
                </a:solidFill>
                <a:latin typeface="Calibri"/>
              </a:defRPr>
            </a:pPr>
            <a:r>
              <a:t>22</a:t>
            </a:r>
          </a:p>
        </p:txBody>
      </p:sp>
      <p:graphicFrame>
        <p:nvGraphicFramePr>
          <p:cNvPr id="9" name="Table 8"/>
          <p:cNvGraphicFramePr>
            <a:graphicFrameLocks noGrp="1"/>
          </p:cNvGraphicFramePr>
          <p:nvPr/>
        </p:nvGraphicFramePr>
        <p:xfrm>
          <a:off x="640080" y="1417320"/>
          <a:ext cx="10881360" cy="4023360"/>
        </p:xfrm>
        <a:graphic>
          <a:graphicData uri="http://schemas.openxmlformats.org/drawingml/2006/table">
            <a:tbl>
              <a:tblPr firstRow="1" bandRow="1">
                <a:tableStyleId>{5C22544A-7EE6-4342-B048-85BDC9FD1C3A}</a:tableStyleId>
              </a:tblPr>
              <a:tblGrid>
                <a:gridCol w="4206240"/>
                <a:gridCol w="6675120"/>
              </a:tblGrid>
              <a:tr h="502920">
                <a:tc>
                  <a:txBody>
                    <a:bodyPr/>
                    <a:lstStyle/>
                    <a:p>
                      <a:pPr algn="l">
                        <a:defRPr sz="1100" b="1">
                          <a:solidFill>
                            <a:srgbClr val="FFFFFF"/>
                          </a:solidFill>
                          <a:latin typeface="Calibri"/>
                        </a:defRPr>
                      </a:pPr>
                      <a:r>
                        <a:t>Hipótesis de la propuesta</a:t>
                      </a:r>
                    </a:p>
                  </a:txBody>
                  <a:tcPr marL="54864" marR="54864" marT="18288" marB="18288" anchor="ctr">
                    <a:solidFill>
                      <a:srgbClr val="1C5CAB"/>
                    </a:solidFill>
                  </a:tcPr>
                </a:tc>
                <a:tc>
                  <a:txBody>
                    <a:bodyPr/>
                    <a:lstStyle/>
                    <a:p>
                      <a:pPr algn="ctr">
                        <a:defRPr sz="1100" b="1">
                          <a:solidFill>
                            <a:srgbClr val="FFFFFF"/>
                          </a:solidFill>
                          <a:latin typeface="Calibri"/>
                        </a:defRPr>
                      </a:pPr>
                      <a:r>
                        <a:t>Estado tras la ejecución</a:t>
                      </a:r>
                    </a:p>
                  </a:txBody>
                  <a:tcPr marL="54864" marR="54864" marT="18288" marB="18288" anchor="ctr">
                    <a:solidFill>
                      <a:srgbClr val="1C5CAB"/>
                    </a:solidFill>
                  </a:tcPr>
                </a:tc>
              </a:tr>
              <a:tr h="502920">
                <a:tc>
                  <a:txBody>
                    <a:bodyPr/>
                    <a:lstStyle/>
                    <a:p>
                      <a:pPr algn="l">
                        <a:defRPr sz="1100" b="0">
                          <a:solidFill>
                            <a:srgbClr val="0B0B0B"/>
                          </a:solidFill>
                          <a:latin typeface="Calibri"/>
                        </a:defRPr>
                      </a:pPr>
                      <a:r>
                        <a:t>La cobertura marginal alcanza 1 − α sin depender del modelo</a:t>
                      </a:r>
                    </a:p>
                  </a:txBody>
                  <a:tcPr marL="54864" marR="54864" marT="18288" marB="18288" anchor="ctr">
                    <a:solidFill>
                      <a:srgbClr val="FFFFFF"/>
                    </a:solidFill>
                  </a:tcPr>
                </a:tc>
                <a:tc>
                  <a:txBody>
                    <a:bodyPr/>
                    <a:lstStyle/>
                    <a:p>
                      <a:pPr algn="ctr">
                        <a:defRPr sz="1100" b="0">
                          <a:solidFill>
                            <a:srgbClr val="0B0B0B"/>
                          </a:solidFill>
                          <a:latin typeface="Calibri"/>
                        </a:defRPr>
                      </a:pPr>
                      <a:r>
                        <a:t>Consistente en esta partición (12 de 12 dentro de ±0.02); la garantía teórica no se demuestra con una partición</a:t>
                      </a:r>
                    </a:p>
                  </a:txBody>
                  <a:tcPr marL="54864" marR="54864" marT="18288" marB="18288" anchor="ctr">
                    <a:solidFill>
                      <a:srgbClr val="FFFFFF"/>
                    </a:solidFill>
                  </a:tcPr>
                </a:tc>
              </a:tr>
              <a:tr h="502920">
                <a:tc>
                  <a:txBody>
                    <a:bodyPr/>
                    <a:lstStyle/>
                    <a:p>
                      <a:pPr algn="l">
                        <a:defRPr sz="1100" b="0">
                          <a:solidFill>
                            <a:srgbClr val="0B0B0B"/>
                          </a:solidFill>
                          <a:latin typeface="Calibri"/>
                        </a:defRPr>
                      </a:pPr>
                      <a:r>
                        <a:t>Split conformal subcubre las clases minoritarias</a:t>
                      </a:r>
                    </a:p>
                  </a:txBody>
                  <a:tcPr marL="54864" marR="54864" marT="18288" marB="18288" anchor="ctr">
                    <a:solidFill>
                      <a:srgbClr val="EEF1F6"/>
                    </a:solidFill>
                  </a:tcPr>
                </a:tc>
                <a:tc>
                  <a:txBody>
                    <a:bodyPr/>
                    <a:lstStyle/>
                    <a:p>
                      <a:pPr algn="ctr">
                        <a:defRPr sz="1100" b="0">
                          <a:solidFill>
                            <a:srgbClr val="0B0B0B"/>
                          </a:solidFill>
                          <a:latin typeface="Calibri"/>
                        </a:defRPr>
                      </a:pPr>
                      <a:r>
                        <a:t>Apoyada: TWF con cobertura 0 en los seis escenarios de split</a:t>
                      </a:r>
                    </a:p>
                  </a:txBody>
                  <a:tcPr marL="54864" marR="54864" marT="18288" marB="18288" anchor="ctr">
                    <a:solidFill>
                      <a:srgbClr val="EEF1F6"/>
                    </a:solidFill>
                  </a:tcPr>
                </a:tc>
              </a:tr>
              <a:tr h="502920">
                <a:tc>
                  <a:txBody>
                    <a:bodyPr/>
                    <a:lstStyle/>
                    <a:p>
                      <a:pPr algn="l">
                        <a:defRPr sz="1100" b="0">
                          <a:solidFill>
                            <a:srgbClr val="0B0B0B"/>
                          </a:solidFill>
                          <a:latin typeface="Calibri"/>
                        </a:defRPr>
                      </a:pPr>
                      <a:r>
                        <a:t>Mondrian corrige la subcobertura por clase</a:t>
                      </a:r>
                    </a:p>
                  </a:txBody>
                  <a:tcPr marL="54864" marR="54864" marT="18288" marB="18288" anchor="ctr">
                    <a:solidFill>
                      <a:srgbClr val="FFFFFF"/>
                    </a:solidFill>
                  </a:tcPr>
                </a:tc>
                <a:tc>
                  <a:txBody>
                    <a:bodyPr/>
                    <a:lstStyle/>
                    <a:p>
                      <a:pPr algn="ctr">
                        <a:defRPr sz="1100" b="0">
                          <a:solidFill>
                            <a:srgbClr val="0B0B0B"/>
                          </a:solidFill>
                          <a:latin typeface="Calibri"/>
                        </a:defRPr>
                      </a:pPr>
                      <a:r>
                        <a:t>Apoyada para α ≤ 0.10; con 0.20 el soporte de TWF (9) no permite concluir</a:t>
                      </a:r>
                    </a:p>
                  </a:txBody>
                  <a:tcPr marL="54864" marR="54864" marT="18288" marB="18288" anchor="ctr">
                    <a:solidFill>
                      <a:srgbClr val="FFFFFF"/>
                    </a:solidFill>
                  </a:tcPr>
                </a:tc>
              </a:tr>
              <a:tr h="502920">
                <a:tc>
                  <a:txBody>
                    <a:bodyPr/>
                    <a:lstStyle/>
                    <a:p>
                      <a:pPr algn="l">
                        <a:defRPr sz="1100" b="0">
                          <a:solidFill>
                            <a:srgbClr val="0B0B0B"/>
                          </a:solidFill>
                          <a:latin typeface="Calibri"/>
                        </a:defRPr>
                      </a:pPr>
                      <a:r>
                        <a:t>La incertidumbre se traduce en tamaño, no en error de cobertura</a:t>
                      </a:r>
                    </a:p>
                  </a:txBody>
                  <a:tcPr marL="54864" marR="54864" marT="18288" marB="18288" anchor="ctr">
                    <a:solidFill>
                      <a:srgbClr val="EEF1F6"/>
                    </a:solidFill>
                  </a:tcPr>
                </a:tc>
                <a:tc>
                  <a:txBody>
                    <a:bodyPr/>
                    <a:lstStyle/>
                    <a:p>
                      <a:pPr algn="ctr">
                        <a:defRPr sz="1100" b="0">
                          <a:solidFill>
                            <a:srgbClr val="0B0B0B"/>
                          </a:solidFill>
                          <a:latin typeface="Calibri"/>
                        </a:defRPr>
                      </a:pPr>
                      <a:r>
                        <a:t>Apoyada: hgb y MLP difieren en tamaño y abstención; el error entre automáticas sí difiere (5.9 % frente a 8.2 %)</a:t>
                      </a:r>
                    </a:p>
                  </a:txBody>
                  <a:tcPr marL="54864" marR="54864" marT="18288" marB="18288" anchor="ctr">
                    <a:solidFill>
                      <a:srgbClr val="EEF1F6"/>
                    </a:solidFill>
                  </a:tcPr>
                </a:tc>
              </a:tr>
              <a:tr h="502920">
                <a:tc>
                  <a:txBody>
                    <a:bodyPr/>
                    <a:lstStyle/>
                    <a:p>
                      <a:pPr algn="l">
                        <a:defRPr sz="1100" b="0">
                          <a:solidFill>
                            <a:srgbClr val="0B0B0B"/>
                          </a:solidFill>
                          <a:latin typeface="Calibri"/>
                        </a:defRPr>
                      </a:pPr>
                      <a:r>
                        <a:t>Mondrian produce conjuntos más grandes</a:t>
                      </a:r>
                    </a:p>
                  </a:txBody>
                  <a:tcPr marL="54864" marR="54864" marT="18288" marB="18288" anchor="ctr">
                    <a:solidFill>
                      <a:srgbClr val="FFFFFF"/>
                    </a:solidFill>
                  </a:tcPr>
                </a:tc>
                <a:tc>
                  <a:txBody>
                    <a:bodyPr/>
                    <a:lstStyle/>
                    <a:p>
                      <a:pPr algn="ctr">
                        <a:defRPr sz="1100" b="0">
                          <a:solidFill>
                            <a:srgbClr val="0B0B0B"/>
                          </a:solidFill>
                          <a:latin typeface="Calibri"/>
                        </a:defRPr>
                      </a:pPr>
                      <a:r>
                        <a:t>Sí en las seis comparaciones; no implica más abstención (con α = 0.20 abstiene menos porque split da conjuntos vacíos)</a:t>
                      </a:r>
                    </a:p>
                  </a:txBody>
                  <a:tcPr marL="54864" marR="54864" marT="18288" marB="18288" anchor="ctr">
                    <a:solidFill>
                      <a:srgbClr val="FFFFFF"/>
                    </a:solidFill>
                  </a:tcPr>
                </a:tc>
              </a:tr>
              <a:tr h="502920">
                <a:tc>
                  <a:txBody>
                    <a:bodyPr/>
                    <a:lstStyle/>
                    <a:p>
                      <a:pPr algn="l">
                        <a:defRPr sz="1100" b="0">
                          <a:solidFill>
                            <a:srgbClr val="0B0B0B"/>
                          </a:solidFill>
                          <a:latin typeface="Calibri"/>
                        </a:defRPr>
                      </a:pPr>
                      <a:r>
                        <a:t>Las características físicas reducen el tamaño</a:t>
                      </a:r>
                    </a:p>
                  </a:txBody>
                  <a:tcPr marL="54864" marR="54864" marT="18288" marB="18288" anchor="ctr">
                    <a:solidFill>
                      <a:srgbClr val="EEF1F6"/>
                    </a:solidFill>
                  </a:tcPr>
                </a:tc>
                <a:tc>
                  <a:txBody>
                    <a:bodyPr/>
                    <a:lstStyle/>
                    <a:p>
                      <a:pPr algn="ctr">
                        <a:defRPr sz="1100" b="0">
                          <a:solidFill>
                            <a:srgbClr val="0B0B0B"/>
                          </a:solidFill>
                          <a:latin typeface="Calibri"/>
                        </a:defRPr>
                      </a:pPr>
                      <a:r>
                        <a:t>No evaluada: fuera del producto mínimo</a:t>
                      </a:r>
                    </a:p>
                  </a:txBody>
                  <a:tcPr marL="54864" marR="54864" marT="18288" marB="18288" anchor="ctr">
                    <a:solidFill>
                      <a:srgbClr val="EEF1F6"/>
                    </a:solidFill>
                  </a:tcPr>
                </a:tc>
              </a:tr>
              <a:tr h="502920">
                <a:tc>
                  <a:txBody>
                    <a:bodyPr/>
                    <a:lstStyle/>
                    <a:p>
                      <a:pPr algn="l">
                        <a:defRPr sz="1100" b="0">
                          <a:solidFill>
                            <a:srgbClr val="0B0B0B"/>
                          </a:solidFill>
                          <a:latin typeface="Calibri"/>
                        </a:defRPr>
                      </a:pPr>
                      <a:r>
                        <a:t>Existe un α óptimo por costo</a:t>
                      </a:r>
                    </a:p>
                  </a:txBody>
                  <a:tcPr marL="54864" marR="54864" marT="18288" marB="18288" anchor="ctr">
                    <a:solidFill>
                      <a:srgbClr val="FFFFFF"/>
                    </a:solidFill>
                  </a:tcPr>
                </a:tc>
                <a:tc>
                  <a:txBody>
                    <a:bodyPr/>
                    <a:lstStyle/>
                    <a:p>
                      <a:pPr algn="ctr">
                        <a:defRPr sz="1100" b="0">
                          <a:solidFill>
                            <a:srgbClr val="0B0B0B"/>
                          </a:solidFill>
                          <a:latin typeface="Calibri"/>
                        </a:defRPr>
                      </a:pPr>
                      <a:r>
                        <a:t>No evaluada: política de costos como extensión</a:t>
                      </a:r>
                    </a:p>
                  </a:txBody>
                  <a:tcPr marL="54864" marR="54864" marT="18288" marB="18288" anchor="ctr">
                    <a:solidFill>
                      <a:srgbClr val="FFFFFF"/>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1170432"/>
            <a:ext cx="548640" cy="45720"/>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7315200" cy="274320"/>
          </a:xfrm>
          <a:prstGeom prst="rect">
            <a:avLst/>
          </a:prstGeom>
          <a:noFill/>
        </p:spPr>
        <p:txBody>
          <a:bodyPr wrap="square" anchor="t" lIns="45720" rIns="45720" tIns="27432" bIns="27432">
            <a:spAutoFit/>
          </a:bodyPr>
          <a:lstStyle/>
          <a:p>
            <a:pPr algn="l">
              <a:lnSpc>
                <a:spcPct val="110000"/>
              </a:lnSpc>
              <a:defRPr sz="1100" b="1" i="0">
                <a:solidFill>
                  <a:srgbClr val="EB6834"/>
                </a:solidFill>
                <a:latin typeface="Calibri"/>
              </a:defRPr>
            </a:pPr>
            <a:r>
              <a:t>APÉNDICE M</a:t>
            </a:r>
          </a:p>
        </p:txBody>
      </p:sp>
      <p:sp>
        <p:nvSpPr>
          <p:cNvPr id="5" name="TextBox 4"/>
          <p:cNvSpPr txBox="1"/>
          <p:nvPr/>
        </p:nvSpPr>
        <p:spPr>
          <a:xfrm>
            <a:off x="640080" y="566928"/>
            <a:ext cx="10058400" cy="640080"/>
          </a:xfrm>
          <a:prstGeom prst="rect">
            <a:avLst/>
          </a:prstGeom>
          <a:noFill/>
        </p:spPr>
        <p:txBody>
          <a:bodyPr wrap="square" anchor="t" lIns="45720" rIns="45720" tIns="27432" bIns="27432">
            <a:spAutoFit/>
          </a:bodyPr>
          <a:lstStyle/>
          <a:p>
            <a:pPr algn="l">
              <a:lnSpc>
                <a:spcPct val="110000"/>
              </a:lnSpc>
              <a:defRPr sz="2400" b="1" i="0">
                <a:solidFill>
                  <a:srgbClr val="0F2A4A"/>
                </a:solidFill>
                <a:latin typeface="Calibri"/>
              </a:defRPr>
            </a:pPr>
            <a:r>
              <a:t>Conceptos del curso aplicados y tema adicional investigado</a:t>
            </a:r>
          </a:p>
        </p:txBody>
      </p:sp>
      <p:sp>
        <p:nvSpPr>
          <p:cNvPr id="6" name="Rectangle 5"/>
          <p:cNvSpPr/>
          <p:nvPr/>
        </p:nvSpPr>
        <p:spPr>
          <a:xfrm>
            <a:off x="0" y="6537960"/>
            <a:ext cx="12191695" cy="320040"/>
          </a:xfrm>
          <a:prstGeom prst="rect">
            <a:avLst/>
          </a:prstGeom>
          <a:solidFill>
            <a:srgbClr val="0F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574536"/>
            <a:ext cx="7315200" cy="256032"/>
          </a:xfrm>
          <a:prstGeom prst="rect">
            <a:avLst/>
          </a:prstGeom>
          <a:noFill/>
        </p:spPr>
        <p:txBody>
          <a:bodyPr wrap="square" anchor="t" lIns="45720" rIns="45720" tIns="27432" bIns="27432">
            <a:spAutoFit/>
          </a:bodyPr>
          <a:lstStyle/>
          <a:p>
            <a:pPr algn="l">
              <a:lnSpc>
                <a:spcPct val="110000"/>
              </a:lnSpc>
              <a:defRPr sz="900" b="0" i="0">
                <a:solidFill>
                  <a:srgbClr val="C9D6E8"/>
                </a:solidFill>
                <a:latin typeface="Calibri"/>
              </a:defRPr>
            </a:pPr>
            <a:r>
              <a:t>Predicción conforme y abstención selectiva · AI4I 2020</a:t>
            </a:r>
          </a:p>
        </p:txBody>
      </p:sp>
      <p:sp>
        <p:nvSpPr>
          <p:cNvPr id="8" name="TextBox 7"/>
          <p:cNvSpPr txBox="1"/>
          <p:nvPr/>
        </p:nvSpPr>
        <p:spPr>
          <a:xfrm>
            <a:off x="11155680" y="6574536"/>
            <a:ext cx="457200" cy="256032"/>
          </a:xfrm>
          <a:prstGeom prst="rect">
            <a:avLst/>
          </a:prstGeom>
          <a:noFill/>
        </p:spPr>
        <p:txBody>
          <a:bodyPr wrap="square" anchor="t" lIns="45720" rIns="45720" tIns="27432" bIns="27432">
            <a:spAutoFit/>
          </a:bodyPr>
          <a:lstStyle/>
          <a:p>
            <a:pPr algn="r">
              <a:lnSpc>
                <a:spcPct val="110000"/>
              </a:lnSpc>
              <a:defRPr sz="900" b="0" i="0">
                <a:solidFill>
                  <a:srgbClr val="C9D6E8"/>
                </a:solidFill>
                <a:latin typeface="Calibri"/>
              </a:defRPr>
            </a:pPr>
            <a:r>
              <a:t>23</a:t>
            </a:r>
          </a:p>
        </p:txBody>
      </p:sp>
      <p:graphicFrame>
        <p:nvGraphicFramePr>
          <p:cNvPr id="9" name="Table 8"/>
          <p:cNvGraphicFramePr>
            <a:graphicFrameLocks noGrp="1"/>
          </p:cNvGraphicFramePr>
          <p:nvPr/>
        </p:nvGraphicFramePr>
        <p:xfrm>
          <a:off x="640080" y="1417320"/>
          <a:ext cx="10881360" cy="2926080"/>
        </p:xfrm>
        <a:graphic>
          <a:graphicData uri="http://schemas.openxmlformats.org/drawingml/2006/table">
            <a:tbl>
              <a:tblPr firstRow="1" bandRow="1">
                <a:tableStyleId>{5C22544A-7EE6-4342-B048-85BDC9FD1C3A}</a:tableStyleId>
              </a:tblPr>
              <a:tblGrid>
                <a:gridCol w="3566160"/>
                <a:gridCol w="7315200"/>
              </a:tblGrid>
              <a:tr h="365760">
                <a:tc>
                  <a:txBody>
                    <a:bodyPr/>
                    <a:lstStyle/>
                    <a:p>
                      <a:pPr algn="l">
                        <a:defRPr sz="1100" b="1">
                          <a:solidFill>
                            <a:srgbClr val="FFFFFF"/>
                          </a:solidFill>
                          <a:latin typeface="Calibri"/>
                        </a:defRPr>
                      </a:pPr>
                      <a:r>
                        <a:t>Concepto del curso</a:t>
                      </a:r>
                    </a:p>
                  </a:txBody>
                  <a:tcPr marL="54864" marR="54864" marT="18288" marB="18288" anchor="ctr">
                    <a:solidFill>
                      <a:srgbClr val="1C5CAB"/>
                    </a:solidFill>
                  </a:tcPr>
                </a:tc>
                <a:tc>
                  <a:txBody>
                    <a:bodyPr/>
                    <a:lstStyle/>
                    <a:p>
                      <a:pPr algn="ctr">
                        <a:defRPr sz="1100" b="1">
                          <a:solidFill>
                            <a:srgbClr val="FFFFFF"/>
                          </a:solidFill>
                          <a:latin typeface="Calibri"/>
                        </a:defRPr>
                      </a:pPr>
                      <a:r>
                        <a:t>Dónde se aplica en el proyecto</a:t>
                      </a:r>
                    </a:p>
                  </a:txBody>
                  <a:tcPr marL="54864" marR="54864" marT="18288" marB="18288" anchor="ctr">
                    <a:solidFill>
                      <a:srgbClr val="1C5CAB"/>
                    </a:solidFill>
                  </a:tcPr>
                </a:tc>
              </a:tr>
              <a:tr h="365760">
                <a:tc>
                  <a:txBody>
                    <a:bodyPr/>
                    <a:lstStyle/>
                    <a:p>
                      <a:pPr algn="l">
                        <a:defRPr sz="1100" b="0">
                          <a:solidFill>
                            <a:srgbClr val="0B0B0B"/>
                          </a:solidFill>
                          <a:latin typeface="Calibri"/>
                        </a:defRPr>
                      </a:pPr>
                      <a:r>
                        <a:t>Tensores, capas lineales, activaciones</a:t>
                      </a:r>
                    </a:p>
                  </a:txBody>
                  <a:tcPr marL="54864" marR="54864" marT="18288" marB="18288" anchor="ctr">
                    <a:solidFill>
                      <a:srgbClr val="FFFFFF"/>
                    </a:solidFill>
                  </a:tcPr>
                </a:tc>
                <a:tc>
                  <a:txBody>
                    <a:bodyPr/>
                    <a:lstStyle/>
                    <a:p>
                      <a:pPr algn="ctr">
                        <a:defRPr sz="1100" b="0">
                          <a:solidFill>
                            <a:srgbClr val="0B0B0B"/>
                          </a:solidFill>
                          <a:latin typeface="Calibri"/>
                        </a:defRPr>
                      </a:pPr>
                      <a:r>
                        <a:t>MLP con nn.Linear y ReLU sobre lotes de 256 filas, en GPU</a:t>
                      </a:r>
                    </a:p>
                  </a:txBody>
                  <a:tcPr marL="54864" marR="54864" marT="18288" marB="18288" anchor="ctr">
                    <a:solidFill>
                      <a:srgbClr val="FFFFFF"/>
                    </a:solidFill>
                  </a:tcPr>
                </a:tc>
              </a:tr>
              <a:tr h="365760">
                <a:tc>
                  <a:txBody>
                    <a:bodyPr/>
                    <a:lstStyle/>
                    <a:p>
                      <a:pPr algn="l">
                        <a:defRPr sz="1100" b="0">
                          <a:solidFill>
                            <a:srgbClr val="0B0B0B"/>
                          </a:solidFill>
                          <a:latin typeface="Calibri"/>
                        </a:defRPr>
                      </a:pPr>
                      <a:r>
                        <a:t>Autodiferenciación y ciclo de entrenamiento</a:t>
                      </a:r>
                    </a:p>
                  </a:txBody>
                  <a:tcPr marL="54864" marR="54864" marT="18288" marB="18288" anchor="ctr">
                    <a:solidFill>
                      <a:srgbClr val="EEF1F6"/>
                    </a:solidFill>
                  </a:tcPr>
                </a:tc>
                <a:tc>
                  <a:txBody>
                    <a:bodyPr/>
                    <a:lstStyle/>
                    <a:p>
                      <a:pPr algn="ctr">
                        <a:defRPr sz="1100" b="0">
                          <a:solidFill>
                            <a:srgbClr val="0B0B0B"/>
                          </a:solidFill>
                          <a:latin typeface="Calibri"/>
                        </a:defRPr>
                      </a:pPr>
                      <a:r>
                        <a:t>backward(), zero_grad(), Adam; traza de pérdida, norma del gradiente y cambio de parámetros por época</a:t>
                      </a:r>
                    </a:p>
                  </a:txBody>
                  <a:tcPr marL="54864" marR="54864" marT="18288" marB="18288" anchor="ctr">
                    <a:solidFill>
                      <a:srgbClr val="EEF1F6"/>
                    </a:solidFill>
                  </a:tcPr>
                </a:tc>
              </a:tr>
              <a:tr h="365760">
                <a:tc>
                  <a:txBody>
                    <a:bodyPr/>
                    <a:lstStyle/>
                    <a:p>
                      <a:pPr algn="l">
                        <a:defRPr sz="1100" b="0">
                          <a:solidFill>
                            <a:srgbClr val="0B0B0B"/>
                          </a:solidFill>
                          <a:latin typeface="Calibri"/>
                        </a:defRPr>
                      </a:pPr>
                      <a:r>
                        <a:t>CPU frente a GPU, precisión float32</a:t>
                      </a:r>
                    </a:p>
                  </a:txBody>
                  <a:tcPr marL="54864" marR="54864" marT="18288" marB="18288" anchor="ctr">
                    <a:solidFill>
                      <a:srgbClr val="FFFFFF"/>
                    </a:solidFill>
                  </a:tcPr>
                </a:tc>
                <a:tc>
                  <a:txBody>
                    <a:bodyPr/>
                    <a:lstStyle/>
                    <a:p>
                      <a:pPr algn="ctr">
                        <a:defRPr sz="1100" b="0">
                          <a:solidFill>
                            <a:srgbClr val="0B0B0B"/>
                          </a:solidFill>
                          <a:latin typeface="Calibri"/>
                        </a:defRPr>
                      </a:pPr>
                      <a:r>
                        <a:t>Mediana de repeticiones, parámetros comparados con tolerancia, costo de transferencias</a:t>
                      </a:r>
                    </a:p>
                  </a:txBody>
                  <a:tcPr marL="54864" marR="54864" marT="18288" marB="18288" anchor="ctr">
                    <a:solidFill>
                      <a:srgbClr val="FFFFFF"/>
                    </a:solidFill>
                  </a:tcPr>
                </a:tc>
              </a:tr>
              <a:tr h="365760">
                <a:tc>
                  <a:txBody>
                    <a:bodyPr/>
                    <a:lstStyle/>
                    <a:p>
                      <a:pPr algn="l">
                        <a:defRPr sz="1100" b="0">
                          <a:solidFill>
                            <a:srgbClr val="0B0B0B"/>
                          </a:solidFill>
                          <a:latin typeface="Calibri"/>
                        </a:defRPr>
                      </a:pPr>
                      <a:r>
                        <a:t>Probabilidad, cuantiles y estadísticos de orden</a:t>
                      </a:r>
                    </a:p>
                  </a:txBody>
                  <a:tcPr marL="54864" marR="54864" marT="18288" marB="18288" anchor="ctr">
                    <a:solidFill>
                      <a:srgbClr val="EEF1F6"/>
                    </a:solidFill>
                  </a:tcPr>
                </a:tc>
                <a:tc>
                  <a:txBody>
                    <a:bodyPr/>
                    <a:lstStyle/>
                    <a:p>
                      <a:pPr algn="ctr">
                        <a:defRPr sz="1100" b="0">
                          <a:solidFill>
                            <a:srgbClr val="0B0B0B"/>
                          </a:solidFill>
                          <a:latin typeface="Calibri"/>
                        </a:defRPr>
                      </a:pPr>
                      <a:r>
                        <a:t>Rango ⌈(n + 1)(1 − α)⌉ y argumento de intercambiabilidad del cuantil conforme</a:t>
                      </a:r>
                    </a:p>
                  </a:txBody>
                  <a:tcPr marL="54864" marR="54864" marT="18288" marB="18288" anchor="ctr">
                    <a:solidFill>
                      <a:srgbClr val="EEF1F6"/>
                    </a:solidFill>
                  </a:tcPr>
                </a:tc>
              </a:tr>
              <a:tr h="365760">
                <a:tc>
                  <a:txBody>
                    <a:bodyPr/>
                    <a:lstStyle/>
                    <a:p>
                      <a:pPr algn="l">
                        <a:defRPr sz="1100" b="0">
                          <a:solidFill>
                            <a:srgbClr val="0B0B0B"/>
                          </a:solidFill>
                          <a:latin typeface="Calibri"/>
                        </a:defRPr>
                      </a:pPr>
                      <a:r>
                        <a:t>Comparación de modelos y métricas por clase</a:t>
                      </a:r>
                    </a:p>
                  </a:txBody>
                  <a:tcPr marL="54864" marR="54864" marT="18288" marB="18288" anchor="ctr">
                    <a:solidFill>
                      <a:srgbClr val="FFFFFF"/>
                    </a:solidFill>
                  </a:tcPr>
                </a:tc>
                <a:tc>
                  <a:txBody>
                    <a:bodyPr/>
                    <a:lstStyle/>
                    <a:p>
                      <a:pPr algn="ctr">
                        <a:defRPr sz="1100" b="0">
                          <a:solidFill>
                            <a:srgbClr val="0B0B0B"/>
                          </a:solidFill>
                          <a:latin typeface="Calibri"/>
                        </a:defRPr>
                      </a:pPr>
                      <a:r>
                        <a:t>HGB frente a MLP con la misma capa conforme; cobertura, tamaño, abstención, error automático</a:t>
                      </a:r>
                    </a:p>
                  </a:txBody>
                  <a:tcPr marL="54864" marR="54864" marT="18288" marB="18288" anchor="ctr">
                    <a:solidFill>
                      <a:srgbClr val="FFFFFF"/>
                    </a:solidFill>
                  </a:tcPr>
                </a:tc>
              </a:tr>
              <a:tr h="365760">
                <a:tc>
                  <a:txBody>
                    <a:bodyPr/>
                    <a:lstStyle/>
                    <a:p>
                      <a:pPr algn="l">
                        <a:defRPr sz="1100" b="0">
                          <a:solidFill>
                            <a:srgbClr val="0B0B0B"/>
                          </a:solidFill>
                          <a:latin typeface="Calibri"/>
                        </a:defRPr>
                      </a:pPr>
                      <a:r>
                        <a:t>Pipelines y fuga de información</a:t>
                      </a:r>
                    </a:p>
                  </a:txBody>
                  <a:tcPr marL="54864" marR="54864" marT="18288" marB="18288" anchor="ctr">
                    <a:solidFill>
                      <a:srgbClr val="EEF1F6"/>
                    </a:solidFill>
                  </a:tcPr>
                </a:tc>
                <a:tc>
                  <a:txBody>
                    <a:bodyPr/>
                    <a:lstStyle/>
                    <a:p>
                      <a:pPr algn="ctr">
                        <a:defRPr sz="1100" b="0">
                          <a:solidFill>
                            <a:srgbClr val="0B0B0B"/>
                          </a:solidFill>
                          <a:latin typeface="Calibri"/>
                        </a:defRPr>
                      </a:pPr>
                      <a:r>
                        <a:t>Preprocesamiento ajustado solo con entrenamiento; calibración y prueba separadas</a:t>
                      </a:r>
                    </a:p>
                  </a:txBody>
                  <a:tcPr marL="54864" marR="54864" marT="18288" marB="18288" anchor="ctr">
                    <a:solidFill>
                      <a:srgbClr val="EEF1F6"/>
                    </a:solidFill>
                  </a:tcPr>
                </a:tc>
              </a:tr>
              <a:tr h="365760">
                <a:tc>
                  <a:txBody>
                    <a:bodyPr/>
                    <a:lstStyle/>
                    <a:p>
                      <a:pPr algn="l">
                        <a:defRPr sz="1100" b="0">
                          <a:solidFill>
                            <a:srgbClr val="0B0B0B"/>
                          </a:solidFill>
                          <a:latin typeface="Calibri"/>
                        </a:defRPr>
                      </a:pPr>
                      <a:r>
                        <a:t>Reproducibilidad</a:t>
                      </a:r>
                    </a:p>
                  </a:txBody>
                  <a:tcPr marL="54864" marR="54864" marT="18288" marB="18288" anchor="ctr">
                    <a:solidFill>
                      <a:srgbClr val="FFFFFF"/>
                    </a:solidFill>
                  </a:tcPr>
                </a:tc>
                <a:tc>
                  <a:txBody>
                    <a:bodyPr/>
                    <a:lstStyle/>
                    <a:p>
                      <a:pPr algn="ctr">
                        <a:defRPr sz="1100" b="0">
                          <a:solidFill>
                            <a:srgbClr val="0B0B0B"/>
                          </a:solidFill>
                          <a:latin typeface="Calibri"/>
                        </a:defRPr>
                      </a:pPr>
                      <a:r>
                        <a:t>uv.lock, semillas, hash SHA-256, manifiesto con versiones y GPU, 112 pruebas, notebook</a:t>
                      </a:r>
                    </a:p>
                  </a:txBody>
                  <a:tcPr marL="54864" marR="54864" marT="18288" marB="18288" anchor="ctr">
                    <a:solidFill>
                      <a:srgbClr val="FFFFFF"/>
                    </a:solidFill>
                  </a:tcPr>
                </a:tc>
              </a:tr>
            </a:tbl>
          </a:graphicData>
        </a:graphic>
      </p:graphicFrame>
      <p:sp>
        <p:nvSpPr>
          <p:cNvPr id="10" name="Rounded Rectangle 9"/>
          <p:cNvSpPr/>
          <p:nvPr/>
        </p:nvSpPr>
        <p:spPr>
          <a:xfrm>
            <a:off x="640080" y="4572000"/>
            <a:ext cx="10881360" cy="1600200"/>
          </a:xfrm>
          <a:prstGeom prst="roundRect">
            <a:avLst>
              <a:gd name="adj" fmla="val 6000"/>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40080" y="4572000"/>
            <a:ext cx="82296" cy="1600200"/>
          </a:xfrm>
          <a:prstGeom prst="roundRect">
            <a:avLst>
              <a:gd name="adj" fmla="val 50000"/>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59" y="4663440"/>
            <a:ext cx="10607040" cy="411480"/>
          </a:xfrm>
          <a:prstGeom prst="rect">
            <a:avLst/>
          </a:prstGeom>
          <a:noFill/>
        </p:spPr>
        <p:txBody>
          <a:bodyPr wrap="square" anchor="t" lIns="45720" rIns="45720" tIns="27432" bIns="27432">
            <a:spAutoFit/>
          </a:bodyPr>
          <a:lstStyle/>
          <a:p>
            <a:pPr algn="l">
              <a:lnSpc>
                <a:spcPct val="110000"/>
              </a:lnSpc>
              <a:defRPr sz="1500" b="1" i="0">
                <a:solidFill>
                  <a:srgbClr val="0B0B0B"/>
                </a:solidFill>
                <a:latin typeface="Calibri"/>
              </a:defRPr>
            </a:pPr>
            <a:r>
              <a:t>Tema adicional investigado: predicción conforme</a:t>
            </a:r>
          </a:p>
        </p:txBody>
      </p:sp>
      <p:sp>
        <p:nvSpPr>
          <p:cNvPr id="13" name="TextBox 12"/>
          <p:cNvSpPr txBox="1"/>
          <p:nvPr/>
        </p:nvSpPr>
        <p:spPr>
          <a:xfrm>
            <a:off x="822959" y="5074920"/>
            <a:ext cx="10607040" cy="1051560"/>
          </a:xfrm>
          <a:prstGeom prst="rect">
            <a:avLst/>
          </a:prstGeom>
          <a:noFill/>
        </p:spPr>
        <p:txBody>
          <a:bodyPr wrap="square" anchor="t" lIns="45720" rIns="45720" tIns="27432" bIns="27432">
            <a:spAutoFit/>
          </a:bodyPr>
          <a:lstStyle/>
          <a:p>
            <a:pPr algn="l">
              <a:lnSpc>
                <a:spcPct val="110000"/>
              </a:lnSpc>
              <a:defRPr sz="1100" b="0" i="0">
                <a:solidFill>
                  <a:srgbClr val="52514E"/>
                </a:solidFill>
                <a:latin typeface="Calibri"/>
              </a:defRPr>
            </a:pPr>
            <a:r>
              <a:t>Vovk, Gammerman y Shafer (2005) para el marco y la validez; Papadopoulos et al. (2002) para el esquema split; Vovk (2012) para Mondrian; Lei et al. (2018) para las cotas de cobertura; Angelopoulos y Bates (2021) para la distribución de la cobertura con calibración fija; Romano et al. (2020) para APS; Geifman y El-Yaniv (2017) para clasificación selectiva. Fuera del alcance reducido: Docker, SQL, SVD y autovalores, embeddings aprendidos.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1170432"/>
            <a:ext cx="548640" cy="45720"/>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7315200" cy="274320"/>
          </a:xfrm>
          <a:prstGeom prst="rect">
            <a:avLst/>
          </a:prstGeom>
          <a:noFill/>
        </p:spPr>
        <p:txBody>
          <a:bodyPr wrap="square" anchor="t" lIns="45720" rIns="45720" tIns="27432" bIns="27432">
            <a:spAutoFit/>
          </a:bodyPr>
          <a:lstStyle/>
          <a:p>
            <a:pPr algn="l">
              <a:lnSpc>
                <a:spcPct val="110000"/>
              </a:lnSpc>
              <a:defRPr sz="1100" b="1" i="0">
                <a:solidFill>
                  <a:srgbClr val="EB6834"/>
                </a:solidFill>
                <a:latin typeface="Calibri"/>
              </a:defRPr>
            </a:pPr>
            <a:r>
              <a:t>APÉNDICE N</a:t>
            </a:r>
          </a:p>
        </p:txBody>
      </p:sp>
      <p:sp>
        <p:nvSpPr>
          <p:cNvPr id="5" name="TextBox 4"/>
          <p:cNvSpPr txBox="1"/>
          <p:nvPr/>
        </p:nvSpPr>
        <p:spPr>
          <a:xfrm>
            <a:off x="640080" y="566928"/>
            <a:ext cx="10058400" cy="640080"/>
          </a:xfrm>
          <a:prstGeom prst="rect">
            <a:avLst/>
          </a:prstGeom>
          <a:noFill/>
        </p:spPr>
        <p:txBody>
          <a:bodyPr wrap="square" anchor="t" lIns="45720" rIns="45720" tIns="27432" bIns="27432">
            <a:spAutoFit/>
          </a:bodyPr>
          <a:lstStyle/>
          <a:p>
            <a:pPr algn="l">
              <a:lnSpc>
                <a:spcPct val="110000"/>
              </a:lnSpc>
              <a:defRPr sz="2400" b="1" i="0">
                <a:solidFill>
                  <a:srgbClr val="0F2A4A"/>
                </a:solidFill>
                <a:latin typeface="Calibri"/>
              </a:defRPr>
            </a:pPr>
            <a:r>
              <a:t>Recomendaciones y límites declarados</a:t>
            </a:r>
          </a:p>
        </p:txBody>
      </p:sp>
      <p:sp>
        <p:nvSpPr>
          <p:cNvPr id="6" name="Rectangle 5"/>
          <p:cNvSpPr/>
          <p:nvPr/>
        </p:nvSpPr>
        <p:spPr>
          <a:xfrm>
            <a:off x="0" y="6537960"/>
            <a:ext cx="12191695" cy="320040"/>
          </a:xfrm>
          <a:prstGeom prst="rect">
            <a:avLst/>
          </a:prstGeom>
          <a:solidFill>
            <a:srgbClr val="0F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574536"/>
            <a:ext cx="7315200" cy="256032"/>
          </a:xfrm>
          <a:prstGeom prst="rect">
            <a:avLst/>
          </a:prstGeom>
          <a:noFill/>
        </p:spPr>
        <p:txBody>
          <a:bodyPr wrap="square" anchor="t" lIns="45720" rIns="45720" tIns="27432" bIns="27432">
            <a:spAutoFit/>
          </a:bodyPr>
          <a:lstStyle/>
          <a:p>
            <a:pPr algn="l">
              <a:lnSpc>
                <a:spcPct val="110000"/>
              </a:lnSpc>
              <a:defRPr sz="900" b="0" i="0">
                <a:solidFill>
                  <a:srgbClr val="C9D6E8"/>
                </a:solidFill>
                <a:latin typeface="Calibri"/>
              </a:defRPr>
            </a:pPr>
            <a:r>
              <a:t>Predicción conforme y abstención selectiva · AI4I 2020</a:t>
            </a:r>
          </a:p>
        </p:txBody>
      </p:sp>
      <p:sp>
        <p:nvSpPr>
          <p:cNvPr id="8" name="TextBox 7"/>
          <p:cNvSpPr txBox="1"/>
          <p:nvPr/>
        </p:nvSpPr>
        <p:spPr>
          <a:xfrm>
            <a:off x="11155680" y="6574536"/>
            <a:ext cx="457200" cy="256032"/>
          </a:xfrm>
          <a:prstGeom prst="rect">
            <a:avLst/>
          </a:prstGeom>
          <a:noFill/>
        </p:spPr>
        <p:txBody>
          <a:bodyPr wrap="square" anchor="t" lIns="45720" rIns="45720" tIns="27432" bIns="27432">
            <a:spAutoFit/>
          </a:bodyPr>
          <a:lstStyle/>
          <a:p>
            <a:pPr algn="r">
              <a:lnSpc>
                <a:spcPct val="110000"/>
              </a:lnSpc>
              <a:defRPr sz="900" b="0" i="0">
                <a:solidFill>
                  <a:srgbClr val="C9D6E8"/>
                </a:solidFill>
                <a:latin typeface="Calibri"/>
              </a:defRPr>
            </a:pPr>
            <a:r>
              <a:t>24</a:t>
            </a:r>
          </a:p>
        </p:txBody>
      </p:sp>
      <p:sp>
        <p:nvSpPr>
          <p:cNvPr id="9" name="Rounded Rectangle 8"/>
          <p:cNvSpPr/>
          <p:nvPr/>
        </p:nvSpPr>
        <p:spPr>
          <a:xfrm>
            <a:off x="640080" y="1417320"/>
            <a:ext cx="5303520" cy="4754880"/>
          </a:xfrm>
          <a:prstGeom prst="roundRect">
            <a:avLst>
              <a:gd name="adj" fmla="val 6000"/>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40080" y="1417320"/>
            <a:ext cx="82296" cy="4754880"/>
          </a:xfrm>
          <a:prstGeom prst="roundRect">
            <a:avLst>
              <a:gd name="adj" fmla="val 50000"/>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1508760"/>
            <a:ext cx="5029200" cy="411480"/>
          </a:xfrm>
          <a:prstGeom prst="rect">
            <a:avLst/>
          </a:prstGeom>
          <a:noFill/>
        </p:spPr>
        <p:txBody>
          <a:bodyPr wrap="square" anchor="t" lIns="45720" rIns="45720" tIns="27432" bIns="27432">
            <a:spAutoFit/>
          </a:bodyPr>
          <a:lstStyle/>
          <a:p>
            <a:pPr algn="l">
              <a:lnSpc>
                <a:spcPct val="110000"/>
              </a:lnSpc>
              <a:defRPr sz="1500" b="1" i="0">
                <a:solidFill>
                  <a:srgbClr val="0B0B0B"/>
                </a:solidFill>
                <a:latin typeface="Calibri"/>
              </a:defRPr>
            </a:pPr>
            <a:r>
              <a:t>Recomendaciones</a:t>
            </a:r>
          </a:p>
        </p:txBody>
      </p:sp>
      <p:sp>
        <p:nvSpPr>
          <p:cNvPr id="12" name="TextBox 11"/>
          <p:cNvSpPr txBox="1"/>
          <p:nvPr/>
        </p:nvSpPr>
        <p:spPr>
          <a:xfrm>
            <a:off x="822959" y="1920240"/>
            <a:ext cx="5029200" cy="4206240"/>
          </a:xfrm>
          <a:prstGeom prst="rect">
            <a:avLst/>
          </a:prstGeom>
          <a:noFill/>
        </p:spPr>
        <p:txBody>
          <a:bodyPr wrap="square" anchor="t" lIns="45720" rIns="45720" tIns="27432" bIns="27432">
            <a:spAutoFit/>
          </a:bodyPr>
          <a:lstStyle/>
          <a:p>
            <a:pPr algn="l">
              <a:lnSpc>
                <a:spcPct val="110000"/>
              </a:lnSpc>
              <a:defRPr sz="1200" b="0" i="0">
                <a:solidFill>
                  <a:srgbClr val="52514E"/>
                </a:solidFill>
                <a:latin typeface="Calibri"/>
              </a:defRPr>
            </a:pPr>
            <a:r>
              <a:t>1. Operar con Mondrian y α = 0.10: el nivel más exigente con umbral finito para todas las clases. α = 0.05 solo con ≥ 19 ejemplos de calibración por clase.</a:t>
            </a:r>
          </a:p>
          <a:p>
            <a:pPr algn="l">
              <a:lnSpc>
                <a:spcPct val="110000"/>
              </a:lnSpc>
              <a:defRPr sz="1200" b="0" i="0">
                <a:solidFill>
                  <a:srgbClr val="52514E"/>
                </a:solidFill>
                <a:latin typeface="Calibri"/>
              </a:defRPr>
            </a:pPr>
            <a:r>
              <a:t>2. Repetir la partición con varias semillas y reportar la distribución de la cobertura por clase, no un punto.</a:t>
            </a:r>
          </a:p>
          <a:p>
            <a:pPr algn="l">
              <a:lnSpc>
                <a:spcPct val="110000"/>
              </a:lnSpc>
              <a:defRPr sz="1200" b="0" i="0">
                <a:solidFill>
                  <a:srgbClr val="52514E"/>
                </a:solidFill>
                <a:latin typeface="Calibri"/>
              </a:defRPr>
            </a:pPr>
            <a:r>
              <a:t>3. Sustituir 1 − p por APS: evita cuantiles saturados en 0 y conjuntos vacíos que hoy van a la vía humana.</a:t>
            </a:r>
          </a:p>
          <a:p>
            <a:pPr algn="l">
              <a:lnSpc>
                <a:spcPct val="110000"/>
              </a:lnSpc>
              <a:defRPr sz="1200" b="0" i="0">
                <a:solidFill>
                  <a:srgbClr val="52514E"/>
                </a:solidFill>
                <a:latin typeface="Calibri"/>
              </a:defRPr>
            </a:pPr>
            <a:r>
              <a:t>4. Definir la matriz de costos para elegir α por costo esperado y no solo por cobertura.</a:t>
            </a:r>
          </a:p>
          <a:p>
            <a:pPr algn="l">
              <a:lnSpc>
                <a:spcPct val="110000"/>
              </a:lnSpc>
              <a:defRPr sz="1200" b="0" i="0">
                <a:solidFill>
                  <a:srgbClr val="52514E"/>
                </a:solidFill>
                <a:latin typeface="Calibri"/>
              </a:defRPr>
            </a:pPr>
            <a:r>
              <a:t>5. Al recolectar datos, priorizar TWF: limita la calibración Mondrian y la medición de su cobertura.</a:t>
            </a:r>
          </a:p>
        </p:txBody>
      </p:sp>
      <p:sp>
        <p:nvSpPr>
          <p:cNvPr id="13" name="Rounded Rectangle 12"/>
          <p:cNvSpPr/>
          <p:nvPr/>
        </p:nvSpPr>
        <p:spPr>
          <a:xfrm>
            <a:off x="6217920" y="1417320"/>
            <a:ext cx="5303520" cy="4754880"/>
          </a:xfrm>
          <a:prstGeom prst="roundRect">
            <a:avLst>
              <a:gd name="adj" fmla="val 6000"/>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217920" y="1417320"/>
            <a:ext cx="82296" cy="4754880"/>
          </a:xfrm>
          <a:prstGeom prst="roundRect">
            <a:avLst>
              <a:gd name="adj" fmla="val 50000"/>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1508760"/>
            <a:ext cx="5029200" cy="411480"/>
          </a:xfrm>
          <a:prstGeom prst="rect">
            <a:avLst/>
          </a:prstGeom>
          <a:noFill/>
        </p:spPr>
        <p:txBody>
          <a:bodyPr wrap="square" anchor="t" lIns="45720" rIns="45720" tIns="27432" bIns="27432">
            <a:spAutoFit/>
          </a:bodyPr>
          <a:lstStyle/>
          <a:p>
            <a:pPr algn="l">
              <a:lnSpc>
                <a:spcPct val="110000"/>
              </a:lnSpc>
              <a:defRPr sz="1500" b="1" i="0">
                <a:solidFill>
                  <a:srgbClr val="0B0B0B"/>
                </a:solidFill>
                <a:latin typeface="Calibri"/>
              </a:defRPr>
            </a:pPr>
            <a:r>
              <a:t>Límites</a:t>
            </a:r>
          </a:p>
        </p:txBody>
      </p:sp>
      <p:sp>
        <p:nvSpPr>
          <p:cNvPr id="16" name="TextBox 15"/>
          <p:cNvSpPr txBox="1"/>
          <p:nvPr/>
        </p:nvSpPr>
        <p:spPr>
          <a:xfrm>
            <a:off x="6400800" y="1920240"/>
            <a:ext cx="5029200" cy="4206240"/>
          </a:xfrm>
          <a:prstGeom prst="rect">
            <a:avLst/>
          </a:prstGeom>
          <a:noFill/>
        </p:spPr>
        <p:txBody>
          <a:bodyPr wrap="square" anchor="t" lIns="45720" rIns="45720" tIns="27432" bIns="27432">
            <a:spAutoFit/>
          </a:bodyPr>
          <a:lstStyle/>
          <a:p>
            <a:pPr algn="l">
              <a:lnSpc>
                <a:spcPct val="110000"/>
              </a:lnSpc>
              <a:defRPr sz="1200" b="0" i="0">
                <a:solidFill>
                  <a:srgbClr val="52514E"/>
                </a:solidFill>
                <a:latin typeface="Calibri"/>
              </a:defRPr>
            </a:pPr>
            <a:r>
              <a:t>Una sola partición: la garantía es en probabilidad sobre particiones; aquí hay una realización con semilla 42.</a:t>
            </a:r>
          </a:p>
          <a:p>
            <a:pPr algn="l">
              <a:lnSpc>
                <a:spcPct val="110000"/>
              </a:lnSpc>
              <a:defRPr sz="1200" b="0" i="0">
                <a:solidFill>
                  <a:srgbClr val="52514E"/>
                </a:solidFill>
                <a:latin typeface="Calibri"/>
              </a:defRPr>
            </a:pPr>
            <a:r>
              <a:t>TWF con 14 casos de calibración y 9 de prueba: cifras indicativas, no estimaciones precisas.</a:t>
            </a:r>
          </a:p>
          <a:p>
            <a:pPr algn="l">
              <a:lnSpc>
                <a:spcPct val="110000"/>
              </a:lnSpc>
              <a:defRPr sz="1200" b="0" i="0">
                <a:solidFill>
                  <a:srgbClr val="52514E"/>
                </a:solidFill>
                <a:latin typeface="Calibri"/>
              </a:defRPr>
            </a:pPr>
            <a:r>
              <a:t>Puntuación 1 − p saturada por modelos muy confiados: umbrales cercanos a 0 y conjuntos vacíos.</a:t>
            </a:r>
          </a:p>
          <a:p>
            <a:pPr algn="l">
              <a:lnSpc>
                <a:spcPct val="110000"/>
              </a:lnSpc>
              <a:defRPr sz="1200" b="0" i="0">
                <a:solidFill>
                  <a:srgbClr val="52514E"/>
                </a:solidFill>
                <a:latin typeface="Calibri"/>
              </a:defRPr>
            </a:pPr>
            <a:r>
              <a:t>Datos sintéticos y secuenciales: la garantía se afirma para partición aleatoria, no para despliegue en el tiempo.</a:t>
            </a:r>
          </a:p>
          <a:p>
            <a:pPr algn="l">
              <a:lnSpc>
                <a:spcPct val="110000"/>
              </a:lnSpc>
              <a:defRPr sz="1200" b="0" i="0">
                <a:solidFill>
                  <a:srgbClr val="52514E"/>
                </a:solidFill>
                <a:latin typeface="Calibri"/>
              </a:defRPr>
            </a:pPr>
            <a:r>
              <a:t>Sin selección de hiperparámetros ni costos asignados a la abstención.</a:t>
            </a:r>
          </a:p>
          <a:p>
            <a:pPr algn="l">
              <a:lnSpc>
                <a:spcPct val="110000"/>
              </a:lnSpc>
              <a:defRPr sz="1200" b="0" i="0">
                <a:solidFill>
                  <a:srgbClr val="52514E"/>
                </a:solidFill>
                <a:latin typeface="Calibri"/>
              </a:defRPr>
            </a:pPr>
            <a:r>
              <a:t>CPU y CUDA convergen a parámetros ligeramente distintos; las métricas del MLP corresponden a CUDA.</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1170432"/>
            <a:ext cx="548640" cy="45720"/>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7315200" cy="274320"/>
          </a:xfrm>
          <a:prstGeom prst="rect">
            <a:avLst/>
          </a:prstGeom>
          <a:noFill/>
        </p:spPr>
        <p:txBody>
          <a:bodyPr wrap="square" anchor="t" lIns="45720" rIns="45720" tIns="27432" bIns="27432">
            <a:spAutoFit/>
          </a:bodyPr>
          <a:lstStyle/>
          <a:p>
            <a:pPr algn="l">
              <a:lnSpc>
                <a:spcPct val="110000"/>
              </a:lnSpc>
              <a:defRPr sz="1100" b="1" i="0">
                <a:solidFill>
                  <a:srgbClr val="EB6834"/>
                </a:solidFill>
                <a:latin typeface="Calibri"/>
              </a:defRPr>
            </a:pPr>
            <a:r>
              <a:t>APÉNDICE A</a:t>
            </a:r>
          </a:p>
        </p:txBody>
      </p:sp>
      <p:sp>
        <p:nvSpPr>
          <p:cNvPr id="5" name="TextBox 4"/>
          <p:cNvSpPr txBox="1"/>
          <p:nvPr/>
        </p:nvSpPr>
        <p:spPr>
          <a:xfrm>
            <a:off x="640080" y="566928"/>
            <a:ext cx="10058400" cy="640080"/>
          </a:xfrm>
          <a:prstGeom prst="rect">
            <a:avLst/>
          </a:prstGeom>
          <a:noFill/>
        </p:spPr>
        <p:txBody>
          <a:bodyPr wrap="square" anchor="t" lIns="45720" rIns="45720" tIns="27432" bIns="27432">
            <a:spAutoFit/>
          </a:bodyPr>
          <a:lstStyle/>
          <a:p>
            <a:pPr algn="l">
              <a:lnSpc>
                <a:spcPct val="110000"/>
              </a:lnSpc>
              <a:defRPr sz="2400" b="1" i="0">
                <a:solidFill>
                  <a:srgbClr val="0F2A4A"/>
                </a:solidFill>
                <a:latin typeface="Calibri"/>
              </a:defRPr>
            </a:pPr>
            <a:r>
              <a:t>Métricas globales completas en prueba (n = 1 995)</a:t>
            </a:r>
          </a:p>
        </p:txBody>
      </p:sp>
      <p:sp>
        <p:nvSpPr>
          <p:cNvPr id="6" name="Rectangle 5"/>
          <p:cNvSpPr/>
          <p:nvPr/>
        </p:nvSpPr>
        <p:spPr>
          <a:xfrm>
            <a:off x="0" y="6537960"/>
            <a:ext cx="12191695" cy="320040"/>
          </a:xfrm>
          <a:prstGeom prst="rect">
            <a:avLst/>
          </a:prstGeom>
          <a:solidFill>
            <a:srgbClr val="0F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574536"/>
            <a:ext cx="7315200" cy="256032"/>
          </a:xfrm>
          <a:prstGeom prst="rect">
            <a:avLst/>
          </a:prstGeom>
          <a:noFill/>
        </p:spPr>
        <p:txBody>
          <a:bodyPr wrap="square" anchor="t" lIns="45720" rIns="45720" tIns="27432" bIns="27432">
            <a:spAutoFit/>
          </a:bodyPr>
          <a:lstStyle/>
          <a:p>
            <a:pPr algn="l">
              <a:lnSpc>
                <a:spcPct val="110000"/>
              </a:lnSpc>
              <a:defRPr sz="900" b="0" i="0">
                <a:solidFill>
                  <a:srgbClr val="C9D6E8"/>
                </a:solidFill>
                <a:latin typeface="Calibri"/>
              </a:defRPr>
            </a:pPr>
            <a:r>
              <a:t>Predicción conforme y abstención selectiva · AI4I 2020</a:t>
            </a:r>
          </a:p>
        </p:txBody>
      </p:sp>
      <p:sp>
        <p:nvSpPr>
          <p:cNvPr id="8" name="TextBox 7"/>
          <p:cNvSpPr txBox="1"/>
          <p:nvPr/>
        </p:nvSpPr>
        <p:spPr>
          <a:xfrm>
            <a:off x="11155680" y="6574536"/>
            <a:ext cx="457200" cy="256032"/>
          </a:xfrm>
          <a:prstGeom prst="rect">
            <a:avLst/>
          </a:prstGeom>
          <a:noFill/>
        </p:spPr>
        <p:txBody>
          <a:bodyPr wrap="square" anchor="t" lIns="45720" rIns="45720" tIns="27432" bIns="27432">
            <a:spAutoFit/>
          </a:bodyPr>
          <a:lstStyle/>
          <a:p>
            <a:pPr algn="r">
              <a:lnSpc>
                <a:spcPct val="110000"/>
              </a:lnSpc>
              <a:defRPr sz="900" b="0" i="0">
                <a:solidFill>
                  <a:srgbClr val="C9D6E8"/>
                </a:solidFill>
                <a:latin typeface="Calibri"/>
              </a:defRPr>
            </a:pPr>
            <a:r>
              <a:t>25</a:t>
            </a:r>
          </a:p>
        </p:txBody>
      </p:sp>
      <p:graphicFrame>
        <p:nvGraphicFramePr>
          <p:cNvPr id="9" name="Table 8"/>
          <p:cNvGraphicFramePr>
            <a:graphicFrameLocks noGrp="1"/>
          </p:cNvGraphicFramePr>
          <p:nvPr/>
        </p:nvGraphicFramePr>
        <p:xfrm>
          <a:off x="640080" y="1417320"/>
          <a:ext cx="10241280" cy="4279392"/>
        </p:xfrm>
        <a:graphic>
          <a:graphicData uri="http://schemas.openxmlformats.org/drawingml/2006/table">
            <a:tbl>
              <a:tblPr firstRow="1" bandRow="1">
                <a:tableStyleId>{5C22544A-7EE6-4342-B048-85BDC9FD1C3A}</a:tableStyleId>
              </a:tblPr>
              <a:tblGrid>
                <a:gridCol w="822960"/>
                <a:gridCol w="1097280"/>
                <a:gridCol w="640080"/>
                <a:gridCol w="1005840"/>
                <a:gridCol w="1188720"/>
                <a:gridCol w="1097280"/>
                <a:gridCol w="914400"/>
                <a:gridCol w="914400"/>
                <a:gridCol w="1188720"/>
                <a:gridCol w="1371600"/>
              </a:tblGrid>
              <a:tr h="329184">
                <a:tc>
                  <a:txBody>
                    <a:bodyPr/>
                    <a:lstStyle/>
                    <a:p>
                      <a:pPr algn="l">
                        <a:defRPr sz="1100" b="1">
                          <a:solidFill>
                            <a:srgbClr val="FFFFFF"/>
                          </a:solidFill>
                          <a:latin typeface="Calibri"/>
                        </a:defRPr>
                      </a:pPr>
                      <a:r>
                        <a:t>Modelo</a:t>
                      </a:r>
                    </a:p>
                  </a:txBody>
                  <a:tcPr marL="54864" marR="54864" marT="18288" marB="18288" anchor="ctr">
                    <a:solidFill>
                      <a:srgbClr val="1C5CAB"/>
                    </a:solidFill>
                  </a:tcPr>
                </a:tc>
                <a:tc>
                  <a:txBody>
                    <a:bodyPr/>
                    <a:lstStyle/>
                    <a:p>
                      <a:pPr algn="ctr">
                        <a:defRPr sz="1100" b="1">
                          <a:solidFill>
                            <a:srgbClr val="FFFFFF"/>
                          </a:solidFill>
                          <a:latin typeface="Calibri"/>
                        </a:defRPr>
                      </a:pPr>
                      <a:r>
                        <a:t>Variante</a:t>
                      </a:r>
                    </a:p>
                  </a:txBody>
                  <a:tcPr marL="54864" marR="54864" marT="18288" marB="18288" anchor="ctr">
                    <a:solidFill>
                      <a:srgbClr val="1C5CAB"/>
                    </a:solidFill>
                  </a:tcPr>
                </a:tc>
                <a:tc>
                  <a:txBody>
                    <a:bodyPr/>
                    <a:lstStyle/>
                    <a:p>
                      <a:pPr algn="ctr">
                        <a:defRPr sz="1100" b="1">
                          <a:solidFill>
                            <a:srgbClr val="FFFFFF"/>
                          </a:solidFill>
                          <a:latin typeface="Calibri"/>
                        </a:defRPr>
                      </a:pPr>
                      <a:r>
                        <a:t>α</a:t>
                      </a:r>
                    </a:p>
                  </a:txBody>
                  <a:tcPr marL="54864" marR="54864" marT="18288" marB="18288" anchor="ctr">
                    <a:solidFill>
                      <a:srgbClr val="1C5CAB"/>
                    </a:solidFill>
                  </a:tcPr>
                </a:tc>
                <a:tc>
                  <a:txBody>
                    <a:bodyPr/>
                    <a:lstStyle/>
                    <a:p>
                      <a:pPr algn="ctr">
                        <a:defRPr sz="1100" b="1">
                          <a:solidFill>
                            <a:srgbClr val="FFFFFF"/>
                          </a:solidFill>
                          <a:latin typeface="Calibri"/>
                        </a:defRPr>
                      </a:pPr>
                      <a:r>
                        <a:t>Cobertura</a:t>
                      </a:r>
                    </a:p>
                  </a:txBody>
                  <a:tcPr marL="54864" marR="54864" marT="18288" marB="18288" anchor="ctr">
                    <a:solidFill>
                      <a:srgbClr val="1C5CAB"/>
                    </a:solidFill>
                  </a:tcPr>
                </a:tc>
                <a:tc>
                  <a:txBody>
                    <a:bodyPr/>
                    <a:lstStyle/>
                    <a:p>
                      <a:pPr algn="ctr">
                        <a:defRPr sz="1100" b="1">
                          <a:solidFill>
                            <a:srgbClr val="FFFFFF"/>
                          </a:solidFill>
                          <a:latin typeface="Calibri"/>
                        </a:defRPr>
                      </a:pPr>
                      <a:r>
                        <a:t>Tamaño medio</a:t>
                      </a:r>
                    </a:p>
                  </a:txBody>
                  <a:tcPr marL="54864" marR="54864" marT="18288" marB="18288" anchor="ctr">
                    <a:solidFill>
                      <a:srgbClr val="1C5CAB"/>
                    </a:solidFill>
                  </a:tcPr>
                </a:tc>
                <a:tc>
                  <a:txBody>
                    <a:bodyPr/>
                    <a:lstStyle/>
                    <a:p>
                      <a:pPr algn="ctr">
                        <a:defRPr sz="1100" b="1">
                          <a:solidFill>
                            <a:srgbClr val="FFFFFF"/>
                          </a:solidFill>
                          <a:latin typeface="Calibri"/>
                        </a:defRPr>
                      </a:pPr>
                      <a:r>
                        <a:t>Abstención</a:t>
                      </a:r>
                    </a:p>
                  </a:txBody>
                  <a:tcPr marL="54864" marR="54864" marT="18288" marB="18288" anchor="ctr">
                    <a:solidFill>
                      <a:srgbClr val="1C5CAB"/>
                    </a:solidFill>
                  </a:tcPr>
                </a:tc>
                <a:tc>
                  <a:txBody>
                    <a:bodyPr/>
                    <a:lstStyle/>
                    <a:p>
                      <a:pPr algn="ctr">
                        <a:defRPr sz="1100" b="1">
                          <a:solidFill>
                            <a:srgbClr val="FFFFFF"/>
                          </a:solidFill>
                          <a:latin typeface="Calibri"/>
                        </a:defRPr>
                      </a:pPr>
                      <a:r>
                        <a:t>Asistida</a:t>
                      </a:r>
                    </a:p>
                  </a:txBody>
                  <a:tcPr marL="54864" marR="54864" marT="18288" marB="18288" anchor="ctr">
                    <a:solidFill>
                      <a:srgbClr val="1C5CAB"/>
                    </a:solidFill>
                  </a:tcPr>
                </a:tc>
                <a:tc>
                  <a:txBody>
                    <a:bodyPr/>
                    <a:lstStyle/>
                    <a:p>
                      <a:pPr algn="ctr">
                        <a:defRPr sz="1100" b="1">
                          <a:solidFill>
                            <a:srgbClr val="FFFFFF"/>
                          </a:solidFill>
                          <a:latin typeface="Calibri"/>
                        </a:defRPr>
                      </a:pPr>
                      <a:r>
                        <a:t>Humana</a:t>
                      </a:r>
                    </a:p>
                  </a:txBody>
                  <a:tcPr marL="54864" marR="54864" marT="18288" marB="18288" anchor="ctr">
                    <a:solidFill>
                      <a:srgbClr val="1C5CAB"/>
                    </a:solidFill>
                  </a:tcPr>
                </a:tc>
                <a:tc>
                  <a:txBody>
                    <a:bodyPr/>
                    <a:lstStyle/>
                    <a:p>
                      <a:pPr algn="ctr">
                        <a:defRPr sz="1100" b="1">
                          <a:solidFill>
                            <a:srgbClr val="FFFFFF"/>
                          </a:solidFill>
                          <a:latin typeface="Calibri"/>
                        </a:defRPr>
                      </a:pPr>
                      <a:r>
                        <a:t>Automáticas</a:t>
                      </a:r>
                    </a:p>
                  </a:txBody>
                  <a:tcPr marL="54864" marR="54864" marT="18288" marB="18288" anchor="ctr">
                    <a:solidFill>
                      <a:srgbClr val="1C5CAB"/>
                    </a:solidFill>
                  </a:tcPr>
                </a:tc>
                <a:tc>
                  <a:txBody>
                    <a:bodyPr/>
                    <a:lstStyle/>
                    <a:p>
                      <a:pPr algn="ctr">
                        <a:defRPr sz="1100" b="1">
                          <a:solidFill>
                            <a:srgbClr val="FFFFFF"/>
                          </a:solidFill>
                          <a:latin typeface="Calibri"/>
                        </a:defRPr>
                      </a:pPr>
                      <a:r>
                        <a:t>Error automáticas</a:t>
                      </a:r>
                    </a:p>
                  </a:txBody>
                  <a:tcPr marL="54864" marR="54864" marT="18288" marB="18288" anchor="ctr">
                    <a:solidFill>
                      <a:srgbClr val="1C5CAB"/>
                    </a:solidFill>
                  </a:tcPr>
                </a:tc>
              </a:tr>
              <a:tr h="329184">
                <a:tc>
                  <a:txBody>
                    <a:bodyPr/>
                    <a:lstStyle/>
                    <a:p>
                      <a:pPr algn="l">
                        <a:defRPr sz="1100" b="0">
                          <a:solidFill>
                            <a:srgbClr val="0B0B0B"/>
                          </a:solidFill>
                          <a:latin typeface="Calibri"/>
                        </a:defRPr>
                      </a:pPr>
                      <a:r>
                        <a:t>hgb</a:t>
                      </a:r>
                    </a:p>
                  </a:txBody>
                  <a:tcPr marL="54864" marR="54864" marT="18288" marB="18288" anchor="ctr">
                    <a:solidFill>
                      <a:srgbClr val="FFFFFF"/>
                    </a:solidFill>
                  </a:tcPr>
                </a:tc>
                <a:tc>
                  <a:txBody>
                    <a:bodyPr/>
                    <a:lstStyle/>
                    <a:p>
                      <a:pPr algn="ctr">
                        <a:defRPr sz="1100" b="0">
                          <a:solidFill>
                            <a:srgbClr val="0B0B0B"/>
                          </a:solidFill>
                          <a:latin typeface="Calibri"/>
                        </a:defRPr>
                      </a:pPr>
                      <a:r>
                        <a:t>split</a:t>
                      </a:r>
                    </a:p>
                  </a:txBody>
                  <a:tcPr marL="54864" marR="54864" marT="18288" marB="18288" anchor="ctr">
                    <a:solidFill>
                      <a:srgbClr val="FFFFFF"/>
                    </a:solidFill>
                  </a:tcPr>
                </a:tc>
                <a:tc>
                  <a:txBody>
                    <a:bodyPr/>
                    <a:lstStyle/>
                    <a:p>
                      <a:pPr algn="ctr">
                        <a:defRPr sz="1100" b="0">
                          <a:solidFill>
                            <a:srgbClr val="0B0B0B"/>
                          </a:solidFill>
                          <a:latin typeface="Calibri"/>
                        </a:defRPr>
                      </a:pPr>
                      <a:r>
                        <a:t>0.05</a:t>
                      </a:r>
                    </a:p>
                  </a:txBody>
                  <a:tcPr marL="54864" marR="54864" marT="18288" marB="18288" anchor="ctr">
                    <a:solidFill>
                      <a:srgbClr val="FFFFFF"/>
                    </a:solidFill>
                  </a:tcPr>
                </a:tc>
                <a:tc>
                  <a:txBody>
                    <a:bodyPr/>
                    <a:lstStyle/>
                    <a:p>
                      <a:pPr algn="ctr">
                        <a:defRPr sz="1100" b="0">
                          <a:solidFill>
                            <a:srgbClr val="0B0B0B"/>
                          </a:solidFill>
                          <a:latin typeface="Calibri"/>
                        </a:defRPr>
                      </a:pPr>
                      <a:r>
                        <a:t>0.954</a:t>
                      </a:r>
                    </a:p>
                  </a:txBody>
                  <a:tcPr marL="54864" marR="54864" marT="18288" marB="18288" anchor="ctr">
                    <a:solidFill>
                      <a:srgbClr val="FFFFFF"/>
                    </a:solidFill>
                  </a:tcPr>
                </a:tc>
                <a:tc>
                  <a:txBody>
                    <a:bodyPr/>
                    <a:lstStyle/>
                    <a:p>
                      <a:pPr algn="ctr">
                        <a:defRPr sz="1100" b="0">
                          <a:solidFill>
                            <a:srgbClr val="0B0B0B"/>
                          </a:solidFill>
                          <a:latin typeface="Calibri"/>
                        </a:defRPr>
                      </a:pPr>
                      <a:r>
                        <a:t>0.96</a:t>
                      </a:r>
                    </a:p>
                  </a:txBody>
                  <a:tcPr marL="54864" marR="54864" marT="18288" marB="18288" anchor="ctr">
                    <a:solidFill>
                      <a:srgbClr val="FFFFFF"/>
                    </a:solidFill>
                  </a:tcPr>
                </a:tc>
                <a:tc>
                  <a:txBody>
                    <a:bodyPr/>
                    <a:lstStyle/>
                    <a:p>
                      <a:pPr algn="ctr">
                        <a:defRPr sz="1100" b="0">
                          <a:solidFill>
                            <a:srgbClr val="0B0B0B"/>
                          </a:solidFill>
                          <a:latin typeface="Calibri"/>
                        </a:defRPr>
                      </a:pPr>
                      <a:r>
                        <a:t>0.041</a:t>
                      </a:r>
                    </a:p>
                  </a:txBody>
                  <a:tcPr marL="54864" marR="54864" marT="18288" marB="18288" anchor="ctr">
                    <a:solidFill>
                      <a:srgbClr val="FFFFFF"/>
                    </a:solidFill>
                  </a:tcPr>
                </a:tc>
                <a:tc>
                  <a:txBody>
                    <a:bodyPr/>
                    <a:lstStyle/>
                    <a:p>
                      <a:pPr algn="ctr">
                        <a:defRPr sz="1100" b="0">
                          <a:solidFill>
                            <a:srgbClr val="0B0B0B"/>
                          </a:solidFill>
                          <a:latin typeface="Calibri"/>
                        </a:defRPr>
                      </a:pPr>
                      <a:r>
                        <a:t>0.000</a:t>
                      </a:r>
                    </a:p>
                  </a:txBody>
                  <a:tcPr marL="54864" marR="54864" marT="18288" marB="18288" anchor="ctr">
                    <a:solidFill>
                      <a:srgbClr val="FFFFFF"/>
                    </a:solidFill>
                  </a:tcPr>
                </a:tc>
                <a:tc>
                  <a:txBody>
                    <a:bodyPr/>
                    <a:lstStyle/>
                    <a:p>
                      <a:pPr algn="ctr">
                        <a:defRPr sz="1100" b="0">
                          <a:solidFill>
                            <a:srgbClr val="0B0B0B"/>
                          </a:solidFill>
                          <a:latin typeface="Calibri"/>
                        </a:defRPr>
                      </a:pPr>
                      <a:r>
                        <a:t>0.041</a:t>
                      </a:r>
                    </a:p>
                  </a:txBody>
                  <a:tcPr marL="54864" marR="54864" marT="18288" marB="18288" anchor="ctr">
                    <a:solidFill>
                      <a:srgbClr val="FFFFFF"/>
                    </a:solidFill>
                  </a:tcPr>
                </a:tc>
                <a:tc>
                  <a:txBody>
                    <a:bodyPr/>
                    <a:lstStyle/>
                    <a:p>
                      <a:pPr algn="ctr">
                        <a:defRPr sz="1100" b="0">
                          <a:solidFill>
                            <a:srgbClr val="0B0B0B"/>
                          </a:solidFill>
                          <a:latin typeface="Calibri"/>
                        </a:defRPr>
                      </a:pPr>
                      <a:r>
                        <a:t>1 914</a:t>
                      </a:r>
                    </a:p>
                  </a:txBody>
                  <a:tcPr marL="54864" marR="54864" marT="18288" marB="18288" anchor="ctr">
                    <a:solidFill>
                      <a:srgbClr val="FFFFFF"/>
                    </a:solidFill>
                  </a:tcPr>
                </a:tc>
                <a:tc>
                  <a:txBody>
                    <a:bodyPr/>
                    <a:lstStyle/>
                    <a:p>
                      <a:pPr algn="ctr">
                        <a:defRPr sz="1100" b="0">
                          <a:solidFill>
                            <a:srgbClr val="0B0B0B"/>
                          </a:solidFill>
                          <a:latin typeface="Calibri"/>
                        </a:defRPr>
                      </a:pPr>
                      <a:r>
                        <a:t>0.5 %</a:t>
                      </a:r>
                    </a:p>
                  </a:txBody>
                  <a:tcPr marL="54864" marR="54864" marT="18288" marB="18288" anchor="ctr">
                    <a:solidFill>
                      <a:srgbClr val="FFFFFF"/>
                    </a:solidFill>
                  </a:tcPr>
                </a:tc>
              </a:tr>
              <a:tr h="329184">
                <a:tc>
                  <a:txBody>
                    <a:bodyPr/>
                    <a:lstStyle/>
                    <a:p>
                      <a:pPr algn="l">
                        <a:defRPr sz="1100" b="0">
                          <a:solidFill>
                            <a:srgbClr val="0B0B0B"/>
                          </a:solidFill>
                          <a:latin typeface="Calibri"/>
                        </a:defRPr>
                      </a:pPr>
                      <a:r>
                        <a:t>hgb</a:t>
                      </a:r>
                    </a:p>
                  </a:txBody>
                  <a:tcPr marL="54864" marR="54864" marT="18288" marB="18288" anchor="ctr">
                    <a:solidFill>
                      <a:srgbClr val="EEF1F6"/>
                    </a:solidFill>
                  </a:tcPr>
                </a:tc>
                <a:tc>
                  <a:txBody>
                    <a:bodyPr/>
                    <a:lstStyle/>
                    <a:p>
                      <a:pPr algn="ctr">
                        <a:defRPr sz="1100" b="0">
                          <a:solidFill>
                            <a:srgbClr val="0B0B0B"/>
                          </a:solidFill>
                          <a:latin typeface="Calibri"/>
                        </a:defRPr>
                      </a:pPr>
                      <a:r>
                        <a:t>mondrian</a:t>
                      </a:r>
                    </a:p>
                  </a:txBody>
                  <a:tcPr marL="54864" marR="54864" marT="18288" marB="18288" anchor="ctr">
                    <a:solidFill>
                      <a:srgbClr val="EEF1F6"/>
                    </a:solidFill>
                  </a:tcPr>
                </a:tc>
                <a:tc>
                  <a:txBody>
                    <a:bodyPr/>
                    <a:lstStyle/>
                    <a:p>
                      <a:pPr algn="ctr">
                        <a:defRPr sz="1100" b="0">
                          <a:solidFill>
                            <a:srgbClr val="0B0B0B"/>
                          </a:solidFill>
                          <a:latin typeface="Calibri"/>
                        </a:defRPr>
                      </a:pPr>
                      <a:r>
                        <a:t>0.05</a:t>
                      </a:r>
                    </a:p>
                  </a:txBody>
                  <a:tcPr marL="54864" marR="54864" marT="18288" marB="18288" anchor="ctr">
                    <a:solidFill>
                      <a:srgbClr val="EEF1F6"/>
                    </a:solidFill>
                  </a:tcPr>
                </a:tc>
                <a:tc>
                  <a:txBody>
                    <a:bodyPr/>
                    <a:lstStyle/>
                    <a:p>
                      <a:pPr algn="ctr">
                        <a:defRPr sz="1100" b="0">
                          <a:solidFill>
                            <a:srgbClr val="0B0B0B"/>
                          </a:solidFill>
                          <a:latin typeface="Calibri"/>
                        </a:defRPr>
                      </a:pPr>
                      <a:r>
                        <a:t>0.959</a:t>
                      </a:r>
                    </a:p>
                  </a:txBody>
                  <a:tcPr marL="54864" marR="54864" marT="18288" marB="18288" anchor="ctr">
                    <a:solidFill>
                      <a:srgbClr val="EEF1F6"/>
                    </a:solidFill>
                  </a:tcPr>
                </a:tc>
                <a:tc>
                  <a:txBody>
                    <a:bodyPr/>
                    <a:lstStyle/>
                    <a:p>
                      <a:pPr algn="ctr">
                        <a:defRPr sz="1100" b="0">
                          <a:solidFill>
                            <a:srgbClr val="0B0B0B"/>
                          </a:solidFill>
                          <a:latin typeface="Calibri"/>
                        </a:defRPr>
                      </a:pPr>
                      <a:r>
                        <a:t>2.64</a:t>
                      </a:r>
                    </a:p>
                  </a:txBody>
                  <a:tcPr marL="54864" marR="54864" marT="18288" marB="18288" anchor="ctr">
                    <a:solidFill>
                      <a:srgbClr val="EEF1F6"/>
                    </a:solidFill>
                  </a:tcPr>
                </a:tc>
                <a:tc>
                  <a:txBody>
                    <a:bodyPr/>
                    <a:lstStyle/>
                    <a:p>
                      <a:pPr algn="ctr">
                        <a:defRPr sz="1100" b="0">
                          <a:solidFill>
                            <a:srgbClr val="0B0B0B"/>
                          </a:solidFill>
                          <a:latin typeface="Calibri"/>
                        </a:defRPr>
                      </a:pPr>
                      <a:r>
                        <a:t>1.000</a:t>
                      </a:r>
                    </a:p>
                  </a:txBody>
                  <a:tcPr marL="54864" marR="54864" marT="18288" marB="18288" anchor="ctr">
                    <a:solidFill>
                      <a:srgbClr val="EEF1F6"/>
                    </a:solidFill>
                  </a:tcPr>
                </a:tc>
                <a:tc>
                  <a:txBody>
                    <a:bodyPr/>
                    <a:lstStyle/>
                    <a:p>
                      <a:pPr algn="ctr">
                        <a:defRPr sz="1100" b="0">
                          <a:solidFill>
                            <a:srgbClr val="0B0B0B"/>
                          </a:solidFill>
                          <a:latin typeface="Calibri"/>
                        </a:defRPr>
                      </a:pPr>
                      <a:r>
                        <a:t>0.373</a:t>
                      </a:r>
                    </a:p>
                  </a:txBody>
                  <a:tcPr marL="54864" marR="54864" marT="18288" marB="18288" anchor="ctr">
                    <a:solidFill>
                      <a:srgbClr val="EEF1F6"/>
                    </a:solidFill>
                  </a:tcPr>
                </a:tc>
                <a:tc>
                  <a:txBody>
                    <a:bodyPr/>
                    <a:lstStyle/>
                    <a:p>
                      <a:pPr algn="ctr">
                        <a:defRPr sz="1100" b="0">
                          <a:solidFill>
                            <a:srgbClr val="0B0B0B"/>
                          </a:solidFill>
                          <a:latin typeface="Calibri"/>
                        </a:defRPr>
                      </a:pPr>
                      <a:r>
                        <a:t>0.627</a:t>
                      </a:r>
                    </a:p>
                  </a:txBody>
                  <a:tcPr marL="54864" marR="54864" marT="18288" marB="18288" anchor="ctr">
                    <a:solidFill>
                      <a:srgbClr val="EEF1F6"/>
                    </a:solidFill>
                  </a:tcPr>
                </a:tc>
                <a:tc>
                  <a:txBody>
                    <a:bodyPr/>
                    <a:lstStyle/>
                    <a:p>
                      <a:pPr algn="ctr">
                        <a:defRPr sz="1100" b="0">
                          <a:solidFill>
                            <a:srgbClr val="0B0B0B"/>
                          </a:solidFill>
                          <a:latin typeface="Calibri"/>
                        </a:defRPr>
                      </a:pPr>
                      <a:r>
                        <a:t>0</a:t>
                      </a:r>
                    </a:p>
                  </a:txBody>
                  <a:tcPr marL="54864" marR="54864" marT="18288" marB="18288" anchor="ctr">
                    <a:solidFill>
                      <a:srgbClr val="EEF1F6"/>
                    </a:solidFill>
                  </a:tcPr>
                </a:tc>
                <a:tc>
                  <a:txBody>
                    <a:bodyPr/>
                    <a:lstStyle/>
                    <a:p>
                      <a:pPr algn="ctr">
                        <a:defRPr sz="1100" b="0">
                          <a:solidFill>
                            <a:srgbClr val="0B0B0B"/>
                          </a:solidFill>
                          <a:latin typeface="Calibri"/>
                        </a:defRPr>
                      </a:pPr>
                      <a:r>
                        <a:t>—</a:t>
                      </a:r>
                    </a:p>
                  </a:txBody>
                  <a:tcPr marL="54864" marR="54864" marT="18288" marB="18288" anchor="ctr">
                    <a:solidFill>
                      <a:srgbClr val="EEF1F6"/>
                    </a:solidFill>
                  </a:tcPr>
                </a:tc>
              </a:tr>
              <a:tr h="329184">
                <a:tc>
                  <a:txBody>
                    <a:bodyPr/>
                    <a:lstStyle/>
                    <a:p>
                      <a:pPr algn="l">
                        <a:defRPr sz="1100" b="0">
                          <a:solidFill>
                            <a:srgbClr val="0B0B0B"/>
                          </a:solidFill>
                          <a:latin typeface="Calibri"/>
                        </a:defRPr>
                      </a:pPr>
                      <a:r>
                        <a:t>hgb</a:t>
                      </a:r>
                    </a:p>
                  </a:txBody>
                  <a:tcPr marL="54864" marR="54864" marT="18288" marB="18288" anchor="ctr">
                    <a:solidFill>
                      <a:srgbClr val="FFFFFF"/>
                    </a:solidFill>
                  </a:tcPr>
                </a:tc>
                <a:tc>
                  <a:txBody>
                    <a:bodyPr/>
                    <a:lstStyle/>
                    <a:p>
                      <a:pPr algn="ctr">
                        <a:defRPr sz="1100" b="0">
                          <a:solidFill>
                            <a:srgbClr val="0B0B0B"/>
                          </a:solidFill>
                          <a:latin typeface="Calibri"/>
                        </a:defRPr>
                      </a:pPr>
                      <a:r>
                        <a:t>split</a:t>
                      </a:r>
                    </a:p>
                  </a:txBody>
                  <a:tcPr marL="54864" marR="54864" marT="18288" marB="18288" anchor="ctr">
                    <a:solidFill>
                      <a:srgbClr val="FFFFFF"/>
                    </a:solidFill>
                  </a:tcPr>
                </a:tc>
                <a:tc>
                  <a:txBody>
                    <a:bodyPr/>
                    <a:lstStyle/>
                    <a:p>
                      <a:pPr algn="ctr">
                        <a:defRPr sz="1100" b="0">
                          <a:solidFill>
                            <a:srgbClr val="0B0B0B"/>
                          </a:solidFill>
                          <a:latin typeface="Calibri"/>
                        </a:defRPr>
                      </a:pPr>
                      <a:r>
                        <a:t>0.10</a:t>
                      </a:r>
                    </a:p>
                  </a:txBody>
                  <a:tcPr marL="54864" marR="54864" marT="18288" marB="18288" anchor="ctr">
                    <a:solidFill>
                      <a:srgbClr val="FFFFFF"/>
                    </a:solidFill>
                  </a:tcPr>
                </a:tc>
                <a:tc>
                  <a:txBody>
                    <a:bodyPr/>
                    <a:lstStyle/>
                    <a:p>
                      <a:pPr algn="ctr">
                        <a:defRPr sz="1100" b="0">
                          <a:solidFill>
                            <a:srgbClr val="0B0B0B"/>
                          </a:solidFill>
                          <a:latin typeface="Calibri"/>
                        </a:defRPr>
                      </a:pPr>
                      <a:r>
                        <a:t>0.909</a:t>
                      </a:r>
                    </a:p>
                  </a:txBody>
                  <a:tcPr marL="54864" marR="54864" marT="18288" marB="18288" anchor="ctr">
                    <a:solidFill>
                      <a:srgbClr val="FFFFFF"/>
                    </a:solidFill>
                  </a:tcPr>
                </a:tc>
                <a:tc>
                  <a:txBody>
                    <a:bodyPr/>
                    <a:lstStyle/>
                    <a:p>
                      <a:pPr algn="ctr">
                        <a:defRPr sz="1100" b="0">
                          <a:solidFill>
                            <a:srgbClr val="0B0B0B"/>
                          </a:solidFill>
                          <a:latin typeface="Calibri"/>
                        </a:defRPr>
                      </a:pPr>
                      <a:r>
                        <a:t>0.91</a:t>
                      </a:r>
                    </a:p>
                  </a:txBody>
                  <a:tcPr marL="54864" marR="54864" marT="18288" marB="18288" anchor="ctr">
                    <a:solidFill>
                      <a:srgbClr val="FFFFFF"/>
                    </a:solidFill>
                  </a:tcPr>
                </a:tc>
                <a:tc>
                  <a:txBody>
                    <a:bodyPr/>
                    <a:lstStyle/>
                    <a:p>
                      <a:pPr algn="ctr">
                        <a:defRPr sz="1100" b="0">
                          <a:solidFill>
                            <a:srgbClr val="0B0B0B"/>
                          </a:solidFill>
                          <a:latin typeface="Calibri"/>
                        </a:defRPr>
                      </a:pPr>
                      <a:r>
                        <a:t>0.088</a:t>
                      </a:r>
                    </a:p>
                  </a:txBody>
                  <a:tcPr marL="54864" marR="54864" marT="18288" marB="18288" anchor="ctr">
                    <a:solidFill>
                      <a:srgbClr val="FFFFFF"/>
                    </a:solidFill>
                  </a:tcPr>
                </a:tc>
                <a:tc>
                  <a:txBody>
                    <a:bodyPr/>
                    <a:lstStyle/>
                    <a:p>
                      <a:pPr algn="ctr">
                        <a:defRPr sz="1100" b="0">
                          <a:solidFill>
                            <a:srgbClr val="0B0B0B"/>
                          </a:solidFill>
                          <a:latin typeface="Calibri"/>
                        </a:defRPr>
                      </a:pPr>
                      <a:r>
                        <a:t>0.000</a:t>
                      </a:r>
                    </a:p>
                  </a:txBody>
                  <a:tcPr marL="54864" marR="54864" marT="18288" marB="18288" anchor="ctr">
                    <a:solidFill>
                      <a:srgbClr val="FFFFFF"/>
                    </a:solidFill>
                  </a:tcPr>
                </a:tc>
                <a:tc>
                  <a:txBody>
                    <a:bodyPr/>
                    <a:lstStyle/>
                    <a:p>
                      <a:pPr algn="ctr">
                        <a:defRPr sz="1100" b="0">
                          <a:solidFill>
                            <a:srgbClr val="0B0B0B"/>
                          </a:solidFill>
                          <a:latin typeface="Calibri"/>
                        </a:defRPr>
                      </a:pPr>
                      <a:r>
                        <a:t>0.088</a:t>
                      </a:r>
                    </a:p>
                  </a:txBody>
                  <a:tcPr marL="54864" marR="54864" marT="18288" marB="18288" anchor="ctr">
                    <a:solidFill>
                      <a:srgbClr val="FFFFFF"/>
                    </a:solidFill>
                  </a:tcPr>
                </a:tc>
                <a:tc>
                  <a:txBody>
                    <a:bodyPr/>
                    <a:lstStyle/>
                    <a:p>
                      <a:pPr algn="ctr">
                        <a:defRPr sz="1100" b="0">
                          <a:solidFill>
                            <a:srgbClr val="0B0B0B"/>
                          </a:solidFill>
                          <a:latin typeface="Calibri"/>
                        </a:defRPr>
                      </a:pPr>
                      <a:r>
                        <a:t>1 819</a:t>
                      </a:r>
                    </a:p>
                  </a:txBody>
                  <a:tcPr marL="54864" marR="54864" marT="18288" marB="18288" anchor="ctr">
                    <a:solidFill>
                      <a:srgbClr val="FFFFFF"/>
                    </a:solidFill>
                  </a:tcPr>
                </a:tc>
                <a:tc>
                  <a:txBody>
                    <a:bodyPr/>
                    <a:lstStyle/>
                    <a:p>
                      <a:pPr algn="ctr">
                        <a:defRPr sz="1100" b="0">
                          <a:solidFill>
                            <a:srgbClr val="0B0B0B"/>
                          </a:solidFill>
                          <a:latin typeface="Calibri"/>
                        </a:defRPr>
                      </a:pPr>
                      <a:r>
                        <a:t>0.3 %</a:t>
                      </a:r>
                    </a:p>
                  </a:txBody>
                  <a:tcPr marL="54864" marR="54864" marT="18288" marB="18288" anchor="ctr">
                    <a:solidFill>
                      <a:srgbClr val="FFFFFF"/>
                    </a:solidFill>
                  </a:tcPr>
                </a:tc>
              </a:tr>
              <a:tr h="329184">
                <a:tc>
                  <a:txBody>
                    <a:bodyPr/>
                    <a:lstStyle/>
                    <a:p>
                      <a:pPr algn="l">
                        <a:defRPr sz="1100" b="0">
                          <a:solidFill>
                            <a:srgbClr val="0B0B0B"/>
                          </a:solidFill>
                          <a:latin typeface="Calibri"/>
                        </a:defRPr>
                      </a:pPr>
                      <a:r>
                        <a:t>hgb</a:t>
                      </a:r>
                    </a:p>
                  </a:txBody>
                  <a:tcPr marL="54864" marR="54864" marT="18288" marB="18288" anchor="ctr">
                    <a:solidFill>
                      <a:srgbClr val="EEF1F6"/>
                    </a:solidFill>
                  </a:tcPr>
                </a:tc>
                <a:tc>
                  <a:txBody>
                    <a:bodyPr/>
                    <a:lstStyle/>
                    <a:p>
                      <a:pPr algn="ctr">
                        <a:defRPr sz="1100" b="0">
                          <a:solidFill>
                            <a:srgbClr val="0B0B0B"/>
                          </a:solidFill>
                          <a:latin typeface="Calibri"/>
                        </a:defRPr>
                      </a:pPr>
                      <a:r>
                        <a:t>mondrian</a:t>
                      </a:r>
                    </a:p>
                  </a:txBody>
                  <a:tcPr marL="54864" marR="54864" marT="18288" marB="18288" anchor="ctr">
                    <a:solidFill>
                      <a:srgbClr val="EEF1F6"/>
                    </a:solidFill>
                  </a:tcPr>
                </a:tc>
                <a:tc>
                  <a:txBody>
                    <a:bodyPr/>
                    <a:lstStyle/>
                    <a:p>
                      <a:pPr algn="ctr">
                        <a:defRPr sz="1100" b="0">
                          <a:solidFill>
                            <a:srgbClr val="0B0B0B"/>
                          </a:solidFill>
                          <a:latin typeface="Calibri"/>
                        </a:defRPr>
                      </a:pPr>
                      <a:r>
                        <a:t>0.10</a:t>
                      </a:r>
                    </a:p>
                  </a:txBody>
                  <a:tcPr marL="54864" marR="54864" marT="18288" marB="18288" anchor="ctr">
                    <a:solidFill>
                      <a:srgbClr val="EEF1F6"/>
                    </a:solidFill>
                  </a:tcPr>
                </a:tc>
                <a:tc>
                  <a:txBody>
                    <a:bodyPr/>
                    <a:lstStyle/>
                    <a:p>
                      <a:pPr algn="ctr">
                        <a:defRPr sz="1100" b="0">
                          <a:solidFill>
                            <a:srgbClr val="0B0B0B"/>
                          </a:solidFill>
                          <a:latin typeface="Calibri"/>
                        </a:defRPr>
                      </a:pPr>
                      <a:r>
                        <a:t>0.917</a:t>
                      </a:r>
                    </a:p>
                  </a:txBody>
                  <a:tcPr marL="54864" marR="54864" marT="18288" marB="18288" anchor="ctr">
                    <a:solidFill>
                      <a:srgbClr val="EEF1F6"/>
                    </a:solidFill>
                  </a:tcPr>
                </a:tc>
                <a:tc>
                  <a:txBody>
                    <a:bodyPr/>
                    <a:lstStyle/>
                    <a:p>
                      <a:pPr algn="ctr">
                        <a:defRPr sz="1100" b="0">
                          <a:solidFill>
                            <a:srgbClr val="0B0B0B"/>
                          </a:solidFill>
                          <a:latin typeface="Calibri"/>
                        </a:defRPr>
                      </a:pPr>
                      <a:r>
                        <a:t>1.32</a:t>
                      </a:r>
                    </a:p>
                  </a:txBody>
                  <a:tcPr marL="54864" marR="54864" marT="18288" marB="18288" anchor="ctr">
                    <a:solidFill>
                      <a:srgbClr val="EEF1F6"/>
                    </a:solidFill>
                  </a:tcPr>
                </a:tc>
                <a:tc>
                  <a:txBody>
                    <a:bodyPr/>
                    <a:lstStyle/>
                    <a:p>
                      <a:pPr algn="ctr">
                        <a:defRPr sz="1100" b="0">
                          <a:solidFill>
                            <a:srgbClr val="0B0B0B"/>
                          </a:solidFill>
                          <a:latin typeface="Calibri"/>
                        </a:defRPr>
                      </a:pPr>
                      <a:r>
                        <a:t>0.305</a:t>
                      </a:r>
                    </a:p>
                  </a:txBody>
                  <a:tcPr marL="54864" marR="54864" marT="18288" marB="18288" anchor="ctr">
                    <a:solidFill>
                      <a:srgbClr val="EEF1F6"/>
                    </a:solidFill>
                  </a:tcPr>
                </a:tc>
                <a:tc>
                  <a:txBody>
                    <a:bodyPr/>
                    <a:lstStyle/>
                    <a:p>
                      <a:pPr algn="ctr">
                        <a:defRPr sz="1100" b="0">
                          <a:solidFill>
                            <a:srgbClr val="0B0B0B"/>
                          </a:solidFill>
                          <a:latin typeface="Calibri"/>
                        </a:defRPr>
                      </a:pPr>
                      <a:r>
                        <a:t>0.286</a:t>
                      </a:r>
                    </a:p>
                  </a:txBody>
                  <a:tcPr marL="54864" marR="54864" marT="18288" marB="18288" anchor="ctr">
                    <a:solidFill>
                      <a:srgbClr val="EEF1F6"/>
                    </a:solidFill>
                  </a:tcPr>
                </a:tc>
                <a:tc>
                  <a:txBody>
                    <a:bodyPr/>
                    <a:lstStyle/>
                    <a:p>
                      <a:pPr algn="ctr">
                        <a:defRPr sz="1100" b="0">
                          <a:solidFill>
                            <a:srgbClr val="0B0B0B"/>
                          </a:solidFill>
                          <a:latin typeface="Calibri"/>
                        </a:defRPr>
                      </a:pPr>
                      <a:r>
                        <a:t>0.019</a:t>
                      </a:r>
                    </a:p>
                  </a:txBody>
                  <a:tcPr marL="54864" marR="54864" marT="18288" marB="18288" anchor="ctr">
                    <a:solidFill>
                      <a:srgbClr val="EEF1F6"/>
                    </a:solidFill>
                  </a:tcPr>
                </a:tc>
                <a:tc>
                  <a:txBody>
                    <a:bodyPr/>
                    <a:lstStyle/>
                    <a:p>
                      <a:pPr algn="ctr">
                        <a:defRPr sz="1100" b="0">
                          <a:solidFill>
                            <a:srgbClr val="0B0B0B"/>
                          </a:solidFill>
                          <a:latin typeface="Calibri"/>
                        </a:defRPr>
                      </a:pPr>
                      <a:r>
                        <a:t>1 387</a:t>
                      </a:r>
                    </a:p>
                  </a:txBody>
                  <a:tcPr marL="54864" marR="54864" marT="18288" marB="18288" anchor="ctr">
                    <a:solidFill>
                      <a:srgbClr val="EEF1F6"/>
                    </a:solidFill>
                  </a:tcPr>
                </a:tc>
                <a:tc>
                  <a:txBody>
                    <a:bodyPr/>
                    <a:lstStyle/>
                    <a:p>
                      <a:pPr algn="ctr">
                        <a:defRPr sz="1100" b="0">
                          <a:solidFill>
                            <a:srgbClr val="0B0B0B"/>
                          </a:solidFill>
                          <a:latin typeface="Calibri"/>
                        </a:defRPr>
                      </a:pPr>
                      <a:r>
                        <a:t>5.9 %</a:t>
                      </a:r>
                    </a:p>
                  </a:txBody>
                  <a:tcPr marL="54864" marR="54864" marT="18288" marB="18288" anchor="ctr">
                    <a:solidFill>
                      <a:srgbClr val="EEF1F6"/>
                    </a:solidFill>
                  </a:tcPr>
                </a:tc>
              </a:tr>
              <a:tr h="329184">
                <a:tc>
                  <a:txBody>
                    <a:bodyPr/>
                    <a:lstStyle/>
                    <a:p>
                      <a:pPr algn="l">
                        <a:defRPr sz="1100" b="0">
                          <a:solidFill>
                            <a:srgbClr val="0B0B0B"/>
                          </a:solidFill>
                          <a:latin typeface="Calibri"/>
                        </a:defRPr>
                      </a:pPr>
                      <a:r>
                        <a:t>hgb</a:t>
                      </a:r>
                    </a:p>
                  </a:txBody>
                  <a:tcPr marL="54864" marR="54864" marT="18288" marB="18288" anchor="ctr">
                    <a:solidFill>
                      <a:srgbClr val="FFFFFF"/>
                    </a:solidFill>
                  </a:tcPr>
                </a:tc>
                <a:tc>
                  <a:txBody>
                    <a:bodyPr/>
                    <a:lstStyle/>
                    <a:p>
                      <a:pPr algn="ctr">
                        <a:defRPr sz="1100" b="0">
                          <a:solidFill>
                            <a:srgbClr val="0B0B0B"/>
                          </a:solidFill>
                          <a:latin typeface="Calibri"/>
                        </a:defRPr>
                      </a:pPr>
                      <a:r>
                        <a:t>split</a:t>
                      </a:r>
                    </a:p>
                  </a:txBody>
                  <a:tcPr marL="54864" marR="54864" marT="18288" marB="18288" anchor="ctr">
                    <a:solidFill>
                      <a:srgbClr val="FFFFFF"/>
                    </a:solidFill>
                  </a:tcPr>
                </a:tc>
                <a:tc>
                  <a:txBody>
                    <a:bodyPr/>
                    <a:lstStyle/>
                    <a:p>
                      <a:pPr algn="ctr">
                        <a:defRPr sz="1100" b="0">
                          <a:solidFill>
                            <a:srgbClr val="0B0B0B"/>
                          </a:solidFill>
                          <a:latin typeface="Calibri"/>
                        </a:defRPr>
                      </a:pPr>
                      <a:r>
                        <a:t>0.20</a:t>
                      </a:r>
                    </a:p>
                  </a:txBody>
                  <a:tcPr marL="54864" marR="54864" marT="18288" marB="18288" anchor="ctr">
                    <a:solidFill>
                      <a:srgbClr val="FFFFFF"/>
                    </a:solidFill>
                  </a:tcPr>
                </a:tc>
                <a:tc>
                  <a:txBody>
                    <a:bodyPr/>
                    <a:lstStyle/>
                    <a:p>
                      <a:pPr algn="ctr">
                        <a:defRPr sz="1100" b="0">
                          <a:solidFill>
                            <a:srgbClr val="0B0B0B"/>
                          </a:solidFill>
                          <a:latin typeface="Calibri"/>
                        </a:defRPr>
                      </a:pPr>
                      <a:r>
                        <a:t>0.801</a:t>
                      </a:r>
                    </a:p>
                  </a:txBody>
                  <a:tcPr marL="54864" marR="54864" marT="18288" marB="18288" anchor="ctr">
                    <a:solidFill>
                      <a:srgbClr val="FFFFFF"/>
                    </a:solidFill>
                  </a:tcPr>
                </a:tc>
                <a:tc>
                  <a:txBody>
                    <a:bodyPr/>
                    <a:lstStyle/>
                    <a:p>
                      <a:pPr algn="ctr">
                        <a:defRPr sz="1100" b="0">
                          <a:solidFill>
                            <a:srgbClr val="0B0B0B"/>
                          </a:solidFill>
                          <a:latin typeface="Calibri"/>
                        </a:defRPr>
                      </a:pPr>
                      <a:r>
                        <a:t>0.80</a:t>
                      </a:r>
                    </a:p>
                  </a:txBody>
                  <a:tcPr marL="54864" marR="54864" marT="18288" marB="18288" anchor="ctr">
                    <a:solidFill>
                      <a:srgbClr val="FFFFFF"/>
                    </a:solidFill>
                  </a:tcPr>
                </a:tc>
                <a:tc>
                  <a:txBody>
                    <a:bodyPr/>
                    <a:lstStyle/>
                    <a:p>
                      <a:pPr algn="ctr">
                        <a:defRPr sz="1100" b="0">
                          <a:solidFill>
                            <a:srgbClr val="0B0B0B"/>
                          </a:solidFill>
                          <a:latin typeface="Calibri"/>
                        </a:defRPr>
                      </a:pPr>
                      <a:r>
                        <a:t>0.199</a:t>
                      </a:r>
                    </a:p>
                  </a:txBody>
                  <a:tcPr marL="54864" marR="54864" marT="18288" marB="18288" anchor="ctr">
                    <a:solidFill>
                      <a:srgbClr val="FFFFFF"/>
                    </a:solidFill>
                  </a:tcPr>
                </a:tc>
                <a:tc>
                  <a:txBody>
                    <a:bodyPr/>
                    <a:lstStyle/>
                    <a:p>
                      <a:pPr algn="ctr">
                        <a:defRPr sz="1100" b="0">
                          <a:solidFill>
                            <a:srgbClr val="0B0B0B"/>
                          </a:solidFill>
                          <a:latin typeface="Calibri"/>
                        </a:defRPr>
                      </a:pPr>
                      <a:r>
                        <a:t>0.000</a:t>
                      </a:r>
                    </a:p>
                  </a:txBody>
                  <a:tcPr marL="54864" marR="54864" marT="18288" marB="18288" anchor="ctr">
                    <a:solidFill>
                      <a:srgbClr val="FFFFFF"/>
                    </a:solidFill>
                  </a:tcPr>
                </a:tc>
                <a:tc>
                  <a:txBody>
                    <a:bodyPr/>
                    <a:lstStyle/>
                    <a:p>
                      <a:pPr algn="ctr">
                        <a:defRPr sz="1100" b="0">
                          <a:solidFill>
                            <a:srgbClr val="0B0B0B"/>
                          </a:solidFill>
                          <a:latin typeface="Calibri"/>
                        </a:defRPr>
                      </a:pPr>
                      <a:r>
                        <a:t>0.199</a:t>
                      </a:r>
                    </a:p>
                  </a:txBody>
                  <a:tcPr marL="54864" marR="54864" marT="18288" marB="18288" anchor="ctr">
                    <a:solidFill>
                      <a:srgbClr val="FFFFFF"/>
                    </a:solidFill>
                  </a:tcPr>
                </a:tc>
                <a:tc>
                  <a:txBody>
                    <a:bodyPr/>
                    <a:lstStyle/>
                    <a:p>
                      <a:pPr algn="ctr">
                        <a:defRPr sz="1100" b="0">
                          <a:solidFill>
                            <a:srgbClr val="0B0B0B"/>
                          </a:solidFill>
                          <a:latin typeface="Calibri"/>
                        </a:defRPr>
                      </a:pPr>
                      <a:r>
                        <a:t>1 598</a:t>
                      </a:r>
                    </a:p>
                  </a:txBody>
                  <a:tcPr marL="54864" marR="54864" marT="18288" marB="18288" anchor="ctr">
                    <a:solidFill>
                      <a:srgbClr val="FFFFFF"/>
                    </a:solidFill>
                  </a:tcPr>
                </a:tc>
                <a:tc>
                  <a:txBody>
                    <a:bodyPr/>
                    <a:lstStyle/>
                    <a:p>
                      <a:pPr algn="ctr">
                        <a:defRPr sz="1100" b="0">
                          <a:solidFill>
                            <a:srgbClr val="0B0B0B"/>
                          </a:solidFill>
                          <a:latin typeface="Calibri"/>
                        </a:defRPr>
                      </a:pPr>
                      <a:r>
                        <a:t>0.1 %</a:t>
                      </a:r>
                    </a:p>
                  </a:txBody>
                  <a:tcPr marL="54864" marR="54864" marT="18288" marB="18288" anchor="ctr">
                    <a:solidFill>
                      <a:srgbClr val="FFFFFF"/>
                    </a:solidFill>
                  </a:tcPr>
                </a:tc>
              </a:tr>
              <a:tr h="329184">
                <a:tc>
                  <a:txBody>
                    <a:bodyPr/>
                    <a:lstStyle/>
                    <a:p>
                      <a:pPr algn="l">
                        <a:defRPr sz="1100" b="0">
                          <a:solidFill>
                            <a:srgbClr val="0B0B0B"/>
                          </a:solidFill>
                          <a:latin typeface="Calibri"/>
                        </a:defRPr>
                      </a:pPr>
                      <a:r>
                        <a:t>hgb</a:t>
                      </a:r>
                    </a:p>
                  </a:txBody>
                  <a:tcPr marL="54864" marR="54864" marT="18288" marB="18288" anchor="ctr">
                    <a:solidFill>
                      <a:srgbClr val="EEF1F6"/>
                    </a:solidFill>
                  </a:tcPr>
                </a:tc>
                <a:tc>
                  <a:txBody>
                    <a:bodyPr/>
                    <a:lstStyle/>
                    <a:p>
                      <a:pPr algn="ctr">
                        <a:defRPr sz="1100" b="0">
                          <a:solidFill>
                            <a:srgbClr val="0B0B0B"/>
                          </a:solidFill>
                          <a:latin typeface="Calibri"/>
                        </a:defRPr>
                      </a:pPr>
                      <a:r>
                        <a:t>mondrian</a:t>
                      </a:r>
                    </a:p>
                  </a:txBody>
                  <a:tcPr marL="54864" marR="54864" marT="18288" marB="18288" anchor="ctr">
                    <a:solidFill>
                      <a:srgbClr val="EEF1F6"/>
                    </a:solidFill>
                  </a:tcPr>
                </a:tc>
                <a:tc>
                  <a:txBody>
                    <a:bodyPr/>
                    <a:lstStyle/>
                    <a:p>
                      <a:pPr algn="ctr">
                        <a:defRPr sz="1100" b="0">
                          <a:solidFill>
                            <a:srgbClr val="0B0B0B"/>
                          </a:solidFill>
                          <a:latin typeface="Calibri"/>
                        </a:defRPr>
                      </a:pPr>
                      <a:r>
                        <a:t>0.20</a:t>
                      </a:r>
                    </a:p>
                  </a:txBody>
                  <a:tcPr marL="54864" marR="54864" marT="18288" marB="18288" anchor="ctr">
                    <a:solidFill>
                      <a:srgbClr val="EEF1F6"/>
                    </a:solidFill>
                  </a:tcPr>
                </a:tc>
                <a:tc>
                  <a:txBody>
                    <a:bodyPr/>
                    <a:lstStyle/>
                    <a:p>
                      <a:pPr algn="ctr">
                        <a:defRPr sz="1100" b="0">
                          <a:solidFill>
                            <a:srgbClr val="0B0B0B"/>
                          </a:solidFill>
                          <a:latin typeface="Calibri"/>
                        </a:defRPr>
                      </a:pPr>
                      <a:r>
                        <a:t>0.799</a:t>
                      </a:r>
                    </a:p>
                  </a:txBody>
                  <a:tcPr marL="54864" marR="54864" marT="18288" marB="18288" anchor="ctr">
                    <a:solidFill>
                      <a:srgbClr val="EEF1F6"/>
                    </a:solidFill>
                  </a:tcPr>
                </a:tc>
                <a:tc>
                  <a:txBody>
                    <a:bodyPr/>
                    <a:lstStyle/>
                    <a:p>
                      <a:pPr algn="ctr">
                        <a:defRPr sz="1100" b="0">
                          <a:solidFill>
                            <a:srgbClr val="0B0B0B"/>
                          </a:solidFill>
                          <a:latin typeface="Calibri"/>
                        </a:defRPr>
                      </a:pPr>
                      <a:r>
                        <a:t>0.89</a:t>
                      </a:r>
                    </a:p>
                  </a:txBody>
                  <a:tcPr marL="54864" marR="54864" marT="18288" marB="18288" anchor="ctr">
                    <a:solidFill>
                      <a:srgbClr val="EEF1F6"/>
                    </a:solidFill>
                  </a:tcPr>
                </a:tc>
                <a:tc>
                  <a:txBody>
                    <a:bodyPr/>
                    <a:lstStyle/>
                    <a:p>
                      <a:pPr algn="ctr">
                        <a:defRPr sz="1100" b="0">
                          <a:solidFill>
                            <a:srgbClr val="0B0B0B"/>
                          </a:solidFill>
                          <a:latin typeface="Calibri"/>
                        </a:defRPr>
                      </a:pPr>
                      <a:r>
                        <a:t>0.146</a:t>
                      </a:r>
                    </a:p>
                  </a:txBody>
                  <a:tcPr marL="54864" marR="54864" marT="18288" marB="18288" anchor="ctr">
                    <a:solidFill>
                      <a:srgbClr val="EEF1F6"/>
                    </a:solidFill>
                  </a:tcPr>
                </a:tc>
                <a:tc>
                  <a:txBody>
                    <a:bodyPr/>
                    <a:lstStyle/>
                    <a:p>
                      <a:pPr algn="ctr">
                        <a:defRPr sz="1100" b="0">
                          <a:solidFill>
                            <a:srgbClr val="0B0B0B"/>
                          </a:solidFill>
                          <a:latin typeface="Calibri"/>
                        </a:defRPr>
                      </a:pPr>
                      <a:r>
                        <a:t>0.018</a:t>
                      </a:r>
                    </a:p>
                  </a:txBody>
                  <a:tcPr marL="54864" marR="54864" marT="18288" marB="18288" anchor="ctr">
                    <a:solidFill>
                      <a:srgbClr val="EEF1F6"/>
                    </a:solidFill>
                  </a:tcPr>
                </a:tc>
                <a:tc>
                  <a:txBody>
                    <a:bodyPr/>
                    <a:lstStyle/>
                    <a:p>
                      <a:pPr algn="ctr">
                        <a:defRPr sz="1100" b="0">
                          <a:solidFill>
                            <a:srgbClr val="0B0B0B"/>
                          </a:solidFill>
                          <a:latin typeface="Calibri"/>
                        </a:defRPr>
                      </a:pPr>
                      <a:r>
                        <a:t>0.129</a:t>
                      </a:r>
                    </a:p>
                  </a:txBody>
                  <a:tcPr marL="54864" marR="54864" marT="18288" marB="18288" anchor="ctr">
                    <a:solidFill>
                      <a:srgbClr val="EEF1F6"/>
                    </a:solidFill>
                  </a:tcPr>
                </a:tc>
                <a:tc>
                  <a:txBody>
                    <a:bodyPr/>
                    <a:lstStyle/>
                    <a:p>
                      <a:pPr algn="ctr">
                        <a:defRPr sz="1100" b="0">
                          <a:solidFill>
                            <a:srgbClr val="0B0B0B"/>
                          </a:solidFill>
                          <a:latin typeface="Calibri"/>
                        </a:defRPr>
                      </a:pPr>
                      <a:r>
                        <a:t>1 703</a:t>
                      </a:r>
                    </a:p>
                  </a:txBody>
                  <a:tcPr marL="54864" marR="54864" marT="18288" marB="18288" anchor="ctr">
                    <a:solidFill>
                      <a:srgbClr val="EEF1F6"/>
                    </a:solidFill>
                  </a:tcPr>
                </a:tc>
                <a:tc>
                  <a:txBody>
                    <a:bodyPr/>
                    <a:lstStyle/>
                    <a:p>
                      <a:pPr algn="ctr">
                        <a:defRPr sz="1100" b="0">
                          <a:solidFill>
                            <a:srgbClr val="0B0B0B"/>
                          </a:solidFill>
                          <a:latin typeface="Calibri"/>
                        </a:defRPr>
                      </a:pPr>
                      <a:r>
                        <a:t>7.8 %</a:t>
                      </a:r>
                    </a:p>
                  </a:txBody>
                  <a:tcPr marL="54864" marR="54864" marT="18288" marB="18288" anchor="ctr">
                    <a:solidFill>
                      <a:srgbClr val="EEF1F6"/>
                    </a:solidFill>
                  </a:tcPr>
                </a:tc>
              </a:tr>
              <a:tr h="329184">
                <a:tc>
                  <a:txBody>
                    <a:bodyPr/>
                    <a:lstStyle/>
                    <a:p>
                      <a:pPr algn="l">
                        <a:defRPr sz="1100" b="0">
                          <a:solidFill>
                            <a:srgbClr val="0B0B0B"/>
                          </a:solidFill>
                          <a:latin typeface="Calibri"/>
                        </a:defRPr>
                      </a:pPr>
                      <a:r>
                        <a:t>mlp</a:t>
                      </a:r>
                    </a:p>
                  </a:txBody>
                  <a:tcPr marL="54864" marR="54864" marT="18288" marB="18288" anchor="ctr">
                    <a:solidFill>
                      <a:srgbClr val="FFFFFF"/>
                    </a:solidFill>
                  </a:tcPr>
                </a:tc>
                <a:tc>
                  <a:txBody>
                    <a:bodyPr/>
                    <a:lstStyle/>
                    <a:p>
                      <a:pPr algn="ctr">
                        <a:defRPr sz="1100" b="0">
                          <a:solidFill>
                            <a:srgbClr val="0B0B0B"/>
                          </a:solidFill>
                          <a:latin typeface="Calibri"/>
                        </a:defRPr>
                      </a:pPr>
                      <a:r>
                        <a:t>split</a:t>
                      </a:r>
                    </a:p>
                  </a:txBody>
                  <a:tcPr marL="54864" marR="54864" marT="18288" marB="18288" anchor="ctr">
                    <a:solidFill>
                      <a:srgbClr val="FFFFFF"/>
                    </a:solidFill>
                  </a:tcPr>
                </a:tc>
                <a:tc>
                  <a:txBody>
                    <a:bodyPr/>
                    <a:lstStyle/>
                    <a:p>
                      <a:pPr algn="ctr">
                        <a:defRPr sz="1100" b="0">
                          <a:solidFill>
                            <a:srgbClr val="0B0B0B"/>
                          </a:solidFill>
                          <a:latin typeface="Calibri"/>
                        </a:defRPr>
                      </a:pPr>
                      <a:r>
                        <a:t>0.05</a:t>
                      </a:r>
                    </a:p>
                  </a:txBody>
                  <a:tcPr marL="54864" marR="54864" marT="18288" marB="18288" anchor="ctr">
                    <a:solidFill>
                      <a:srgbClr val="FFFFFF"/>
                    </a:solidFill>
                  </a:tcPr>
                </a:tc>
                <a:tc>
                  <a:txBody>
                    <a:bodyPr/>
                    <a:lstStyle/>
                    <a:p>
                      <a:pPr algn="ctr">
                        <a:defRPr sz="1100" b="0">
                          <a:solidFill>
                            <a:srgbClr val="0B0B0B"/>
                          </a:solidFill>
                          <a:latin typeface="Calibri"/>
                        </a:defRPr>
                      </a:pPr>
                      <a:r>
                        <a:t>0.954</a:t>
                      </a:r>
                    </a:p>
                  </a:txBody>
                  <a:tcPr marL="54864" marR="54864" marT="18288" marB="18288" anchor="ctr">
                    <a:solidFill>
                      <a:srgbClr val="FFFFFF"/>
                    </a:solidFill>
                  </a:tcPr>
                </a:tc>
                <a:tc>
                  <a:txBody>
                    <a:bodyPr/>
                    <a:lstStyle/>
                    <a:p>
                      <a:pPr algn="ctr">
                        <a:defRPr sz="1100" b="0">
                          <a:solidFill>
                            <a:srgbClr val="0B0B0B"/>
                          </a:solidFill>
                          <a:latin typeface="Calibri"/>
                        </a:defRPr>
                      </a:pPr>
                      <a:r>
                        <a:t>0.96</a:t>
                      </a:r>
                    </a:p>
                  </a:txBody>
                  <a:tcPr marL="54864" marR="54864" marT="18288" marB="18288" anchor="ctr">
                    <a:solidFill>
                      <a:srgbClr val="FFFFFF"/>
                    </a:solidFill>
                  </a:tcPr>
                </a:tc>
                <a:tc>
                  <a:txBody>
                    <a:bodyPr/>
                    <a:lstStyle/>
                    <a:p>
                      <a:pPr algn="ctr">
                        <a:defRPr sz="1100" b="0">
                          <a:solidFill>
                            <a:srgbClr val="0B0B0B"/>
                          </a:solidFill>
                          <a:latin typeface="Calibri"/>
                        </a:defRPr>
                      </a:pPr>
                      <a:r>
                        <a:t>0.041</a:t>
                      </a:r>
                    </a:p>
                  </a:txBody>
                  <a:tcPr marL="54864" marR="54864" marT="18288" marB="18288" anchor="ctr">
                    <a:solidFill>
                      <a:srgbClr val="FFFFFF"/>
                    </a:solidFill>
                  </a:tcPr>
                </a:tc>
                <a:tc>
                  <a:txBody>
                    <a:bodyPr/>
                    <a:lstStyle/>
                    <a:p>
                      <a:pPr algn="ctr">
                        <a:defRPr sz="1100" b="0">
                          <a:solidFill>
                            <a:srgbClr val="0B0B0B"/>
                          </a:solidFill>
                          <a:latin typeface="Calibri"/>
                        </a:defRPr>
                      </a:pPr>
                      <a:r>
                        <a:t>0.000</a:t>
                      </a:r>
                    </a:p>
                  </a:txBody>
                  <a:tcPr marL="54864" marR="54864" marT="18288" marB="18288" anchor="ctr">
                    <a:solidFill>
                      <a:srgbClr val="FFFFFF"/>
                    </a:solidFill>
                  </a:tcPr>
                </a:tc>
                <a:tc>
                  <a:txBody>
                    <a:bodyPr/>
                    <a:lstStyle/>
                    <a:p>
                      <a:pPr algn="ctr">
                        <a:defRPr sz="1100" b="0">
                          <a:solidFill>
                            <a:srgbClr val="0B0B0B"/>
                          </a:solidFill>
                          <a:latin typeface="Calibri"/>
                        </a:defRPr>
                      </a:pPr>
                      <a:r>
                        <a:t>0.041</a:t>
                      </a:r>
                    </a:p>
                  </a:txBody>
                  <a:tcPr marL="54864" marR="54864" marT="18288" marB="18288" anchor="ctr">
                    <a:solidFill>
                      <a:srgbClr val="FFFFFF"/>
                    </a:solidFill>
                  </a:tcPr>
                </a:tc>
                <a:tc>
                  <a:txBody>
                    <a:bodyPr/>
                    <a:lstStyle/>
                    <a:p>
                      <a:pPr algn="ctr">
                        <a:defRPr sz="1100" b="0">
                          <a:solidFill>
                            <a:srgbClr val="0B0B0B"/>
                          </a:solidFill>
                          <a:latin typeface="Calibri"/>
                        </a:defRPr>
                      </a:pPr>
                      <a:r>
                        <a:t>1 913</a:t>
                      </a:r>
                    </a:p>
                  </a:txBody>
                  <a:tcPr marL="54864" marR="54864" marT="18288" marB="18288" anchor="ctr">
                    <a:solidFill>
                      <a:srgbClr val="FFFFFF"/>
                    </a:solidFill>
                  </a:tcPr>
                </a:tc>
                <a:tc>
                  <a:txBody>
                    <a:bodyPr/>
                    <a:lstStyle/>
                    <a:p>
                      <a:pPr algn="ctr">
                        <a:defRPr sz="1100" b="0">
                          <a:solidFill>
                            <a:srgbClr val="0B0B0B"/>
                          </a:solidFill>
                          <a:latin typeface="Calibri"/>
                        </a:defRPr>
                      </a:pPr>
                      <a:r>
                        <a:t>0.5 %</a:t>
                      </a:r>
                    </a:p>
                  </a:txBody>
                  <a:tcPr marL="54864" marR="54864" marT="18288" marB="18288" anchor="ctr">
                    <a:solidFill>
                      <a:srgbClr val="FFFFFF"/>
                    </a:solidFill>
                  </a:tcPr>
                </a:tc>
              </a:tr>
              <a:tr h="329184">
                <a:tc>
                  <a:txBody>
                    <a:bodyPr/>
                    <a:lstStyle/>
                    <a:p>
                      <a:pPr algn="l">
                        <a:defRPr sz="1100" b="0">
                          <a:solidFill>
                            <a:srgbClr val="0B0B0B"/>
                          </a:solidFill>
                          <a:latin typeface="Calibri"/>
                        </a:defRPr>
                      </a:pPr>
                      <a:r>
                        <a:t>mlp</a:t>
                      </a:r>
                    </a:p>
                  </a:txBody>
                  <a:tcPr marL="54864" marR="54864" marT="18288" marB="18288" anchor="ctr">
                    <a:solidFill>
                      <a:srgbClr val="EEF1F6"/>
                    </a:solidFill>
                  </a:tcPr>
                </a:tc>
                <a:tc>
                  <a:txBody>
                    <a:bodyPr/>
                    <a:lstStyle/>
                    <a:p>
                      <a:pPr algn="ctr">
                        <a:defRPr sz="1100" b="0">
                          <a:solidFill>
                            <a:srgbClr val="0B0B0B"/>
                          </a:solidFill>
                          <a:latin typeface="Calibri"/>
                        </a:defRPr>
                      </a:pPr>
                      <a:r>
                        <a:t>mondrian</a:t>
                      </a:r>
                    </a:p>
                  </a:txBody>
                  <a:tcPr marL="54864" marR="54864" marT="18288" marB="18288" anchor="ctr">
                    <a:solidFill>
                      <a:srgbClr val="EEF1F6"/>
                    </a:solidFill>
                  </a:tcPr>
                </a:tc>
                <a:tc>
                  <a:txBody>
                    <a:bodyPr/>
                    <a:lstStyle/>
                    <a:p>
                      <a:pPr algn="ctr">
                        <a:defRPr sz="1100" b="0">
                          <a:solidFill>
                            <a:srgbClr val="0B0B0B"/>
                          </a:solidFill>
                          <a:latin typeface="Calibri"/>
                        </a:defRPr>
                      </a:pPr>
                      <a:r>
                        <a:t>0.05</a:t>
                      </a:r>
                    </a:p>
                  </a:txBody>
                  <a:tcPr marL="54864" marR="54864" marT="18288" marB="18288" anchor="ctr">
                    <a:solidFill>
                      <a:srgbClr val="EEF1F6"/>
                    </a:solidFill>
                  </a:tcPr>
                </a:tc>
                <a:tc>
                  <a:txBody>
                    <a:bodyPr/>
                    <a:lstStyle/>
                    <a:p>
                      <a:pPr algn="ctr">
                        <a:defRPr sz="1100" b="0">
                          <a:solidFill>
                            <a:srgbClr val="0B0B0B"/>
                          </a:solidFill>
                          <a:latin typeface="Calibri"/>
                        </a:defRPr>
                      </a:pPr>
                      <a:r>
                        <a:t>0.950</a:t>
                      </a:r>
                    </a:p>
                  </a:txBody>
                  <a:tcPr marL="54864" marR="54864" marT="18288" marB="18288" anchor="ctr">
                    <a:solidFill>
                      <a:srgbClr val="EEF1F6"/>
                    </a:solidFill>
                  </a:tcPr>
                </a:tc>
                <a:tc>
                  <a:txBody>
                    <a:bodyPr/>
                    <a:lstStyle/>
                    <a:p>
                      <a:pPr algn="ctr">
                        <a:defRPr sz="1100" b="0">
                          <a:solidFill>
                            <a:srgbClr val="0B0B0B"/>
                          </a:solidFill>
                          <a:latin typeface="Calibri"/>
                        </a:defRPr>
                      </a:pPr>
                      <a:r>
                        <a:t>2.07</a:t>
                      </a:r>
                    </a:p>
                  </a:txBody>
                  <a:tcPr marL="54864" marR="54864" marT="18288" marB="18288" anchor="ctr">
                    <a:solidFill>
                      <a:srgbClr val="EEF1F6"/>
                    </a:solidFill>
                  </a:tcPr>
                </a:tc>
                <a:tc>
                  <a:txBody>
                    <a:bodyPr/>
                    <a:lstStyle/>
                    <a:p>
                      <a:pPr algn="ctr">
                        <a:defRPr sz="1100" b="0">
                          <a:solidFill>
                            <a:srgbClr val="0B0B0B"/>
                          </a:solidFill>
                          <a:latin typeface="Calibri"/>
                        </a:defRPr>
                      </a:pPr>
                      <a:r>
                        <a:t>0.974</a:t>
                      </a:r>
                    </a:p>
                  </a:txBody>
                  <a:tcPr marL="54864" marR="54864" marT="18288" marB="18288" anchor="ctr">
                    <a:solidFill>
                      <a:srgbClr val="EEF1F6"/>
                    </a:solidFill>
                  </a:tcPr>
                </a:tc>
                <a:tc>
                  <a:txBody>
                    <a:bodyPr/>
                    <a:lstStyle/>
                    <a:p>
                      <a:pPr algn="ctr">
                        <a:defRPr sz="1100" b="0">
                          <a:solidFill>
                            <a:srgbClr val="0B0B0B"/>
                          </a:solidFill>
                          <a:latin typeface="Calibri"/>
                        </a:defRPr>
                      </a:pPr>
                      <a:r>
                        <a:t>0.881</a:t>
                      </a:r>
                    </a:p>
                  </a:txBody>
                  <a:tcPr marL="54864" marR="54864" marT="18288" marB="18288" anchor="ctr">
                    <a:solidFill>
                      <a:srgbClr val="EEF1F6"/>
                    </a:solidFill>
                  </a:tcPr>
                </a:tc>
                <a:tc>
                  <a:txBody>
                    <a:bodyPr/>
                    <a:lstStyle/>
                    <a:p>
                      <a:pPr algn="ctr">
                        <a:defRPr sz="1100" b="0">
                          <a:solidFill>
                            <a:srgbClr val="0B0B0B"/>
                          </a:solidFill>
                          <a:latin typeface="Calibri"/>
                        </a:defRPr>
                      </a:pPr>
                      <a:r>
                        <a:t>0.093</a:t>
                      </a:r>
                    </a:p>
                  </a:txBody>
                  <a:tcPr marL="54864" marR="54864" marT="18288" marB="18288" anchor="ctr">
                    <a:solidFill>
                      <a:srgbClr val="EEF1F6"/>
                    </a:solidFill>
                  </a:tcPr>
                </a:tc>
                <a:tc>
                  <a:txBody>
                    <a:bodyPr/>
                    <a:lstStyle/>
                    <a:p>
                      <a:pPr algn="ctr">
                        <a:defRPr sz="1100" b="0">
                          <a:solidFill>
                            <a:srgbClr val="0B0B0B"/>
                          </a:solidFill>
                          <a:latin typeface="Calibri"/>
                        </a:defRPr>
                      </a:pPr>
                      <a:r>
                        <a:t>52</a:t>
                      </a:r>
                    </a:p>
                  </a:txBody>
                  <a:tcPr marL="54864" marR="54864" marT="18288" marB="18288" anchor="ctr">
                    <a:solidFill>
                      <a:srgbClr val="EEF1F6"/>
                    </a:solidFill>
                  </a:tcPr>
                </a:tc>
                <a:tc>
                  <a:txBody>
                    <a:bodyPr/>
                    <a:lstStyle/>
                    <a:p>
                      <a:pPr algn="ctr">
                        <a:defRPr sz="1100" b="0">
                          <a:solidFill>
                            <a:srgbClr val="0B0B0B"/>
                          </a:solidFill>
                          <a:latin typeface="Calibri"/>
                        </a:defRPr>
                      </a:pPr>
                      <a:r>
                        <a:t>96.2 %</a:t>
                      </a:r>
                    </a:p>
                  </a:txBody>
                  <a:tcPr marL="54864" marR="54864" marT="18288" marB="18288" anchor="ctr">
                    <a:solidFill>
                      <a:srgbClr val="EEF1F6"/>
                    </a:solidFill>
                  </a:tcPr>
                </a:tc>
              </a:tr>
              <a:tr h="329184">
                <a:tc>
                  <a:txBody>
                    <a:bodyPr/>
                    <a:lstStyle/>
                    <a:p>
                      <a:pPr algn="l">
                        <a:defRPr sz="1100" b="0">
                          <a:solidFill>
                            <a:srgbClr val="0B0B0B"/>
                          </a:solidFill>
                          <a:latin typeface="Calibri"/>
                        </a:defRPr>
                      </a:pPr>
                      <a:r>
                        <a:t>mlp</a:t>
                      </a:r>
                    </a:p>
                  </a:txBody>
                  <a:tcPr marL="54864" marR="54864" marT="18288" marB="18288" anchor="ctr">
                    <a:solidFill>
                      <a:srgbClr val="FFFFFF"/>
                    </a:solidFill>
                  </a:tcPr>
                </a:tc>
                <a:tc>
                  <a:txBody>
                    <a:bodyPr/>
                    <a:lstStyle/>
                    <a:p>
                      <a:pPr algn="ctr">
                        <a:defRPr sz="1100" b="0">
                          <a:solidFill>
                            <a:srgbClr val="0B0B0B"/>
                          </a:solidFill>
                          <a:latin typeface="Calibri"/>
                        </a:defRPr>
                      </a:pPr>
                      <a:r>
                        <a:t>split</a:t>
                      </a:r>
                    </a:p>
                  </a:txBody>
                  <a:tcPr marL="54864" marR="54864" marT="18288" marB="18288" anchor="ctr">
                    <a:solidFill>
                      <a:srgbClr val="FFFFFF"/>
                    </a:solidFill>
                  </a:tcPr>
                </a:tc>
                <a:tc>
                  <a:txBody>
                    <a:bodyPr/>
                    <a:lstStyle/>
                    <a:p>
                      <a:pPr algn="ctr">
                        <a:defRPr sz="1100" b="0">
                          <a:solidFill>
                            <a:srgbClr val="0B0B0B"/>
                          </a:solidFill>
                          <a:latin typeface="Calibri"/>
                        </a:defRPr>
                      </a:pPr>
                      <a:r>
                        <a:t>0.10</a:t>
                      </a:r>
                    </a:p>
                  </a:txBody>
                  <a:tcPr marL="54864" marR="54864" marT="18288" marB="18288" anchor="ctr">
                    <a:solidFill>
                      <a:srgbClr val="FFFFFF"/>
                    </a:solidFill>
                  </a:tcPr>
                </a:tc>
                <a:tc>
                  <a:txBody>
                    <a:bodyPr/>
                    <a:lstStyle/>
                    <a:p>
                      <a:pPr algn="ctr">
                        <a:defRPr sz="1100" b="0">
                          <a:solidFill>
                            <a:srgbClr val="0B0B0B"/>
                          </a:solidFill>
                          <a:latin typeface="Calibri"/>
                        </a:defRPr>
                      </a:pPr>
                      <a:r>
                        <a:t>0.902</a:t>
                      </a:r>
                    </a:p>
                  </a:txBody>
                  <a:tcPr marL="54864" marR="54864" marT="18288" marB="18288" anchor="ctr">
                    <a:solidFill>
                      <a:srgbClr val="FFFFFF"/>
                    </a:solidFill>
                  </a:tcPr>
                </a:tc>
                <a:tc>
                  <a:txBody>
                    <a:bodyPr/>
                    <a:lstStyle/>
                    <a:p>
                      <a:pPr algn="ctr">
                        <a:defRPr sz="1100" b="0">
                          <a:solidFill>
                            <a:srgbClr val="0B0B0B"/>
                          </a:solidFill>
                          <a:latin typeface="Calibri"/>
                        </a:defRPr>
                      </a:pPr>
                      <a:r>
                        <a:t>0.90</a:t>
                      </a:r>
                    </a:p>
                  </a:txBody>
                  <a:tcPr marL="54864" marR="54864" marT="18288" marB="18288" anchor="ctr">
                    <a:solidFill>
                      <a:srgbClr val="FFFFFF"/>
                    </a:solidFill>
                  </a:tcPr>
                </a:tc>
                <a:tc>
                  <a:txBody>
                    <a:bodyPr/>
                    <a:lstStyle/>
                    <a:p>
                      <a:pPr algn="ctr">
                        <a:defRPr sz="1100" b="0">
                          <a:solidFill>
                            <a:srgbClr val="0B0B0B"/>
                          </a:solidFill>
                          <a:latin typeface="Calibri"/>
                        </a:defRPr>
                      </a:pPr>
                      <a:r>
                        <a:t>0.096</a:t>
                      </a:r>
                    </a:p>
                  </a:txBody>
                  <a:tcPr marL="54864" marR="54864" marT="18288" marB="18288" anchor="ctr">
                    <a:solidFill>
                      <a:srgbClr val="FFFFFF"/>
                    </a:solidFill>
                  </a:tcPr>
                </a:tc>
                <a:tc>
                  <a:txBody>
                    <a:bodyPr/>
                    <a:lstStyle/>
                    <a:p>
                      <a:pPr algn="ctr">
                        <a:defRPr sz="1100" b="0">
                          <a:solidFill>
                            <a:srgbClr val="0B0B0B"/>
                          </a:solidFill>
                          <a:latin typeface="Calibri"/>
                        </a:defRPr>
                      </a:pPr>
                      <a:r>
                        <a:t>0.000</a:t>
                      </a:r>
                    </a:p>
                  </a:txBody>
                  <a:tcPr marL="54864" marR="54864" marT="18288" marB="18288" anchor="ctr">
                    <a:solidFill>
                      <a:srgbClr val="FFFFFF"/>
                    </a:solidFill>
                  </a:tcPr>
                </a:tc>
                <a:tc>
                  <a:txBody>
                    <a:bodyPr/>
                    <a:lstStyle/>
                    <a:p>
                      <a:pPr algn="ctr">
                        <a:defRPr sz="1100" b="0">
                          <a:solidFill>
                            <a:srgbClr val="0B0B0B"/>
                          </a:solidFill>
                          <a:latin typeface="Calibri"/>
                        </a:defRPr>
                      </a:pPr>
                      <a:r>
                        <a:t>0.096</a:t>
                      </a:r>
                    </a:p>
                  </a:txBody>
                  <a:tcPr marL="54864" marR="54864" marT="18288" marB="18288" anchor="ctr">
                    <a:solidFill>
                      <a:srgbClr val="FFFFFF"/>
                    </a:solidFill>
                  </a:tcPr>
                </a:tc>
                <a:tc>
                  <a:txBody>
                    <a:bodyPr/>
                    <a:lstStyle/>
                    <a:p>
                      <a:pPr algn="ctr">
                        <a:defRPr sz="1100" b="0">
                          <a:solidFill>
                            <a:srgbClr val="0B0B0B"/>
                          </a:solidFill>
                          <a:latin typeface="Calibri"/>
                        </a:defRPr>
                      </a:pPr>
                      <a:r>
                        <a:t>1 803</a:t>
                      </a:r>
                    </a:p>
                  </a:txBody>
                  <a:tcPr marL="54864" marR="54864" marT="18288" marB="18288" anchor="ctr">
                    <a:solidFill>
                      <a:srgbClr val="FFFFFF"/>
                    </a:solidFill>
                  </a:tcPr>
                </a:tc>
                <a:tc>
                  <a:txBody>
                    <a:bodyPr/>
                    <a:lstStyle/>
                    <a:p>
                      <a:pPr algn="ctr">
                        <a:defRPr sz="1100" b="0">
                          <a:solidFill>
                            <a:srgbClr val="0B0B0B"/>
                          </a:solidFill>
                          <a:latin typeface="Calibri"/>
                        </a:defRPr>
                      </a:pPr>
                      <a:r>
                        <a:t>0.2 %</a:t>
                      </a:r>
                    </a:p>
                  </a:txBody>
                  <a:tcPr marL="54864" marR="54864" marT="18288" marB="18288" anchor="ctr">
                    <a:solidFill>
                      <a:srgbClr val="FFFFFF"/>
                    </a:solidFill>
                  </a:tcPr>
                </a:tc>
              </a:tr>
              <a:tr h="329184">
                <a:tc>
                  <a:txBody>
                    <a:bodyPr/>
                    <a:lstStyle/>
                    <a:p>
                      <a:pPr algn="l">
                        <a:defRPr sz="1100" b="0">
                          <a:solidFill>
                            <a:srgbClr val="0B0B0B"/>
                          </a:solidFill>
                          <a:latin typeface="Calibri"/>
                        </a:defRPr>
                      </a:pPr>
                      <a:r>
                        <a:t>mlp</a:t>
                      </a:r>
                    </a:p>
                  </a:txBody>
                  <a:tcPr marL="54864" marR="54864" marT="18288" marB="18288" anchor="ctr">
                    <a:solidFill>
                      <a:srgbClr val="EEF1F6"/>
                    </a:solidFill>
                  </a:tcPr>
                </a:tc>
                <a:tc>
                  <a:txBody>
                    <a:bodyPr/>
                    <a:lstStyle/>
                    <a:p>
                      <a:pPr algn="ctr">
                        <a:defRPr sz="1100" b="0">
                          <a:solidFill>
                            <a:srgbClr val="0B0B0B"/>
                          </a:solidFill>
                          <a:latin typeface="Calibri"/>
                        </a:defRPr>
                      </a:pPr>
                      <a:r>
                        <a:t>mondrian</a:t>
                      </a:r>
                    </a:p>
                  </a:txBody>
                  <a:tcPr marL="54864" marR="54864" marT="18288" marB="18288" anchor="ctr">
                    <a:solidFill>
                      <a:srgbClr val="EEF1F6"/>
                    </a:solidFill>
                  </a:tcPr>
                </a:tc>
                <a:tc>
                  <a:txBody>
                    <a:bodyPr/>
                    <a:lstStyle/>
                    <a:p>
                      <a:pPr algn="ctr">
                        <a:defRPr sz="1100" b="0">
                          <a:solidFill>
                            <a:srgbClr val="0B0B0B"/>
                          </a:solidFill>
                          <a:latin typeface="Calibri"/>
                        </a:defRPr>
                      </a:pPr>
                      <a:r>
                        <a:t>0.10</a:t>
                      </a:r>
                    </a:p>
                  </a:txBody>
                  <a:tcPr marL="54864" marR="54864" marT="18288" marB="18288" anchor="ctr">
                    <a:solidFill>
                      <a:srgbClr val="EEF1F6"/>
                    </a:solidFill>
                  </a:tcPr>
                </a:tc>
                <a:tc>
                  <a:txBody>
                    <a:bodyPr/>
                    <a:lstStyle/>
                    <a:p>
                      <a:pPr algn="ctr">
                        <a:defRPr sz="1100" b="0">
                          <a:solidFill>
                            <a:srgbClr val="0B0B0B"/>
                          </a:solidFill>
                          <a:latin typeface="Calibri"/>
                        </a:defRPr>
                      </a:pPr>
                      <a:r>
                        <a:t>0.903</a:t>
                      </a:r>
                    </a:p>
                  </a:txBody>
                  <a:tcPr marL="54864" marR="54864" marT="18288" marB="18288" anchor="ctr">
                    <a:solidFill>
                      <a:srgbClr val="EEF1F6"/>
                    </a:solidFill>
                  </a:tcPr>
                </a:tc>
                <a:tc>
                  <a:txBody>
                    <a:bodyPr/>
                    <a:lstStyle/>
                    <a:p>
                      <a:pPr algn="ctr">
                        <a:defRPr sz="1100" b="0">
                          <a:solidFill>
                            <a:srgbClr val="0B0B0B"/>
                          </a:solidFill>
                          <a:latin typeface="Calibri"/>
                        </a:defRPr>
                      </a:pPr>
                      <a:r>
                        <a:t>1.07</a:t>
                      </a:r>
                    </a:p>
                  </a:txBody>
                  <a:tcPr marL="54864" marR="54864" marT="18288" marB="18288" anchor="ctr">
                    <a:solidFill>
                      <a:srgbClr val="EEF1F6"/>
                    </a:solidFill>
                  </a:tcPr>
                </a:tc>
                <a:tc>
                  <a:txBody>
                    <a:bodyPr/>
                    <a:lstStyle/>
                    <a:p>
                      <a:pPr algn="ctr">
                        <a:defRPr sz="1100" b="0">
                          <a:solidFill>
                            <a:srgbClr val="0B0B0B"/>
                          </a:solidFill>
                          <a:latin typeface="Calibri"/>
                        </a:defRPr>
                      </a:pPr>
                      <a:r>
                        <a:t>0.085</a:t>
                      </a:r>
                    </a:p>
                  </a:txBody>
                  <a:tcPr marL="54864" marR="54864" marT="18288" marB="18288" anchor="ctr">
                    <a:solidFill>
                      <a:srgbClr val="EEF1F6"/>
                    </a:solidFill>
                  </a:tcPr>
                </a:tc>
                <a:tc>
                  <a:txBody>
                    <a:bodyPr/>
                    <a:lstStyle/>
                    <a:p>
                      <a:pPr algn="ctr">
                        <a:defRPr sz="1100" b="0">
                          <a:solidFill>
                            <a:srgbClr val="0B0B0B"/>
                          </a:solidFill>
                          <a:latin typeface="Calibri"/>
                        </a:defRPr>
                      </a:pPr>
                      <a:r>
                        <a:t>0.068</a:t>
                      </a:r>
                    </a:p>
                  </a:txBody>
                  <a:tcPr marL="54864" marR="54864" marT="18288" marB="18288" anchor="ctr">
                    <a:solidFill>
                      <a:srgbClr val="EEF1F6"/>
                    </a:solidFill>
                  </a:tcPr>
                </a:tc>
                <a:tc>
                  <a:txBody>
                    <a:bodyPr/>
                    <a:lstStyle/>
                    <a:p>
                      <a:pPr algn="ctr">
                        <a:defRPr sz="1100" b="0">
                          <a:solidFill>
                            <a:srgbClr val="0B0B0B"/>
                          </a:solidFill>
                          <a:latin typeface="Calibri"/>
                        </a:defRPr>
                      </a:pPr>
                      <a:r>
                        <a:t>0.017</a:t>
                      </a:r>
                    </a:p>
                  </a:txBody>
                  <a:tcPr marL="54864" marR="54864" marT="18288" marB="18288" anchor="ctr">
                    <a:solidFill>
                      <a:srgbClr val="EEF1F6"/>
                    </a:solidFill>
                  </a:tcPr>
                </a:tc>
                <a:tc>
                  <a:txBody>
                    <a:bodyPr/>
                    <a:lstStyle/>
                    <a:p>
                      <a:pPr algn="ctr">
                        <a:defRPr sz="1100" b="0">
                          <a:solidFill>
                            <a:srgbClr val="0B0B0B"/>
                          </a:solidFill>
                          <a:latin typeface="Calibri"/>
                        </a:defRPr>
                      </a:pPr>
                      <a:r>
                        <a:t>1 825</a:t>
                      </a:r>
                    </a:p>
                  </a:txBody>
                  <a:tcPr marL="54864" marR="54864" marT="18288" marB="18288" anchor="ctr">
                    <a:solidFill>
                      <a:srgbClr val="EEF1F6"/>
                    </a:solidFill>
                  </a:tcPr>
                </a:tc>
                <a:tc>
                  <a:txBody>
                    <a:bodyPr/>
                    <a:lstStyle/>
                    <a:p>
                      <a:pPr algn="ctr">
                        <a:defRPr sz="1100" b="0">
                          <a:solidFill>
                            <a:srgbClr val="0B0B0B"/>
                          </a:solidFill>
                          <a:latin typeface="Calibri"/>
                        </a:defRPr>
                      </a:pPr>
                      <a:r>
                        <a:t>8.2 %</a:t>
                      </a:r>
                    </a:p>
                  </a:txBody>
                  <a:tcPr marL="54864" marR="54864" marT="18288" marB="18288" anchor="ctr">
                    <a:solidFill>
                      <a:srgbClr val="EEF1F6"/>
                    </a:solidFill>
                  </a:tcPr>
                </a:tc>
              </a:tr>
              <a:tr h="329184">
                <a:tc>
                  <a:txBody>
                    <a:bodyPr/>
                    <a:lstStyle/>
                    <a:p>
                      <a:pPr algn="l">
                        <a:defRPr sz="1100" b="0">
                          <a:solidFill>
                            <a:srgbClr val="0B0B0B"/>
                          </a:solidFill>
                          <a:latin typeface="Calibri"/>
                        </a:defRPr>
                      </a:pPr>
                      <a:r>
                        <a:t>mlp</a:t>
                      </a:r>
                    </a:p>
                  </a:txBody>
                  <a:tcPr marL="54864" marR="54864" marT="18288" marB="18288" anchor="ctr">
                    <a:solidFill>
                      <a:srgbClr val="FFFFFF"/>
                    </a:solidFill>
                  </a:tcPr>
                </a:tc>
                <a:tc>
                  <a:txBody>
                    <a:bodyPr/>
                    <a:lstStyle/>
                    <a:p>
                      <a:pPr algn="ctr">
                        <a:defRPr sz="1100" b="0">
                          <a:solidFill>
                            <a:srgbClr val="0B0B0B"/>
                          </a:solidFill>
                          <a:latin typeface="Calibri"/>
                        </a:defRPr>
                      </a:pPr>
                      <a:r>
                        <a:t>split</a:t>
                      </a:r>
                    </a:p>
                  </a:txBody>
                  <a:tcPr marL="54864" marR="54864" marT="18288" marB="18288" anchor="ctr">
                    <a:solidFill>
                      <a:srgbClr val="FFFFFF"/>
                    </a:solidFill>
                  </a:tcPr>
                </a:tc>
                <a:tc>
                  <a:txBody>
                    <a:bodyPr/>
                    <a:lstStyle/>
                    <a:p>
                      <a:pPr algn="ctr">
                        <a:defRPr sz="1100" b="0">
                          <a:solidFill>
                            <a:srgbClr val="0B0B0B"/>
                          </a:solidFill>
                          <a:latin typeface="Calibri"/>
                        </a:defRPr>
                      </a:pPr>
                      <a:r>
                        <a:t>0.20</a:t>
                      </a:r>
                    </a:p>
                  </a:txBody>
                  <a:tcPr marL="54864" marR="54864" marT="18288" marB="18288" anchor="ctr">
                    <a:solidFill>
                      <a:srgbClr val="FFFFFF"/>
                    </a:solidFill>
                  </a:tcPr>
                </a:tc>
                <a:tc>
                  <a:txBody>
                    <a:bodyPr/>
                    <a:lstStyle/>
                    <a:p>
                      <a:pPr algn="ctr">
                        <a:defRPr sz="1100" b="0">
                          <a:solidFill>
                            <a:srgbClr val="0B0B0B"/>
                          </a:solidFill>
                          <a:latin typeface="Calibri"/>
                        </a:defRPr>
                      </a:pPr>
                      <a:r>
                        <a:t>0.808</a:t>
                      </a:r>
                    </a:p>
                  </a:txBody>
                  <a:tcPr marL="54864" marR="54864" marT="18288" marB="18288" anchor="ctr">
                    <a:solidFill>
                      <a:srgbClr val="FFFFFF"/>
                    </a:solidFill>
                  </a:tcPr>
                </a:tc>
                <a:tc>
                  <a:txBody>
                    <a:bodyPr/>
                    <a:lstStyle/>
                    <a:p>
                      <a:pPr algn="ctr">
                        <a:defRPr sz="1100" b="0">
                          <a:solidFill>
                            <a:srgbClr val="0B0B0B"/>
                          </a:solidFill>
                          <a:latin typeface="Calibri"/>
                        </a:defRPr>
                      </a:pPr>
                      <a:r>
                        <a:t>0.81</a:t>
                      </a:r>
                    </a:p>
                  </a:txBody>
                  <a:tcPr marL="54864" marR="54864" marT="18288" marB="18288" anchor="ctr">
                    <a:solidFill>
                      <a:srgbClr val="FFFFFF"/>
                    </a:solidFill>
                  </a:tcPr>
                </a:tc>
                <a:tc>
                  <a:txBody>
                    <a:bodyPr/>
                    <a:lstStyle/>
                    <a:p>
                      <a:pPr algn="ctr">
                        <a:defRPr sz="1100" b="0">
                          <a:solidFill>
                            <a:srgbClr val="0B0B0B"/>
                          </a:solidFill>
                          <a:latin typeface="Calibri"/>
                        </a:defRPr>
                      </a:pPr>
                      <a:r>
                        <a:t>0.191</a:t>
                      </a:r>
                    </a:p>
                  </a:txBody>
                  <a:tcPr marL="54864" marR="54864" marT="18288" marB="18288" anchor="ctr">
                    <a:solidFill>
                      <a:srgbClr val="FFFFFF"/>
                    </a:solidFill>
                  </a:tcPr>
                </a:tc>
                <a:tc>
                  <a:txBody>
                    <a:bodyPr/>
                    <a:lstStyle/>
                    <a:p>
                      <a:pPr algn="ctr">
                        <a:defRPr sz="1100" b="0">
                          <a:solidFill>
                            <a:srgbClr val="0B0B0B"/>
                          </a:solidFill>
                          <a:latin typeface="Calibri"/>
                        </a:defRPr>
                      </a:pPr>
                      <a:r>
                        <a:t>0.000</a:t>
                      </a:r>
                    </a:p>
                  </a:txBody>
                  <a:tcPr marL="54864" marR="54864" marT="18288" marB="18288" anchor="ctr">
                    <a:solidFill>
                      <a:srgbClr val="FFFFFF"/>
                    </a:solidFill>
                  </a:tcPr>
                </a:tc>
                <a:tc>
                  <a:txBody>
                    <a:bodyPr/>
                    <a:lstStyle/>
                    <a:p>
                      <a:pPr algn="ctr">
                        <a:defRPr sz="1100" b="0">
                          <a:solidFill>
                            <a:srgbClr val="0B0B0B"/>
                          </a:solidFill>
                          <a:latin typeface="Calibri"/>
                        </a:defRPr>
                      </a:pPr>
                      <a:r>
                        <a:t>0.191</a:t>
                      </a:r>
                    </a:p>
                  </a:txBody>
                  <a:tcPr marL="54864" marR="54864" marT="18288" marB="18288" anchor="ctr">
                    <a:solidFill>
                      <a:srgbClr val="FFFFFF"/>
                    </a:solidFill>
                  </a:tcPr>
                </a:tc>
                <a:tc>
                  <a:txBody>
                    <a:bodyPr/>
                    <a:lstStyle/>
                    <a:p>
                      <a:pPr algn="ctr">
                        <a:defRPr sz="1100" b="0">
                          <a:solidFill>
                            <a:srgbClr val="0B0B0B"/>
                          </a:solidFill>
                          <a:latin typeface="Calibri"/>
                        </a:defRPr>
                      </a:pPr>
                      <a:r>
                        <a:t>1 613</a:t>
                      </a:r>
                    </a:p>
                  </a:txBody>
                  <a:tcPr marL="54864" marR="54864" marT="18288" marB="18288" anchor="ctr">
                    <a:solidFill>
                      <a:srgbClr val="FFFFFF"/>
                    </a:solidFill>
                  </a:tcPr>
                </a:tc>
                <a:tc>
                  <a:txBody>
                    <a:bodyPr/>
                    <a:lstStyle/>
                    <a:p>
                      <a:pPr algn="ctr">
                        <a:defRPr sz="1100" b="0">
                          <a:solidFill>
                            <a:srgbClr val="0B0B0B"/>
                          </a:solidFill>
                          <a:latin typeface="Calibri"/>
                        </a:defRPr>
                      </a:pPr>
                      <a:r>
                        <a:t>0.1 %</a:t>
                      </a:r>
                    </a:p>
                  </a:txBody>
                  <a:tcPr marL="54864" marR="54864" marT="18288" marB="18288" anchor="ctr">
                    <a:solidFill>
                      <a:srgbClr val="FFFFFF"/>
                    </a:solidFill>
                  </a:tcPr>
                </a:tc>
              </a:tr>
              <a:tr h="329184">
                <a:tc>
                  <a:txBody>
                    <a:bodyPr/>
                    <a:lstStyle/>
                    <a:p>
                      <a:pPr algn="l">
                        <a:defRPr sz="1100" b="0">
                          <a:solidFill>
                            <a:srgbClr val="0B0B0B"/>
                          </a:solidFill>
                          <a:latin typeface="Calibri"/>
                        </a:defRPr>
                      </a:pPr>
                      <a:r>
                        <a:t>mlp</a:t>
                      </a:r>
                    </a:p>
                  </a:txBody>
                  <a:tcPr marL="54864" marR="54864" marT="18288" marB="18288" anchor="ctr">
                    <a:solidFill>
                      <a:srgbClr val="EEF1F6"/>
                    </a:solidFill>
                  </a:tcPr>
                </a:tc>
                <a:tc>
                  <a:txBody>
                    <a:bodyPr/>
                    <a:lstStyle/>
                    <a:p>
                      <a:pPr algn="ctr">
                        <a:defRPr sz="1100" b="0">
                          <a:solidFill>
                            <a:srgbClr val="0B0B0B"/>
                          </a:solidFill>
                          <a:latin typeface="Calibri"/>
                        </a:defRPr>
                      </a:pPr>
                      <a:r>
                        <a:t>mondrian</a:t>
                      </a:r>
                    </a:p>
                  </a:txBody>
                  <a:tcPr marL="54864" marR="54864" marT="18288" marB="18288" anchor="ctr">
                    <a:solidFill>
                      <a:srgbClr val="EEF1F6"/>
                    </a:solidFill>
                  </a:tcPr>
                </a:tc>
                <a:tc>
                  <a:txBody>
                    <a:bodyPr/>
                    <a:lstStyle/>
                    <a:p>
                      <a:pPr algn="ctr">
                        <a:defRPr sz="1100" b="0">
                          <a:solidFill>
                            <a:srgbClr val="0B0B0B"/>
                          </a:solidFill>
                          <a:latin typeface="Calibri"/>
                        </a:defRPr>
                      </a:pPr>
                      <a:r>
                        <a:t>0.20</a:t>
                      </a:r>
                    </a:p>
                  </a:txBody>
                  <a:tcPr marL="54864" marR="54864" marT="18288" marB="18288" anchor="ctr">
                    <a:solidFill>
                      <a:srgbClr val="EEF1F6"/>
                    </a:solidFill>
                  </a:tcPr>
                </a:tc>
                <a:tc>
                  <a:txBody>
                    <a:bodyPr/>
                    <a:lstStyle/>
                    <a:p>
                      <a:pPr algn="ctr">
                        <a:defRPr sz="1100" b="0">
                          <a:solidFill>
                            <a:srgbClr val="0B0B0B"/>
                          </a:solidFill>
                          <a:latin typeface="Calibri"/>
                        </a:defRPr>
                      </a:pPr>
                      <a:r>
                        <a:t>0.794</a:t>
                      </a:r>
                    </a:p>
                  </a:txBody>
                  <a:tcPr marL="54864" marR="54864" marT="18288" marB="18288" anchor="ctr">
                    <a:solidFill>
                      <a:srgbClr val="EEF1F6"/>
                    </a:solidFill>
                  </a:tcPr>
                </a:tc>
                <a:tc>
                  <a:txBody>
                    <a:bodyPr/>
                    <a:lstStyle/>
                    <a:p>
                      <a:pPr algn="ctr">
                        <a:defRPr sz="1100" b="0">
                          <a:solidFill>
                            <a:srgbClr val="0B0B0B"/>
                          </a:solidFill>
                          <a:latin typeface="Calibri"/>
                        </a:defRPr>
                      </a:pPr>
                      <a:r>
                        <a:t>0.85</a:t>
                      </a:r>
                    </a:p>
                  </a:txBody>
                  <a:tcPr marL="54864" marR="54864" marT="18288" marB="18288" anchor="ctr">
                    <a:solidFill>
                      <a:srgbClr val="EEF1F6"/>
                    </a:solidFill>
                  </a:tcPr>
                </a:tc>
                <a:tc>
                  <a:txBody>
                    <a:bodyPr/>
                    <a:lstStyle/>
                    <a:p>
                      <a:pPr algn="ctr">
                        <a:defRPr sz="1100" b="0">
                          <a:solidFill>
                            <a:srgbClr val="0B0B0B"/>
                          </a:solidFill>
                          <a:latin typeface="Calibri"/>
                        </a:defRPr>
                      </a:pPr>
                      <a:r>
                        <a:t>0.148</a:t>
                      </a:r>
                    </a:p>
                  </a:txBody>
                  <a:tcPr marL="54864" marR="54864" marT="18288" marB="18288" anchor="ctr">
                    <a:solidFill>
                      <a:srgbClr val="EEF1F6"/>
                    </a:solidFill>
                  </a:tcPr>
                </a:tc>
                <a:tc>
                  <a:txBody>
                    <a:bodyPr/>
                    <a:lstStyle/>
                    <a:p>
                      <a:pPr algn="ctr">
                        <a:defRPr sz="1100" b="0">
                          <a:solidFill>
                            <a:srgbClr val="0B0B0B"/>
                          </a:solidFill>
                          <a:latin typeface="Calibri"/>
                        </a:defRPr>
                      </a:pPr>
                      <a:r>
                        <a:t>0.002</a:t>
                      </a:r>
                    </a:p>
                  </a:txBody>
                  <a:tcPr marL="54864" marR="54864" marT="18288" marB="18288" anchor="ctr">
                    <a:solidFill>
                      <a:srgbClr val="EEF1F6"/>
                    </a:solidFill>
                  </a:tcPr>
                </a:tc>
                <a:tc>
                  <a:txBody>
                    <a:bodyPr/>
                    <a:lstStyle/>
                    <a:p>
                      <a:pPr algn="ctr">
                        <a:defRPr sz="1100" b="0">
                          <a:solidFill>
                            <a:srgbClr val="0B0B0B"/>
                          </a:solidFill>
                          <a:latin typeface="Calibri"/>
                        </a:defRPr>
                      </a:pPr>
                      <a:r>
                        <a:t>0.147</a:t>
                      </a:r>
                    </a:p>
                  </a:txBody>
                  <a:tcPr marL="54864" marR="54864" marT="18288" marB="18288" anchor="ctr">
                    <a:solidFill>
                      <a:srgbClr val="EEF1F6"/>
                    </a:solidFill>
                  </a:tcPr>
                </a:tc>
                <a:tc>
                  <a:txBody>
                    <a:bodyPr/>
                    <a:lstStyle/>
                    <a:p>
                      <a:pPr algn="ctr">
                        <a:defRPr sz="1100" b="0">
                          <a:solidFill>
                            <a:srgbClr val="0B0B0B"/>
                          </a:solidFill>
                          <a:latin typeface="Calibri"/>
                        </a:defRPr>
                      </a:pPr>
                      <a:r>
                        <a:t>1 699</a:t>
                      </a:r>
                    </a:p>
                  </a:txBody>
                  <a:tcPr marL="54864" marR="54864" marT="18288" marB="18288" anchor="ctr">
                    <a:solidFill>
                      <a:srgbClr val="EEF1F6"/>
                    </a:solidFill>
                  </a:tcPr>
                </a:tc>
                <a:tc>
                  <a:txBody>
                    <a:bodyPr/>
                    <a:lstStyle/>
                    <a:p>
                      <a:pPr algn="ctr">
                        <a:defRPr sz="1100" b="0">
                          <a:solidFill>
                            <a:srgbClr val="0B0B0B"/>
                          </a:solidFill>
                          <a:latin typeface="Calibri"/>
                        </a:defRPr>
                      </a:pPr>
                      <a:r>
                        <a:t>6.9 %</a:t>
                      </a:r>
                    </a:p>
                  </a:txBody>
                  <a:tcPr marL="54864" marR="54864" marT="18288" marB="18288" anchor="ctr">
                    <a:solidFill>
                      <a:srgbClr val="EEF1F6"/>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1170432"/>
            <a:ext cx="548640" cy="45720"/>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7315200" cy="274320"/>
          </a:xfrm>
          <a:prstGeom prst="rect">
            <a:avLst/>
          </a:prstGeom>
          <a:noFill/>
        </p:spPr>
        <p:txBody>
          <a:bodyPr wrap="square" anchor="t" lIns="45720" rIns="45720" tIns="27432" bIns="27432">
            <a:spAutoFit/>
          </a:bodyPr>
          <a:lstStyle/>
          <a:p>
            <a:pPr algn="l">
              <a:lnSpc>
                <a:spcPct val="110000"/>
              </a:lnSpc>
              <a:defRPr sz="1100" b="1" i="0">
                <a:solidFill>
                  <a:srgbClr val="EB6834"/>
                </a:solidFill>
                <a:latin typeface="Calibri"/>
              </a:defRPr>
            </a:pPr>
            <a:r>
              <a:t>APÉNDICE B</a:t>
            </a:r>
          </a:p>
        </p:txBody>
      </p:sp>
      <p:sp>
        <p:nvSpPr>
          <p:cNvPr id="5" name="TextBox 4"/>
          <p:cNvSpPr txBox="1"/>
          <p:nvPr/>
        </p:nvSpPr>
        <p:spPr>
          <a:xfrm>
            <a:off x="640080" y="566928"/>
            <a:ext cx="10058400" cy="640080"/>
          </a:xfrm>
          <a:prstGeom prst="rect">
            <a:avLst/>
          </a:prstGeom>
          <a:noFill/>
        </p:spPr>
        <p:txBody>
          <a:bodyPr wrap="square" anchor="t" lIns="45720" rIns="45720" tIns="27432" bIns="27432">
            <a:spAutoFit/>
          </a:bodyPr>
          <a:lstStyle/>
          <a:p>
            <a:pPr algn="l">
              <a:lnSpc>
                <a:spcPct val="110000"/>
              </a:lnSpc>
              <a:defRPr sz="2400" b="1" i="0">
                <a:solidFill>
                  <a:srgbClr val="0F2A4A"/>
                </a:solidFill>
                <a:latin typeface="Calibri"/>
              </a:defRPr>
            </a:pPr>
            <a:r>
              <a:t>Cobertura por clase en prueba: las seis configuraciones de cada modelo</a:t>
            </a:r>
          </a:p>
        </p:txBody>
      </p:sp>
      <p:sp>
        <p:nvSpPr>
          <p:cNvPr id="6" name="Rectangle 5"/>
          <p:cNvSpPr/>
          <p:nvPr/>
        </p:nvSpPr>
        <p:spPr>
          <a:xfrm>
            <a:off x="0" y="6537960"/>
            <a:ext cx="12191695" cy="320040"/>
          </a:xfrm>
          <a:prstGeom prst="rect">
            <a:avLst/>
          </a:prstGeom>
          <a:solidFill>
            <a:srgbClr val="0F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574536"/>
            <a:ext cx="7315200" cy="256032"/>
          </a:xfrm>
          <a:prstGeom prst="rect">
            <a:avLst/>
          </a:prstGeom>
          <a:noFill/>
        </p:spPr>
        <p:txBody>
          <a:bodyPr wrap="square" anchor="t" lIns="45720" rIns="45720" tIns="27432" bIns="27432">
            <a:spAutoFit/>
          </a:bodyPr>
          <a:lstStyle/>
          <a:p>
            <a:pPr algn="l">
              <a:lnSpc>
                <a:spcPct val="110000"/>
              </a:lnSpc>
              <a:defRPr sz="900" b="0" i="0">
                <a:solidFill>
                  <a:srgbClr val="C9D6E8"/>
                </a:solidFill>
                <a:latin typeface="Calibri"/>
              </a:defRPr>
            </a:pPr>
            <a:r>
              <a:t>Predicción conforme y abstención selectiva · AI4I 2020</a:t>
            </a:r>
          </a:p>
        </p:txBody>
      </p:sp>
      <p:sp>
        <p:nvSpPr>
          <p:cNvPr id="8" name="TextBox 7"/>
          <p:cNvSpPr txBox="1"/>
          <p:nvPr/>
        </p:nvSpPr>
        <p:spPr>
          <a:xfrm>
            <a:off x="11155680" y="6574536"/>
            <a:ext cx="457200" cy="256032"/>
          </a:xfrm>
          <a:prstGeom prst="rect">
            <a:avLst/>
          </a:prstGeom>
          <a:noFill/>
        </p:spPr>
        <p:txBody>
          <a:bodyPr wrap="square" anchor="t" lIns="45720" rIns="45720" tIns="27432" bIns="27432">
            <a:spAutoFit/>
          </a:bodyPr>
          <a:lstStyle/>
          <a:p>
            <a:pPr algn="r">
              <a:lnSpc>
                <a:spcPct val="110000"/>
              </a:lnSpc>
              <a:defRPr sz="900" b="0" i="0">
                <a:solidFill>
                  <a:srgbClr val="C9D6E8"/>
                </a:solidFill>
                <a:latin typeface="Calibri"/>
              </a:defRPr>
            </a:pPr>
            <a:r>
              <a:t>26</a:t>
            </a:r>
          </a:p>
        </p:txBody>
      </p:sp>
      <p:graphicFrame>
        <p:nvGraphicFramePr>
          <p:cNvPr id="9" name="Table 8"/>
          <p:cNvGraphicFramePr>
            <a:graphicFrameLocks noGrp="1"/>
          </p:cNvGraphicFramePr>
          <p:nvPr/>
        </p:nvGraphicFramePr>
        <p:xfrm>
          <a:off x="640080" y="1417320"/>
          <a:ext cx="10881360" cy="4279392"/>
        </p:xfrm>
        <a:graphic>
          <a:graphicData uri="http://schemas.openxmlformats.org/drawingml/2006/table">
            <a:tbl>
              <a:tblPr firstRow="1" bandRow="1">
                <a:tableStyleId>{5C22544A-7EE6-4342-B048-85BDC9FD1C3A}</a:tableStyleId>
              </a:tblPr>
              <a:tblGrid>
                <a:gridCol w="914400"/>
                <a:gridCol w="1280160"/>
                <a:gridCol w="731520"/>
                <a:gridCol w="1737360"/>
                <a:gridCol w="1554480"/>
                <a:gridCol w="1554480"/>
                <a:gridCol w="1554480"/>
                <a:gridCol w="1554480"/>
              </a:tblGrid>
              <a:tr h="329184">
                <a:tc>
                  <a:txBody>
                    <a:bodyPr/>
                    <a:lstStyle/>
                    <a:p>
                      <a:pPr algn="l">
                        <a:defRPr sz="1100" b="1">
                          <a:solidFill>
                            <a:srgbClr val="FFFFFF"/>
                          </a:solidFill>
                          <a:latin typeface="Calibri"/>
                        </a:defRPr>
                      </a:pPr>
                      <a:r>
                        <a:t>Modelo</a:t>
                      </a:r>
                    </a:p>
                  </a:txBody>
                  <a:tcPr marL="54864" marR="54864" marT="18288" marB="18288" anchor="ctr">
                    <a:solidFill>
                      <a:srgbClr val="1C5CAB"/>
                    </a:solidFill>
                  </a:tcPr>
                </a:tc>
                <a:tc>
                  <a:txBody>
                    <a:bodyPr/>
                    <a:lstStyle/>
                    <a:p>
                      <a:pPr algn="ctr">
                        <a:defRPr sz="1100" b="1">
                          <a:solidFill>
                            <a:srgbClr val="FFFFFF"/>
                          </a:solidFill>
                          <a:latin typeface="Calibri"/>
                        </a:defRPr>
                      </a:pPr>
                      <a:r>
                        <a:t>Variante</a:t>
                      </a:r>
                    </a:p>
                  </a:txBody>
                  <a:tcPr marL="54864" marR="54864" marT="18288" marB="18288" anchor="ctr">
                    <a:solidFill>
                      <a:srgbClr val="1C5CAB"/>
                    </a:solidFill>
                  </a:tcPr>
                </a:tc>
                <a:tc>
                  <a:txBody>
                    <a:bodyPr/>
                    <a:lstStyle/>
                    <a:p>
                      <a:pPr algn="ctr">
                        <a:defRPr sz="1100" b="1">
                          <a:solidFill>
                            <a:srgbClr val="FFFFFF"/>
                          </a:solidFill>
                          <a:latin typeface="Calibri"/>
                        </a:defRPr>
                      </a:pPr>
                      <a:r>
                        <a:t>α</a:t>
                      </a:r>
                    </a:p>
                  </a:txBody>
                  <a:tcPr marL="54864" marR="54864" marT="18288" marB="18288" anchor="ctr">
                    <a:solidFill>
                      <a:srgbClr val="1C5CAB"/>
                    </a:solidFill>
                  </a:tcPr>
                </a:tc>
                <a:tc>
                  <a:txBody>
                    <a:bodyPr/>
                    <a:lstStyle/>
                    <a:p>
                      <a:pPr algn="ctr">
                        <a:defRPr sz="1100" b="1">
                          <a:solidFill>
                            <a:srgbClr val="FFFFFF"/>
                          </a:solidFill>
                          <a:latin typeface="Calibri"/>
                        </a:defRPr>
                      </a:pPr>
                      <a:r>
                        <a:t>Normal (1 929)</a:t>
                      </a:r>
                    </a:p>
                  </a:txBody>
                  <a:tcPr marL="54864" marR="54864" marT="18288" marB="18288" anchor="ctr">
                    <a:solidFill>
                      <a:srgbClr val="1C5CAB"/>
                    </a:solidFill>
                  </a:tcPr>
                </a:tc>
                <a:tc>
                  <a:txBody>
                    <a:bodyPr/>
                    <a:lstStyle/>
                    <a:p>
                      <a:pPr algn="ctr">
                        <a:defRPr sz="1100" b="1">
                          <a:solidFill>
                            <a:srgbClr val="FFFFFF"/>
                          </a:solidFill>
                          <a:latin typeface="Calibri"/>
                        </a:defRPr>
                      </a:pPr>
                      <a:r>
                        <a:t>TWF (9)</a:t>
                      </a:r>
                    </a:p>
                  </a:txBody>
                  <a:tcPr marL="54864" marR="54864" marT="18288" marB="18288" anchor="ctr">
                    <a:solidFill>
                      <a:srgbClr val="1C5CAB"/>
                    </a:solidFill>
                  </a:tcPr>
                </a:tc>
                <a:tc>
                  <a:txBody>
                    <a:bodyPr/>
                    <a:lstStyle/>
                    <a:p>
                      <a:pPr algn="ctr">
                        <a:defRPr sz="1100" b="1">
                          <a:solidFill>
                            <a:srgbClr val="FFFFFF"/>
                          </a:solidFill>
                          <a:latin typeface="Calibri"/>
                        </a:defRPr>
                      </a:pPr>
                      <a:r>
                        <a:t>HDF (21)</a:t>
                      </a:r>
                    </a:p>
                  </a:txBody>
                  <a:tcPr marL="54864" marR="54864" marT="18288" marB="18288" anchor="ctr">
                    <a:solidFill>
                      <a:srgbClr val="1C5CAB"/>
                    </a:solidFill>
                  </a:tcPr>
                </a:tc>
                <a:tc>
                  <a:txBody>
                    <a:bodyPr/>
                    <a:lstStyle/>
                    <a:p>
                      <a:pPr algn="ctr">
                        <a:defRPr sz="1100" b="1">
                          <a:solidFill>
                            <a:srgbClr val="FFFFFF"/>
                          </a:solidFill>
                          <a:latin typeface="Calibri"/>
                        </a:defRPr>
                      </a:pPr>
                      <a:r>
                        <a:t>PWF (19)</a:t>
                      </a:r>
                    </a:p>
                  </a:txBody>
                  <a:tcPr marL="54864" marR="54864" marT="18288" marB="18288" anchor="ctr">
                    <a:solidFill>
                      <a:srgbClr val="1C5CAB"/>
                    </a:solidFill>
                  </a:tcPr>
                </a:tc>
                <a:tc>
                  <a:txBody>
                    <a:bodyPr/>
                    <a:lstStyle/>
                    <a:p>
                      <a:pPr algn="ctr">
                        <a:defRPr sz="1100" b="1">
                          <a:solidFill>
                            <a:srgbClr val="FFFFFF"/>
                          </a:solidFill>
                          <a:latin typeface="Calibri"/>
                        </a:defRPr>
                      </a:pPr>
                      <a:r>
                        <a:t>OSF (17)</a:t>
                      </a:r>
                    </a:p>
                  </a:txBody>
                  <a:tcPr marL="54864" marR="54864" marT="18288" marB="18288" anchor="ctr">
                    <a:solidFill>
                      <a:srgbClr val="1C5CAB"/>
                    </a:solidFill>
                  </a:tcPr>
                </a:tc>
              </a:tr>
              <a:tr h="329184">
                <a:tc>
                  <a:txBody>
                    <a:bodyPr/>
                    <a:lstStyle/>
                    <a:p>
                      <a:pPr algn="l">
                        <a:defRPr sz="1100" b="0">
                          <a:solidFill>
                            <a:srgbClr val="0B0B0B"/>
                          </a:solidFill>
                          <a:latin typeface="Calibri"/>
                        </a:defRPr>
                      </a:pPr>
                      <a:r>
                        <a:t>hgb</a:t>
                      </a:r>
                    </a:p>
                  </a:txBody>
                  <a:tcPr marL="54864" marR="54864" marT="18288" marB="18288" anchor="ctr">
                    <a:solidFill>
                      <a:srgbClr val="FFFFFF"/>
                    </a:solidFill>
                  </a:tcPr>
                </a:tc>
                <a:tc>
                  <a:txBody>
                    <a:bodyPr/>
                    <a:lstStyle/>
                    <a:p>
                      <a:pPr algn="ctr">
                        <a:defRPr sz="1100" b="0">
                          <a:solidFill>
                            <a:srgbClr val="0B0B0B"/>
                          </a:solidFill>
                          <a:latin typeface="Calibri"/>
                        </a:defRPr>
                      </a:pPr>
                      <a:r>
                        <a:t>split</a:t>
                      </a:r>
                    </a:p>
                  </a:txBody>
                  <a:tcPr marL="54864" marR="54864" marT="18288" marB="18288" anchor="ctr">
                    <a:solidFill>
                      <a:srgbClr val="FFFFFF"/>
                    </a:solidFill>
                  </a:tcPr>
                </a:tc>
                <a:tc>
                  <a:txBody>
                    <a:bodyPr/>
                    <a:lstStyle/>
                    <a:p>
                      <a:pPr algn="ctr">
                        <a:defRPr sz="1100" b="0">
                          <a:solidFill>
                            <a:srgbClr val="0B0B0B"/>
                          </a:solidFill>
                          <a:latin typeface="Calibri"/>
                        </a:defRPr>
                      </a:pPr>
                      <a:r>
                        <a:t>0.05</a:t>
                      </a:r>
                    </a:p>
                  </a:txBody>
                  <a:tcPr marL="54864" marR="54864" marT="18288" marB="18288" anchor="ctr">
                    <a:solidFill>
                      <a:srgbClr val="FFFFFF"/>
                    </a:solidFill>
                  </a:tcPr>
                </a:tc>
                <a:tc>
                  <a:txBody>
                    <a:bodyPr/>
                    <a:lstStyle/>
                    <a:p>
                      <a:pPr algn="ctr">
                        <a:defRPr sz="1100" b="0">
                          <a:solidFill>
                            <a:srgbClr val="0B0B0B"/>
                          </a:solidFill>
                          <a:latin typeface="Calibri"/>
                        </a:defRPr>
                      </a:pPr>
                      <a:r>
                        <a:t>0.977</a:t>
                      </a:r>
                    </a:p>
                  </a:txBody>
                  <a:tcPr marL="54864" marR="54864" marT="18288" marB="18288" anchor="ctr">
                    <a:solidFill>
                      <a:srgbClr val="FFFFFF"/>
                    </a:solidFill>
                  </a:tcPr>
                </a:tc>
                <a:tc>
                  <a:txBody>
                    <a:bodyPr/>
                    <a:lstStyle/>
                    <a:p>
                      <a:pPr algn="ctr">
                        <a:defRPr sz="1100" b="0">
                          <a:solidFill>
                            <a:srgbClr val="0B0B0B"/>
                          </a:solidFill>
                          <a:latin typeface="Calibri"/>
                        </a:defRPr>
                      </a:pPr>
                      <a:r>
                        <a:t>0.000</a:t>
                      </a:r>
                    </a:p>
                  </a:txBody>
                  <a:tcPr marL="54864" marR="54864" marT="18288" marB="18288" anchor="ctr">
                    <a:solidFill>
                      <a:srgbClr val="FFFFFF"/>
                    </a:solidFill>
                  </a:tcPr>
                </a:tc>
                <a:tc>
                  <a:txBody>
                    <a:bodyPr/>
                    <a:lstStyle/>
                    <a:p>
                      <a:pPr algn="ctr">
                        <a:defRPr sz="1100" b="0">
                          <a:solidFill>
                            <a:srgbClr val="0B0B0B"/>
                          </a:solidFill>
                          <a:latin typeface="Calibri"/>
                        </a:defRPr>
                      </a:pPr>
                      <a:r>
                        <a:t>0.714</a:t>
                      </a:r>
                    </a:p>
                  </a:txBody>
                  <a:tcPr marL="54864" marR="54864" marT="18288" marB="18288" anchor="ctr">
                    <a:solidFill>
                      <a:srgbClr val="FFFFFF"/>
                    </a:solidFill>
                  </a:tcPr>
                </a:tc>
                <a:tc>
                  <a:txBody>
                    <a:bodyPr/>
                    <a:lstStyle/>
                    <a:p>
                      <a:pPr algn="ctr">
                        <a:defRPr sz="1100" b="0">
                          <a:solidFill>
                            <a:srgbClr val="0B0B0B"/>
                          </a:solidFill>
                          <a:latin typeface="Calibri"/>
                        </a:defRPr>
                      </a:pPr>
                      <a:r>
                        <a:t>0.000</a:t>
                      </a:r>
                    </a:p>
                  </a:txBody>
                  <a:tcPr marL="54864" marR="54864" marT="18288" marB="18288" anchor="ctr">
                    <a:solidFill>
                      <a:srgbClr val="FFFFFF"/>
                    </a:solidFill>
                  </a:tcPr>
                </a:tc>
                <a:tc>
                  <a:txBody>
                    <a:bodyPr/>
                    <a:lstStyle/>
                    <a:p>
                      <a:pPr algn="ctr">
                        <a:defRPr sz="1100" b="0">
                          <a:solidFill>
                            <a:srgbClr val="0B0B0B"/>
                          </a:solidFill>
                          <a:latin typeface="Calibri"/>
                        </a:defRPr>
                      </a:pPr>
                      <a:r>
                        <a:t>0.235</a:t>
                      </a:r>
                    </a:p>
                  </a:txBody>
                  <a:tcPr marL="54864" marR="54864" marT="18288" marB="18288" anchor="ctr">
                    <a:solidFill>
                      <a:srgbClr val="FFFFFF"/>
                    </a:solidFill>
                  </a:tcPr>
                </a:tc>
              </a:tr>
              <a:tr h="329184">
                <a:tc>
                  <a:txBody>
                    <a:bodyPr/>
                    <a:lstStyle/>
                    <a:p>
                      <a:pPr algn="l">
                        <a:defRPr sz="1100" b="0">
                          <a:solidFill>
                            <a:srgbClr val="0B0B0B"/>
                          </a:solidFill>
                          <a:latin typeface="Calibri"/>
                        </a:defRPr>
                      </a:pPr>
                      <a:r>
                        <a:t>hgb</a:t>
                      </a:r>
                    </a:p>
                  </a:txBody>
                  <a:tcPr marL="54864" marR="54864" marT="18288" marB="18288" anchor="ctr">
                    <a:solidFill>
                      <a:srgbClr val="EEF1F6"/>
                    </a:solidFill>
                  </a:tcPr>
                </a:tc>
                <a:tc>
                  <a:txBody>
                    <a:bodyPr/>
                    <a:lstStyle/>
                    <a:p>
                      <a:pPr algn="ctr">
                        <a:defRPr sz="1100" b="0">
                          <a:solidFill>
                            <a:srgbClr val="0B0B0B"/>
                          </a:solidFill>
                          <a:latin typeface="Calibri"/>
                        </a:defRPr>
                      </a:pPr>
                      <a:r>
                        <a:t>mondrian</a:t>
                      </a:r>
                    </a:p>
                  </a:txBody>
                  <a:tcPr marL="54864" marR="54864" marT="18288" marB="18288" anchor="ctr">
                    <a:solidFill>
                      <a:srgbClr val="EEF1F6"/>
                    </a:solidFill>
                  </a:tcPr>
                </a:tc>
                <a:tc>
                  <a:txBody>
                    <a:bodyPr/>
                    <a:lstStyle/>
                    <a:p>
                      <a:pPr algn="ctr">
                        <a:defRPr sz="1100" b="0">
                          <a:solidFill>
                            <a:srgbClr val="0B0B0B"/>
                          </a:solidFill>
                          <a:latin typeface="Calibri"/>
                        </a:defRPr>
                      </a:pPr>
                      <a:r>
                        <a:t>0.05</a:t>
                      </a:r>
                    </a:p>
                  </a:txBody>
                  <a:tcPr marL="54864" marR="54864" marT="18288" marB="18288" anchor="ctr">
                    <a:solidFill>
                      <a:srgbClr val="EEF1F6"/>
                    </a:solidFill>
                  </a:tcPr>
                </a:tc>
                <a:tc>
                  <a:txBody>
                    <a:bodyPr/>
                    <a:lstStyle/>
                    <a:p>
                      <a:pPr algn="ctr">
                        <a:defRPr sz="1100" b="0">
                          <a:solidFill>
                            <a:srgbClr val="0B0B0B"/>
                          </a:solidFill>
                          <a:latin typeface="Calibri"/>
                        </a:defRPr>
                      </a:pPr>
                      <a:r>
                        <a:t>0.958</a:t>
                      </a:r>
                    </a:p>
                  </a:txBody>
                  <a:tcPr marL="54864" marR="54864" marT="18288" marB="18288" anchor="ctr">
                    <a:solidFill>
                      <a:srgbClr val="EEF1F6"/>
                    </a:solidFill>
                  </a:tcPr>
                </a:tc>
                <a:tc>
                  <a:txBody>
                    <a:bodyPr/>
                    <a:lstStyle/>
                    <a:p>
                      <a:pPr algn="ctr">
                        <a:defRPr sz="1100" b="0">
                          <a:solidFill>
                            <a:srgbClr val="0B0B0B"/>
                          </a:solidFill>
                          <a:latin typeface="Calibri"/>
                        </a:defRPr>
                      </a:pPr>
                      <a:r>
                        <a:t>1.000</a:t>
                      </a:r>
                    </a:p>
                  </a:txBody>
                  <a:tcPr marL="54864" marR="54864" marT="18288" marB="18288" anchor="ctr">
                    <a:solidFill>
                      <a:srgbClr val="EEF1F6"/>
                    </a:solidFill>
                  </a:tcPr>
                </a:tc>
                <a:tc>
                  <a:txBody>
                    <a:bodyPr/>
                    <a:lstStyle/>
                    <a:p>
                      <a:pPr algn="ctr">
                        <a:defRPr sz="1100" b="0">
                          <a:solidFill>
                            <a:srgbClr val="0B0B0B"/>
                          </a:solidFill>
                          <a:latin typeface="Calibri"/>
                        </a:defRPr>
                      </a:pPr>
                      <a:r>
                        <a:t>0.952</a:t>
                      </a:r>
                    </a:p>
                  </a:txBody>
                  <a:tcPr marL="54864" marR="54864" marT="18288" marB="18288" anchor="ctr">
                    <a:solidFill>
                      <a:srgbClr val="EEF1F6"/>
                    </a:solidFill>
                  </a:tcPr>
                </a:tc>
                <a:tc>
                  <a:txBody>
                    <a:bodyPr/>
                    <a:lstStyle/>
                    <a:p>
                      <a:pPr algn="ctr">
                        <a:defRPr sz="1100" b="0">
                          <a:solidFill>
                            <a:srgbClr val="0B0B0B"/>
                          </a:solidFill>
                          <a:latin typeface="Calibri"/>
                        </a:defRPr>
                      </a:pPr>
                      <a:r>
                        <a:t>1.000</a:t>
                      </a:r>
                    </a:p>
                  </a:txBody>
                  <a:tcPr marL="54864" marR="54864" marT="18288" marB="18288" anchor="ctr">
                    <a:solidFill>
                      <a:srgbClr val="EEF1F6"/>
                    </a:solidFill>
                  </a:tcPr>
                </a:tc>
                <a:tc>
                  <a:txBody>
                    <a:bodyPr/>
                    <a:lstStyle/>
                    <a:p>
                      <a:pPr algn="ctr">
                        <a:defRPr sz="1100" b="0">
                          <a:solidFill>
                            <a:srgbClr val="0B0B0B"/>
                          </a:solidFill>
                          <a:latin typeface="Calibri"/>
                        </a:defRPr>
                      </a:pPr>
                      <a:r>
                        <a:t>1.000</a:t>
                      </a:r>
                    </a:p>
                  </a:txBody>
                  <a:tcPr marL="54864" marR="54864" marT="18288" marB="18288" anchor="ctr">
                    <a:solidFill>
                      <a:srgbClr val="EEF1F6"/>
                    </a:solidFill>
                  </a:tcPr>
                </a:tc>
              </a:tr>
              <a:tr h="329184">
                <a:tc>
                  <a:txBody>
                    <a:bodyPr/>
                    <a:lstStyle/>
                    <a:p>
                      <a:pPr algn="l">
                        <a:defRPr sz="1100" b="0">
                          <a:solidFill>
                            <a:srgbClr val="0B0B0B"/>
                          </a:solidFill>
                          <a:latin typeface="Calibri"/>
                        </a:defRPr>
                      </a:pPr>
                      <a:r>
                        <a:t>hgb</a:t>
                      </a:r>
                    </a:p>
                  </a:txBody>
                  <a:tcPr marL="54864" marR="54864" marT="18288" marB="18288" anchor="ctr">
                    <a:solidFill>
                      <a:srgbClr val="FFFFFF"/>
                    </a:solidFill>
                  </a:tcPr>
                </a:tc>
                <a:tc>
                  <a:txBody>
                    <a:bodyPr/>
                    <a:lstStyle/>
                    <a:p>
                      <a:pPr algn="ctr">
                        <a:defRPr sz="1100" b="0">
                          <a:solidFill>
                            <a:srgbClr val="0B0B0B"/>
                          </a:solidFill>
                          <a:latin typeface="Calibri"/>
                        </a:defRPr>
                      </a:pPr>
                      <a:r>
                        <a:t>split</a:t>
                      </a:r>
                    </a:p>
                  </a:txBody>
                  <a:tcPr marL="54864" marR="54864" marT="18288" marB="18288" anchor="ctr">
                    <a:solidFill>
                      <a:srgbClr val="FFFFFF"/>
                    </a:solidFill>
                  </a:tcPr>
                </a:tc>
                <a:tc>
                  <a:txBody>
                    <a:bodyPr/>
                    <a:lstStyle/>
                    <a:p>
                      <a:pPr algn="ctr">
                        <a:defRPr sz="1100" b="0">
                          <a:solidFill>
                            <a:srgbClr val="0B0B0B"/>
                          </a:solidFill>
                          <a:latin typeface="Calibri"/>
                        </a:defRPr>
                      </a:pPr>
                      <a:r>
                        <a:t>0.10</a:t>
                      </a:r>
                    </a:p>
                  </a:txBody>
                  <a:tcPr marL="54864" marR="54864" marT="18288" marB="18288" anchor="ctr">
                    <a:solidFill>
                      <a:srgbClr val="FFFFFF"/>
                    </a:solidFill>
                  </a:tcPr>
                </a:tc>
                <a:tc>
                  <a:txBody>
                    <a:bodyPr/>
                    <a:lstStyle/>
                    <a:p>
                      <a:pPr algn="ctr">
                        <a:defRPr sz="1100" b="0">
                          <a:solidFill>
                            <a:srgbClr val="0B0B0B"/>
                          </a:solidFill>
                          <a:latin typeface="Calibri"/>
                        </a:defRPr>
                      </a:pPr>
                      <a:r>
                        <a:t>0.938</a:t>
                      </a:r>
                    </a:p>
                  </a:txBody>
                  <a:tcPr marL="54864" marR="54864" marT="18288" marB="18288" anchor="ctr">
                    <a:solidFill>
                      <a:srgbClr val="FFFFFF"/>
                    </a:solidFill>
                  </a:tcPr>
                </a:tc>
                <a:tc>
                  <a:txBody>
                    <a:bodyPr/>
                    <a:lstStyle/>
                    <a:p>
                      <a:pPr algn="ctr">
                        <a:defRPr sz="1100" b="0">
                          <a:solidFill>
                            <a:srgbClr val="0B0B0B"/>
                          </a:solidFill>
                          <a:latin typeface="Calibri"/>
                        </a:defRPr>
                      </a:pPr>
                      <a:r>
                        <a:t>0.000</a:t>
                      </a:r>
                    </a:p>
                  </a:txBody>
                  <a:tcPr marL="54864" marR="54864" marT="18288" marB="18288" anchor="ctr">
                    <a:solidFill>
                      <a:srgbClr val="FFFFFF"/>
                    </a:solidFill>
                  </a:tcPr>
                </a:tc>
                <a:tc>
                  <a:txBody>
                    <a:bodyPr/>
                    <a:lstStyle/>
                    <a:p>
                      <a:pPr algn="ctr">
                        <a:defRPr sz="1100" b="0">
                          <a:solidFill>
                            <a:srgbClr val="0B0B0B"/>
                          </a:solidFill>
                          <a:latin typeface="Calibri"/>
                        </a:defRPr>
                      </a:pPr>
                      <a:r>
                        <a:t>0.143</a:t>
                      </a:r>
                    </a:p>
                  </a:txBody>
                  <a:tcPr marL="54864" marR="54864" marT="18288" marB="18288" anchor="ctr">
                    <a:solidFill>
                      <a:srgbClr val="FFFFFF"/>
                    </a:solidFill>
                  </a:tcPr>
                </a:tc>
                <a:tc>
                  <a:txBody>
                    <a:bodyPr/>
                    <a:lstStyle/>
                    <a:p>
                      <a:pPr algn="ctr">
                        <a:defRPr sz="1100" b="0">
                          <a:solidFill>
                            <a:srgbClr val="0B0B0B"/>
                          </a:solidFill>
                          <a:latin typeface="Calibri"/>
                        </a:defRPr>
                      </a:pPr>
                      <a:r>
                        <a:t>0.000</a:t>
                      </a:r>
                    </a:p>
                  </a:txBody>
                  <a:tcPr marL="54864" marR="54864" marT="18288" marB="18288" anchor="ctr">
                    <a:solidFill>
                      <a:srgbClr val="FFFFFF"/>
                    </a:solidFill>
                  </a:tcPr>
                </a:tc>
                <a:tc>
                  <a:txBody>
                    <a:bodyPr/>
                    <a:lstStyle/>
                    <a:p>
                      <a:pPr algn="ctr">
                        <a:defRPr sz="1100" b="0">
                          <a:solidFill>
                            <a:srgbClr val="0B0B0B"/>
                          </a:solidFill>
                          <a:latin typeface="Calibri"/>
                        </a:defRPr>
                      </a:pPr>
                      <a:r>
                        <a:t>0.059</a:t>
                      </a:r>
                    </a:p>
                  </a:txBody>
                  <a:tcPr marL="54864" marR="54864" marT="18288" marB="18288" anchor="ctr">
                    <a:solidFill>
                      <a:srgbClr val="FFFFFF"/>
                    </a:solidFill>
                  </a:tcPr>
                </a:tc>
              </a:tr>
              <a:tr h="329184">
                <a:tc>
                  <a:txBody>
                    <a:bodyPr/>
                    <a:lstStyle/>
                    <a:p>
                      <a:pPr algn="l">
                        <a:defRPr sz="1100" b="0">
                          <a:solidFill>
                            <a:srgbClr val="0B0B0B"/>
                          </a:solidFill>
                          <a:latin typeface="Calibri"/>
                        </a:defRPr>
                      </a:pPr>
                      <a:r>
                        <a:t>hgb</a:t>
                      </a:r>
                    </a:p>
                  </a:txBody>
                  <a:tcPr marL="54864" marR="54864" marT="18288" marB="18288" anchor="ctr">
                    <a:solidFill>
                      <a:srgbClr val="EEF1F6"/>
                    </a:solidFill>
                  </a:tcPr>
                </a:tc>
                <a:tc>
                  <a:txBody>
                    <a:bodyPr/>
                    <a:lstStyle/>
                    <a:p>
                      <a:pPr algn="ctr">
                        <a:defRPr sz="1100" b="0">
                          <a:solidFill>
                            <a:srgbClr val="0B0B0B"/>
                          </a:solidFill>
                          <a:latin typeface="Calibri"/>
                        </a:defRPr>
                      </a:pPr>
                      <a:r>
                        <a:t>mondrian</a:t>
                      </a:r>
                    </a:p>
                  </a:txBody>
                  <a:tcPr marL="54864" marR="54864" marT="18288" marB="18288" anchor="ctr">
                    <a:solidFill>
                      <a:srgbClr val="EEF1F6"/>
                    </a:solidFill>
                  </a:tcPr>
                </a:tc>
                <a:tc>
                  <a:txBody>
                    <a:bodyPr/>
                    <a:lstStyle/>
                    <a:p>
                      <a:pPr algn="ctr">
                        <a:defRPr sz="1100" b="0">
                          <a:solidFill>
                            <a:srgbClr val="0B0B0B"/>
                          </a:solidFill>
                          <a:latin typeface="Calibri"/>
                        </a:defRPr>
                      </a:pPr>
                      <a:r>
                        <a:t>0.10</a:t>
                      </a:r>
                    </a:p>
                  </a:txBody>
                  <a:tcPr marL="54864" marR="54864" marT="18288" marB="18288" anchor="ctr">
                    <a:solidFill>
                      <a:srgbClr val="EEF1F6"/>
                    </a:solidFill>
                  </a:tcPr>
                </a:tc>
                <a:tc>
                  <a:txBody>
                    <a:bodyPr/>
                    <a:lstStyle/>
                    <a:p>
                      <a:pPr algn="ctr">
                        <a:defRPr sz="1100" b="0">
                          <a:solidFill>
                            <a:srgbClr val="0B0B0B"/>
                          </a:solidFill>
                          <a:latin typeface="Calibri"/>
                        </a:defRPr>
                      </a:pPr>
                      <a:r>
                        <a:t>0.915</a:t>
                      </a:r>
                    </a:p>
                  </a:txBody>
                  <a:tcPr marL="54864" marR="54864" marT="18288" marB="18288" anchor="ctr">
                    <a:solidFill>
                      <a:srgbClr val="EEF1F6"/>
                    </a:solidFill>
                  </a:tcPr>
                </a:tc>
                <a:tc>
                  <a:txBody>
                    <a:bodyPr/>
                    <a:lstStyle/>
                    <a:p>
                      <a:pPr algn="ctr">
                        <a:defRPr sz="1100" b="0">
                          <a:solidFill>
                            <a:srgbClr val="0B0B0B"/>
                          </a:solidFill>
                          <a:latin typeface="Calibri"/>
                        </a:defRPr>
                      </a:pPr>
                      <a:r>
                        <a:t>1.000</a:t>
                      </a:r>
                    </a:p>
                  </a:txBody>
                  <a:tcPr marL="54864" marR="54864" marT="18288" marB="18288" anchor="ctr">
                    <a:solidFill>
                      <a:srgbClr val="EEF1F6"/>
                    </a:solidFill>
                  </a:tcPr>
                </a:tc>
                <a:tc>
                  <a:txBody>
                    <a:bodyPr/>
                    <a:lstStyle/>
                    <a:p>
                      <a:pPr algn="ctr">
                        <a:defRPr sz="1100" b="0">
                          <a:solidFill>
                            <a:srgbClr val="0B0B0B"/>
                          </a:solidFill>
                          <a:latin typeface="Calibri"/>
                        </a:defRPr>
                      </a:pPr>
                      <a:r>
                        <a:t>0.952</a:t>
                      </a:r>
                    </a:p>
                  </a:txBody>
                  <a:tcPr marL="54864" marR="54864" marT="18288" marB="18288" anchor="ctr">
                    <a:solidFill>
                      <a:srgbClr val="EEF1F6"/>
                    </a:solidFill>
                  </a:tcPr>
                </a:tc>
                <a:tc>
                  <a:txBody>
                    <a:bodyPr/>
                    <a:lstStyle/>
                    <a:p>
                      <a:pPr algn="ctr">
                        <a:defRPr sz="1100" b="0">
                          <a:solidFill>
                            <a:srgbClr val="0B0B0B"/>
                          </a:solidFill>
                          <a:latin typeface="Calibri"/>
                        </a:defRPr>
                      </a:pPr>
                      <a:r>
                        <a:t>1.000</a:t>
                      </a:r>
                    </a:p>
                  </a:txBody>
                  <a:tcPr marL="54864" marR="54864" marT="18288" marB="18288" anchor="ctr">
                    <a:solidFill>
                      <a:srgbClr val="EEF1F6"/>
                    </a:solidFill>
                  </a:tcPr>
                </a:tc>
                <a:tc>
                  <a:txBody>
                    <a:bodyPr/>
                    <a:lstStyle/>
                    <a:p>
                      <a:pPr algn="ctr">
                        <a:defRPr sz="1100" b="0">
                          <a:solidFill>
                            <a:srgbClr val="0B0B0B"/>
                          </a:solidFill>
                          <a:latin typeface="Calibri"/>
                        </a:defRPr>
                      </a:pPr>
                      <a:r>
                        <a:t>1.000</a:t>
                      </a:r>
                    </a:p>
                  </a:txBody>
                  <a:tcPr marL="54864" marR="54864" marT="18288" marB="18288" anchor="ctr">
                    <a:solidFill>
                      <a:srgbClr val="EEF1F6"/>
                    </a:solidFill>
                  </a:tcPr>
                </a:tc>
              </a:tr>
              <a:tr h="329184">
                <a:tc>
                  <a:txBody>
                    <a:bodyPr/>
                    <a:lstStyle/>
                    <a:p>
                      <a:pPr algn="l">
                        <a:defRPr sz="1100" b="0">
                          <a:solidFill>
                            <a:srgbClr val="0B0B0B"/>
                          </a:solidFill>
                          <a:latin typeface="Calibri"/>
                        </a:defRPr>
                      </a:pPr>
                      <a:r>
                        <a:t>hgb</a:t>
                      </a:r>
                    </a:p>
                  </a:txBody>
                  <a:tcPr marL="54864" marR="54864" marT="18288" marB="18288" anchor="ctr">
                    <a:solidFill>
                      <a:srgbClr val="FFFFFF"/>
                    </a:solidFill>
                  </a:tcPr>
                </a:tc>
                <a:tc>
                  <a:txBody>
                    <a:bodyPr/>
                    <a:lstStyle/>
                    <a:p>
                      <a:pPr algn="ctr">
                        <a:defRPr sz="1100" b="0">
                          <a:solidFill>
                            <a:srgbClr val="0B0B0B"/>
                          </a:solidFill>
                          <a:latin typeface="Calibri"/>
                        </a:defRPr>
                      </a:pPr>
                      <a:r>
                        <a:t>split</a:t>
                      </a:r>
                    </a:p>
                  </a:txBody>
                  <a:tcPr marL="54864" marR="54864" marT="18288" marB="18288" anchor="ctr">
                    <a:solidFill>
                      <a:srgbClr val="FFFFFF"/>
                    </a:solidFill>
                  </a:tcPr>
                </a:tc>
                <a:tc>
                  <a:txBody>
                    <a:bodyPr/>
                    <a:lstStyle/>
                    <a:p>
                      <a:pPr algn="ctr">
                        <a:defRPr sz="1100" b="0">
                          <a:solidFill>
                            <a:srgbClr val="0B0B0B"/>
                          </a:solidFill>
                          <a:latin typeface="Calibri"/>
                        </a:defRPr>
                      </a:pPr>
                      <a:r>
                        <a:t>0.20</a:t>
                      </a:r>
                    </a:p>
                  </a:txBody>
                  <a:tcPr marL="54864" marR="54864" marT="18288" marB="18288" anchor="ctr">
                    <a:solidFill>
                      <a:srgbClr val="FFFFFF"/>
                    </a:solidFill>
                  </a:tcPr>
                </a:tc>
                <a:tc>
                  <a:txBody>
                    <a:bodyPr/>
                    <a:lstStyle/>
                    <a:p>
                      <a:pPr algn="ctr">
                        <a:defRPr sz="1100" b="0">
                          <a:solidFill>
                            <a:srgbClr val="0B0B0B"/>
                          </a:solidFill>
                          <a:latin typeface="Calibri"/>
                        </a:defRPr>
                      </a:pPr>
                      <a:r>
                        <a:t>0.827</a:t>
                      </a:r>
                    </a:p>
                  </a:txBody>
                  <a:tcPr marL="54864" marR="54864" marT="18288" marB="18288" anchor="ctr">
                    <a:solidFill>
                      <a:srgbClr val="FFFFFF"/>
                    </a:solidFill>
                  </a:tcPr>
                </a:tc>
                <a:tc>
                  <a:txBody>
                    <a:bodyPr/>
                    <a:lstStyle/>
                    <a:p>
                      <a:pPr algn="ctr">
                        <a:defRPr sz="1100" b="0">
                          <a:solidFill>
                            <a:srgbClr val="0B0B0B"/>
                          </a:solidFill>
                          <a:latin typeface="Calibri"/>
                        </a:defRPr>
                      </a:pPr>
                      <a:r>
                        <a:t>0.000</a:t>
                      </a:r>
                    </a:p>
                  </a:txBody>
                  <a:tcPr marL="54864" marR="54864" marT="18288" marB="18288" anchor="ctr">
                    <a:solidFill>
                      <a:srgbClr val="FFFFFF"/>
                    </a:solidFill>
                  </a:tcPr>
                </a:tc>
                <a:tc>
                  <a:txBody>
                    <a:bodyPr/>
                    <a:lstStyle/>
                    <a:p>
                      <a:pPr algn="ctr">
                        <a:defRPr sz="1100" b="0">
                          <a:solidFill>
                            <a:srgbClr val="0B0B0B"/>
                          </a:solidFill>
                          <a:latin typeface="Calibri"/>
                        </a:defRPr>
                      </a:pPr>
                      <a:r>
                        <a:t>0.000</a:t>
                      </a:r>
                    </a:p>
                  </a:txBody>
                  <a:tcPr marL="54864" marR="54864" marT="18288" marB="18288" anchor="ctr">
                    <a:solidFill>
                      <a:srgbClr val="FFFFFF"/>
                    </a:solidFill>
                  </a:tcPr>
                </a:tc>
                <a:tc>
                  <a:txBody>
                    <a:bodyPr/>
                    <a:lstStyle/>
                    <a:p>
                      <a:pPr algn="ctr">
                        <a:defRPr sz="1100" b="0">
                          <a:solidFill>
                            <a:srgbClr val="0B0B0B"/>
                          </a:solidFill>
                          <a:latin typeface="Calibri"/>
                        </a:defRPr>
                      </a:pPr>
                      <a:r>
                        <a:t>0.000</a:t>
                      </a:r>
                    </a:p>
                  </a:txBody>
                  <a:tcPr marL="54864" marR="54864" marT="18288" marB="18288" anchor="ctr">
                    <a:solidFill>
                      <a:srgbClr val="FFFFFF"/>
                    </a:solidFill>
                  </a:tcPr>
                </a:tc>
                <a:tc>
                  <a:txBody>
                    <a:bodyPr/>
                    <a:lstStyle/>
                    <a:p>
                      <a:pPr algn="ctr">
                        <a:defRPr sz="1100" b="0">
                          <a:solidFill>
                            <a:srgbClr val="0B0B0B"/>
                          </a:solidFill>
                          <a:latin typeface="Calibri"/>
                        </a:defRPr>
                      </a:pPr>
                      <a:r>
                        <a:t>0.059</a:t>
                      </a:r>
                    </a:p>
                  </a:txBody>
                  <a:tcPr marL="54864" marR="54864" marT="18288" marB="18288" anchor="ctr">
                    <a:solidFill>
                      <a:srgbClr val="FFFFFF"/>
                    </a:solidFill>
                  </a:tcPr>
                </a:tc>
              </a:tr>
              <a:tr h="329184">
                <a:tc>
                  <a:txBody>
                    <a:bodyPr/>
                    <a:lstStyle/>
                    <a:p>
                      <a:pPr algn="l">
                        <a:defRPr sz="1100" b="0">
                          <a:solidFill>
                            <a:srgbClr val="0B0B0B"/>
                          </a:solidFill>
                          <a:latin typeface="Calibri"/>
                        </a:defRPr>
                      </a:pPr>
                      <a:r>
                        <a:t>hgb</a:t>
                      </a:r>
                    </a:p>
                  </a:txBody>
                  <a:tcPr marL="54864" marR="54864" marT="18288" marB="18288" anchor="ctr">
                    <a:solidFill>
                      <a:srgbClr val="EEF1F6"/>
                    </a:solidFill>
                  </a:tcPr>
                </a:tc>
                <a:tc>
                  <a:txBody>
                    <a:bodyPr/>
                    <a:lstStyle/>
                    <a:p>
                      <a:pPr algn="ctr">
                        <a:defRPr sz="1100" b="0">
                          <a:solidFill>
                            <a:srgbClr val="0B0B0B"/>
                          </a:solidFill>
                          <a:latin typeface="Calibri"/>
                        </a:defRPr>
                      </a:pPr>
                      <a:r>
                        <a:t>mondrian</a:t>
                      </a:r>
                    </a:p>
                  </a:txBody>
                  <a:tcPr marL="54864" marR="54864" marT="18288" marB="18288" anchor="ctr">
                    <a:solidFill>
                      <a:srgbClr val="EEF1F6"/>
                    </a:solidFill>
                  </a:tcPr>
                </a:tc>
                <a:tc>
                  <a:txBody>
                    <a:bodyPr/>
                    <a:lstStyle/>
                    <a:p>
                      <a:pPr algn="ctr">
                        <a:defRPr sz="1100" b="0">
                          <a:solidFill>
                            <a:srgbClr val="0B0B0B"/>
                          </a:solidFill>
                          <a:latin typeface="Calibri"/>
                        </a:defRPr>
                      </a:pPr>
                      <a:r>
                        <a:t>0.20</a:t>
                      </a:r>
                    </a:p>
                  </a:txBody>
                  <a:tcPr marL="54864" marR="54864" marT="18288" marB="18288" anchor="ctr">
                    <a:solidFill>
                      <a:srgbClr val="EEF1F6"/>
                    </a:solidFill>
                  </a:tcPr>
                </a:tc>
                <a:tc>
                  <a:txBody>
                    <a:bodyPr/>
                    <a:lstStyle/>
                    <a:p>
                      <a:pPr algn="ctr">
                        <a:defRPr sz="1100" b="0">
                          <a:solidFill>
                            <a:srgbClr val="0B0B0B"/>
                          </a:solidFill>
                          <a:latin typeface="Calibri"/>
                        </a:defRPr>
                      </a:pPr>
                      <a:r>
                        <a:t>0.795</a:t>
                      </a:r>
                    </a:p>
                  </a:txBody>
                  <a:tcPr marL="54864" marR="54864" marT="18288" marB="18288" anchor="ctr">
                    <a:solidFill>
                      <a:srgbClr val="EEF1F6"/>
                    </a:solidFill>
                  </a:tcPr>
                </a:tc>
                <a:tc>
                  <a:txBody>
                    <a:bodyPr/>
                    <a:lstStyle/>
                    <a:p>
                      <a:pPr algn="ctr">
                        <a:defRPr sz="1100" b="0">
                          <a:solidFill>
                            <a:srgbClr val="0B0B0B"/>
                          </a:solidFill>
                          <a:latin typeface="Calibri"/>
                        </a:defRPr>
                      </a:pPr>
                      <a:r>
                        <a:t>0.778</a:t>
                      </a:r>
                    </a:p>
                  </a:txBody>
                  <a:tcPr marL="54864" marR="54864" marT="18288" marB="18288" anchor="ctr">
                    <a:solidFill>
                      <a:srgbClr val="EEF1F6"/>
                    </a:solidFill>
                  </a:tcPr>
                </a:tc>
                <a:tc>
                  <a:txBody>
                    <a:bodyPr/>
                    <a:lstStyle/>
                    <a:p>
                      <a:pPr algn="ctr">
                        <a:defRPr sz="1100" b="0">
                          <a:solidFill>
                            <a:srgbClr val="0B0B0B"/>
                          </a:solidFill>
                          <a:latin typeface="Calibri"/>
                        </a:defRPr>
                      </a:pPr>
                      <a:r>
                        <a:t>0.952</a:t>
                      </a:r>
                    </a:p>
                  </a:txBody>
                  <a:tcPr marL="54864" marR="54864" marT="18288" marB="18288" anchor="ctr">
                    <a:solidFill>
                      <a:srgbClr val="EEF1F6"/>
                    </a:solidFill>
                  </a:tcPr>
                </a:tc>
                <a:tc>
                  <a:txBody>
                    <a:bodyPr/>
                    <a:lstStyle/>
                    <a:p>
                      <a:pPr algn="ctr">
                        <a:defRPr sz="1100" b="0">
                          <a:solidFill>
                            <a:srgbClr val="0B0B0B"/>
                          </a:solidFill>
                          <a:latin typeface="Calibri"/>
                        </a:defRPr>
                      </a:pPr>
                      <a:r>
                        <a:t>0.842</a:t>
                      </a:r>
                    </a:p>
                  </a:txBody>
                  <a:tcPr marL="54864" marR="54864" marT="18288" marB="18288" anchor="ctr">
                    <a:solidFill>
                      <a:srgbClr val="EEF1F6"/>
                    </a:solidFill>
                  </a:tcPr>
                </a:tc>
                <a:tc>
                  <a:txBody>
                    <a:bodyPr/>
                    <a:lstStyle/>
                    <a:p>
                      <a:pPr algn="ctr">
                        <a:defRPr sz="1100" b="0">
                          <a:solidFill>
                            <a:srgbClr val="0B0B0B"/>
                          </a:solidFill>
                          <a:latin typeface="Calibri"/>
                        </a:defRPr>
                      </a:pPr>
                      <a:r>
                        <a:t>1.000</a:t>
                      </a:r>
                    </a:p>
                  </a:txBody>
                  <a:tcPr marL="54864" marR="54864" marT="18288" marB="18288" anchor="ctr">
                    <a:solidFill>
                      <a:srgbClr val="EEF1F6"/>
                    </a:solidFill>
                  </a:tcPr>
                </a:tc>
              </a:tr>
              <a:tr h="329184">
                <a:tc>
                  <a:txBody>
                    <a:bodyPr/>
                    <a:lstStyle/>
                    <a:p>
                      <a:pPr algn="l">
                        <a:defRPr sz="1100" b="0">
                          <a:solidFill>
                            <a:srgbClr val="0B0B0B"/>
                          </a:solidFill>
                          <a:latin typeface="Calibri"/>
                        </a:defRPr>
                      </a:pPr>
                      <a:r>
                        <a:t>mlp</a:t>
                      </a:r>
                    </a:p>
                  </a:txBody>
                  <a:tcPr marL="54864" marR="54864" marT="18288" marB="18288" anchor="ctr">
                    <a:solidFill>
                      <a:srgbClr val="FFFFFF"/>
                    </a:solidFill>
                  </a:tcPr>
                </a:tc>
                <a:tc>
                  <a:txBody>
                    <a:bodyPr/>
                    <a:lstStyle/>
                    <a:p>
                      <a:pPr algn="ctr">
                        <a:defRPr sz="1100" b="0">
                          <a:solidFill>
                            <a:srgbClr val="0B0B0B"/>
                          </a:solidFill>
                          <a:latin typeface="Calibri"/>
                        </a:defRPr>
                      </a:pPr>
                      <a:r>
                        <a:t>split</a:t>
                      </a:r>
                    </a:p>
                  </a:txBody>
                  <a:tcPr marL="54864" marR="54864" marT="18288" marB="18288" anchor="ctr">
                    <a:solidFill>
                      <a:srgbClr val="FFFFFF"/>
                    </a:solidFill>
                  </a:tcPr>
                </a:tc>
                <a:tc>
                  <a:txBody>
                    <a:bodyPr/>
                    <a:lstStyle/>
                    <a:p>
                      <a:pPr algn="ctr">
                        <a:defRPr sz="1100" b="0">
                          <a:solidFill>
                            <a:srgbClr val="0B0B0B"/>
                          </a:solidFill>
                          <a:latin typeface="Calibri"/>
                        </a:defRPr>
                      </a:pPr>
                      <a:r>
                        <a:t>0.05</a:t>
                      </a:r>
                    </a:p>
                  </a:txBody>
                  <a:tcPr marL="54864" marR="54864" marT="18288" marB="18288" anchor="ctr">
                    <a:solidFill>
                      <a:srgbClr val="FFFFFF"/>
                    </a:solidFill>
                  </a:tcPr>
                </a:tc>
                <a:tc>
                  <a:txBody>
                    <a:bodyPr/>
                    <a:lstStyle/>
                    <a:p>
                      <a:pPr algn="ctr">
                        <a:defRPr sz="1100" b="0">
                          <a:solidFill>
                            <a:srgbClr val="0B0B0B"/>
                          </a:solidFill>
                          <a:latin typeface="Calibri"/>
                        </a:defRPr>
                      </a:pPr>
                      <a:r>
                        <a:t>0.969</a:t>
                      </a:r>
                    </a:p>
                  </a:txBody>
                  <a:tcPr marL="54864" marR="54864" marT="18288" marB="18288" anchor="ctr">
                    <a:solidFill>
                      <a:srgbClr val="FFFFFF"/>
                    </a:solidFill>
                  </a:tcPr>
                </a:tc>
                <a:tc>
                  <a:txBody>
                    <a:bodyPr/>
                    <a:lstStyle/>
                    <a:p>
                      <a:pPr algn="ctr">
                        <a:defRPr sz="1100" b="0">
                          <a:solidFill>
                            <a:srgbClr val="0B0B0B"/>
                          </a:solidFill>
                          <a:latin typeface="Calibri"/>
                        </a:defRPr>
                      </a:pPr>
                      <a:r>
                        <a:t>0.000</a:t>
                      </a:r>
                    </a:p>
                  </a:txBody>
                  <a:tcPr marL="54864" marR="54864" marT="18288" marB="18288" anchor="ctr">
                    <a:solidFill>
                      <a:srgbClr val="FFFFFF"/>
                    </a:solidFill>
                  </a:tcPr>
                </a:tc>
                <a:tc>
                  <a:txBody>
                    <a:bodyPr/>
                    <a:lstStyle/>
                    <a:p>
                      <a:pPr algn="ctr">
                        <a:defRPr sz="1100" b="0">
                          <a:solidFill>
                            <a:srgbClr val="0B0B0B"/>
                          </a:solidFill>
                          <a:latin typeface="Calibri"/>
                        </a:defRPr>
                      </a:pPr>
                      <a:r>
                        <a:t>0.571</a:t>
                      </a:r>
                    </a:p>
                  </a:txBody>
                  <a:tcPr marL="54864" marR="54864" marT="18288" marB="18288" anchor="ctr">
                    <a:solidFill>
                      <a:srgbClr val="FFFFFF"/>
                    </a:solidFill>
                  </a:tcPr>
                </a:tc>
                <a:tc>
                  <a:txBody>
                    <a:bodyPr/>
                    <a:lstStyle/>
                    <a:p>
                      <a:pPr algn="ctr">
                        <a:defRPr sz="1100" b="0">
                          <a:solidFill>
                            <a:srgbClr val="0B0B0B"/>
                          </a:solidFill>
                          <a:latin typeface="Calibri"/>
                        </a:defRPr>
                      </a:pPr>
                      <a:r>
                        <a:t>0.789</a:t>
                      </a:r>
                    </a:p>
                  </a:txBody>
                  <a:tcPr marL="54864" marR="54864" marT="18288" marB="18288" anchor="ctr">
                    <a:solidFill>
                      <a:srgbClr val="FFFFFF"/>
                    </a:solidFill>
                  </a:tcPr>
                </a:tc>
                <a:tc>
                  <a:txBody>
                    <a:bodyPr/>
                    <a:lstStyle/>
                    <a:p>
                      <a:pPr algn="ctr">
                        <a:defRPr sz="1100" b="0">
                          <a:solidFill>
                            <a:srgbClr val="0B0B0B"/>
                          </a:solidFill>
                          <a:latin typeface="Calibri"/>
                        </a:defRPr>
                      </a:pPr>
                      <a:r>
                        <a:t>0.412</a:t>
                      </a:r>
                    </a:p>
                  </a:txBody>
                  <a:tcPr marL="54864" marR="54864" marT="18288" marB="18288" anchor="ctr">
                    <a:solidFill>
                      <a:srgbClr val="FFFFFF"/>
                    </a:solidFill>
                  </a:tcPr>
                </a:tc>
              </a:tr>
              <a:tr h="329184">
                <a:tc>
                  <a:txBody>
                    <a:bodyPr/>
                    <a:lstStyle/>
                    <a:p>
                      <a:pPr algn="l">
                        <a:defRPr sz="1100" b="0">
                          <a:solidFill>
                            <a:srgbClr val="0B0B0B"/>
                          </a:solidFill>
                          <a:latin typeface="Calibri"/>
                        </a:defRPr>
                      </a:pPr>
                      <a:r>
                        <a:t>mlp</a:t>
                      </a:r>
                    </a:p>
                  </a:txBody>
                  <a:tcPr marL="54864" marR="54864" marT="18288" marB="18288" anchor="ctr">
                    <a:solidFill>
                      <a:srgbClr val="EEF1F6"/>
                    </a:solidFill>
                  </a:tcPr>
                </a:tc>
                <a:tc>
                  <a:txBody>
                    <a:bodyPr/>
                    <a:lstStyle/>
                    <a:p>
                      <a:pPr algn="ctr">
                        <a:defRPr sz="1100" b="0">
                          <a:solidFill>
                            <a:srgbClr val="0B0B0B"/>
                          </a:solidFill>
                          <a:latin typeface="Calibri"/>
                        </a:defRPr>
                      </a:pPr>
                      <a:r>
                        <a:t>mondrian</a:t>
                      </a:r>
                    </a:p>
                  </a:txBody>
                  <a:tcPr marL="54864" marR="54864" marT="18288" marB="18288" anchor="ctr">
                    <a:solidFill>
                      <a:srgbClr val="EEF1F6"/>
                    </a:solidFill>
                  </a:tcPr>
                </a:tc>
                <a:tc>
                  <a:txBody>
                    <a:bodyPr/>
                    <a:lstStyle/>
                    <a:p>
                      <a:pPr algn="ctr">
                        <a:defRPr sz="1100" b="0">
                          <a:solidFill>
                            <a:srgbClr val="0B0B0B"/>
                          </a:solidFill>
                          <a:latin typeface="Calibri"/>
                        </a:defRPr>
                      </a:pPr>
                      <a:r>
                        <a:t>0.05</a:t>
                      </a:r>
                    </a:p>
                  </a:txBody>
                  <a:tcPr marL="54864" marR="54864" marT="18288" marB="18288" anchor="ctr">
                    <a:solidFill>
                      <a:srgbClr val="EEF1F6"/>
                    </a:solidFill>
                  </a:tcPr>
                </a:tc>
                <a:tc>
                  <a:txBody>
                    <a:bodyPr/>
                    <a:lstStyle/>
                    <a:p>
                      <a:pPr algn="ctr">
                        <a:defRPr sz="1100" b="0">
                          <a:solidFill>
                            <a:srgbClr val="0B0B0B"/>
                          </a:solidFill>
                          <a:latin typeface="Calibri"/>
                        </a:defRPr>
                      </a:pPr>
                      <a:r>
                        <a:t>0.949</a:t>
                      </a:r>
                    </a:p>
                  </a:txBody>
                  <a:tcPr marL="54864" marR="54864" marT="18288" marB="18288" anchor="ctr">
                    <a:solidFill>
                      <a:srgbClr val="EEF1F6"/>
                    </a:solidFill>
                  </a:tcPr>
                </a:tc>
                <a:tc>
                  <a:txBody>
                    <a:bodyPr/>
                    <a:lstStyle/>
                    <a:p>
                      <a:pPr algn="ctr">
                        <a:defRPr sz="1100" b="0">
                          <a:solidFill>
                            <a:srgbClr val="0B0B0B"/>
                          </a:solidFill>
                          <a:latin typeface="Calibri"/>
                        </a:defRPr>
                      </a:pPr>
                      <a:r>
                        <a:t>1.000</a:t>
                      </a:r>
                    </a:p>
                  </a:txBody>
                  <a:tcPr marL="54864" marR="54864" marT="18288" marB="18288" anchor="ctr">
                    <a:solidFill>
                      <a:srgbClr val="EEF1F6"/>
                    </a:solidFill>
                  </a:tcPr>
                </a:tc>
                <a:tc>
                  <a:txBody>
                    <a:bodyPr/>
                    <a:lstStyle/>
                    <a:p>
                      <a:pPr algn="ctr">
                        <a:defRPr sz="1100" b="0">
                          <a:solidFill>
                            <a:srgbClr val="0B0B0B"/>
                          </a:solidFill>
                          <a:latin typeface="Calibri"/>
                        </a:defRPr>
                      </a:pPr>
                      <a:r>
                        <a:t>1.000</a:t>
                      </a:r>
                    </a:p>
                  </a:txBody>
                  <a:tcPr marL="54864" marR="54864" marT="18288" marB="18288" anchor="ctr">
                    <a:solidFill>
                      <a:srgbClr val="EEF1F6"/>
                    </a:solidFill>
                  </a:tcPr>
                </a:tc>
                <a:tc>
                  <a:txBody>
                    <a:bodyPr/>
                    <a:lstStyle/>
                    <a:p>
                      <a:pPr algn="ctr">
                        <a:defRPr sz="1100" b="0">
                          <a:solidFill>
                            <a:srgbClr val="0B0B0B"/>
                          </a:solidFill>
                          <a:latin typeface="Calibri"/>
                        </a:defRPr>
                      </a:pPr>
                      <a:r>
                        <a:t>1.000</a:t>
                      </a:r>
                    </a:p>
                  </a:txBody>
                  <a:tcPr marL="54864" marR="54864" marT="18288" marB="18288" anchor="ctr">
                    <a:solidFill>
                      <a:srgbClr val="EEF1F6"/>
                    </a:solidFill>
                  </a:tcPr>
                </a:tc>
                <a:tc>
                  <a:txBody>
                    <a:bodyPr/>
                    <a:lstStyle/>
                    <a:p>
                      <a:pPr algn="ctr">
                        <a:defRPr sz="1100" b="0">
                          <a:solidFill>
                            <a:srgbClr val="0B0B0B"/>
                          </a:solidFill>
                          <a:latin typeface="Calibri"/>
                        </a:defRPr>
                      </a:pPr>
                      <a:r>
                        <a:t>1.000</a:t>
                      </a:r>
                    </a:p>
                  </a:txBody>
                  <a:tcPr marL="54864" marR="54864" marT="18288" marB="18288" anchor="ctr">
                    <a:solidFill>
                      <a:srgbClr val="EEF1F6"/>
                    </a:solidFill>
                  </a:tcPr>
                </a:tc>
              </a:tr>
              <a:tr h="329184">
                <a:tc>
                  <a:txBody>
                    <a:bodyPr/>
                    <a:lstStyle/>
                    <a:p>
                      <a:pPr algn="l">
                        <a:defRPr sz="1100" b="0">
                          <a:solidFill>
                            <a:srgbClr val="0B0B0B"/>
                          </a:solidFill>
                          <a:latin typeface="Calibri"/>
                        </a:defRPr>
                      </a:pPr>
                      <a:r>
                        <a:t>mlp</a:t>
                      </a:r>
                    </a:p>
                  </a:txBody>
                  <a:tcPr marL="54864" marR="54864" marT="18288" marB="18288" anchor="ctr">
                    <a:solidFill>
                      <a:srgbClr val="FFFFFF"/>
                    </a:solidFill>
                  </a:tcPr>
                </a:tc>
                <a:tc>
                  <a:txBody>
                    <a:bodyPr/>
                    <a:lstStyle/>
                    <a:p>
                      <a:pPr algn="ctr">
                        <a:defRPr sz="1100" b="0">
                          <a:solidFill>
                            <a:srgbClr val="0B0B0B"/>
                          </a:solidFill>
                          <a:latin typeface="Calibri"/>
                        </a:defRPr>
                      </a:pPr>
                      <a:r>
                        <a:t>split</a:t>
                      </a:r>
                    </a:p>
                  </a:txBody>
                  <a:tcPr marL="54864" marR="54864" marT="18288" marB="18288" anchor="ctr">
                    <a:solidFill>
                      <a:srgbClr val="FFFFFF"/>
                    </a:solidFill>
                  </a:tcPr>
                </a:tc>
                <a:tc>
                  <a:txBody>
                    <a:bodyPr/>
                    <a:lstStyle/>
                    <a:p>
                      <a:pPr algn="ctr">
                        <a:defRPr sz="1100" b="0">
                          <a:solidFill>
                            <a:srgbClr val="0B0B0B"/>
                          </a:solidFill>
                          <a:latin typeface="Calibri"/>
                        </a:defRPr>
                      </a:pPr>
                      <a:r>
                        <a:t>0.10</a:t>
                      </a:r>
                    </a:p>
                  </a:txBody>
                  <a:tcPr marL="54864" marR="54864" marT="18288" marB="18288" anchor="ctr">
                    <a:solidFill>
                      <a:srgbClr val="FFFFFF"/>
                    </a:solidFill>
                  </a:tcPr>
                </a:tc>
                <a:tc>
                  <a:txBody>
                    <a:bodyPr/>
                    <a:lstStyle/>
                    <a:p>
                      <a:pPr algn="ctr">
                        <a:defRPr sz="1100" b="0">
                          <a:solidFill>
                            <a:srgbClr val="0B0B0B"/>
                          </a:solidFill>
                          <a:latin typeface="Calibri"/>
                        </a:defRPr>
                      </a:pPr>
                      <a:r>
                        <a:t>0.922</a:t>
                      </a:r>
                    </a:p>
                  </a:txBody>
                  <a:tcPr marL="54864" marR="54864" marT="18288" marB="18288" anchor="ctr">
                    <a:solidFill>
                      <a:srgbClr val="FFFFFF"/>
                    </a:solidFill>
                  </a:tcPr>
                </a:tc>
                <a:tc>
                  <a:txBody>
                    <a:bodyPr/>
                    <a:lstStyle/>
                    <a:p>
                      <a:pPr algn="ctr">
                        <a:defRPr sz="1100" b="0">
                          <a:solidFill>
                            <a:srgbClr val="0B0B0B"/>
                          </a:solidFill>
                          <a:latin typeface="Calibri"/>
                        </a:defRPr>
                      </a:pPr>
                      <a:r>
                        <a:t>0.000</a:t>
                      </a:r>
                    </a:p>
                  </a:txBody>
                  <a:tcPr marL="54864" marR="54864" marT="18288" marB="18288" anchor="ctr">
                    <a:solidFill>
                      <a:srgbClr val="FFFFFF"/>
                    </a:solidFill>
                  </a:tcPr>
                </a:tc>
                <a:tc>
                  <a:txBody>
                    <a:bodyPr/>
                    <a:lstStyle/>
                    <a:p>
                      <a:pPr algn="ctr">
                        <a:defRPr sz="1100" b="0">
                          <a:solidFill>
                            <a:srgbClr val="0B0B0B"/>
                          </a:solidFill>
                          <a:latin typeface="Calibri"/>
                        </a:defRPr>
                      </a:pPr>
                      <a:r>
                        <a:t>0.333</a:t>
                      </a:r>
                    </a:p>
                  </a:txBody>
                  <a:tcPr marL="54864" marR="54864" marT="18288" marB="18288" anchor="ctr">
                    <a:solidFill>
                      <a:srgbClr val="FFFFFF"/>
                    </a:solidFill>
                  </a:tcPr>
                </a:tc>
                <a:tc>
                  <a:txBody>
                    <a:bodyPr/>
                    <a:lstStyle/>
                    <a:p>
                      <a:pPr algn="ctr">
                        <a:defRPr sz="1100" b="0">
                          <a:solidFill>
                            <a:srgbClr val="0B0B0B"/>
                          </a:solidFill>
                          <a:latin typeface="Calibri"/>
                        </a:defRPr>
                      </a:pPr>
                      <a:r>
                        <a:t>0.632</a:t>
                      </a:r>
                    </a:p>
                  </a:txBody>
                  <a:tcPr marL="54864" marR="54864" marT="18288" marB="18288" anchor="ctr">
                    <a:solidFill>
                      <a:srgbClr val="FFFFFF"/>
                    </a:solidFill>
                  </a:tcPr>
                </a:tc>
                <a:tc>
                  <a:txBody>
                    <a:bodyPr/>
                    <a:lstStyle/>
                    <a:p>
                      <a:pPr algn="ctr">
                        <a:defRPr sz="1100" b="0">
                          <a:solidFill>
                            <a:srgbClr val="0B0B0B"/>
                          </a:solidFill>
                          <a:latin typeface="Calibri"/>
                        </a:defRPr>
                      </a:pPr>
                      <a:r>
                        <a:t>0.176</a:t>
                      </a:r>
                    </a:p>
                  </a:txBody>
                  <a:tcPr marL="54864" marR="54864" marT="18288" marB="18288" anchor="ctr">
                    <a:solidFill>
                      <a:srgbClr val="FFFFFF"/>
                    </a:solidFill>
                  </a:tcPr>
                </a:tc>
              </a:tr>
              <a:tr h="329184">
                <a:tc>
                  <a:txBody>
                    <a:bodyPr/>
                    <a:lstStyle/>
                    <a:p>
                      <a:pPr algn="l">
                        <a:defRPr sz="1100" b="0">
                          <a:solidFill>
                            <a:srgbClr val="0B0B0B"/>
                          </a:solidFill>
                          <a:latin typeface="Calibri"/>
                        </a:defRPr>
                      </a:pPr>
                      <a:r>
                        <a:t>mlp</a:t>
                      </a:r>
                    </a:p>
                  </a:txBody>
                  <a:tcPr marL="54864" marR="54864" marT="18288" marB="18288" anchor="ctr">
                    <a:solidFill>
                      <a:srgbClr val="EEF1F6"/>
                    </a:solidFill>
                  </a:tcPr>
                </a:tc>
                <a:tc>
                  <a:txBody>
                    <a:bodyPr/>
                    <a:lstStyle/>
                    <a:p>
                      <a:pPr algn="ctr">
                        <a:defRPr sz="1100" b="0">
                          <a:solidFill>
                            <a:srgbClr val="0B0B0B"/>
                          </a:solidFill>
                          <a:latin typeface="Calibri"/>
                        </a:defRPr>
                      </a:pPr>
                      <a:r>
                        <a:t>mondrian</a:t>
                      </a:r>
                    </a:p>
                  </a:txBody>
                  <a:tcPr marL="54864" marR="54864" marT="18288" marB="18288" anchor="ctr">
                    <a:solidFill>
                      <a:srgbClr val="EEF1F6"/>
                    </a:solidFill>
                  </a:tcPr>
                </a:tc>
                <a:tc>
                  <a:txBody>
                    <a:bodyPr/>
                    <a:lstStyle/>
                    <a:p>
                      <a:pPr algn="ctr">
                        <a:defRPr sz="1100" b="0">
                          <a:solidFill>
                            <a:srgbClr val="0B0B0B"/>
                          </a:solidFill>
                          <a:latin typeface="Calibri"/>
                        </a:defRPr>
                      </a:pPr>
                      <a:r>
                        <a:t>0.10</a:t>
                      </a:r>
                    </a:p>
                  </a:txBody>
                  <a:tcPr marL="54864" marR="54864" marT="18288" marB="18288" anchor="ctr">
                    <a:solidFill>
                      <a:srgbClr val="EEF1F6"/>
                    </a:solidFill>
                  </a:tcPr>
                </a:tc>
                <a:tc>
                  <a:txBody>
                    <a:bodyPr/>
                    <a:lstStyle/>
                    <a:p>
                      <a:pPr algn="ctr">
                        <a:defRPr sz="1100" b="0">
                          <a:solidFill>
                            <a:srgbClr val="0B0B0B"/>
                          </a:solidFill>
                          <a:latin typeface="Calibri"/>
                        </a:defRPr>
                      </a:pPr>
                      <a:r>
                        <a:t>0.901</a:t>
                      </a:r>
                    </a:p>
                  </a:txBody>
                  <a:tcPr marL="54864" marR="54864" marT="18288" marB="18288" anchor="ctr">
                    <a:solidFill>
                      <a:srgbClr val="EEF1F6"/>
                    </a:solidFill>
                  </a:tcPr>
                </a:tc>
                <a:tc>
                  <a:txBody>
                    <a:bodyPr/>
                    <a:lstStyle/>
                    <a:p>
                      <a:pPr algn="ctr">
                        <a:defRPr sz="1100" b="0">
                          <a:solidFill>
                            <a:srgbClr val="0B0B0B"/>
                          </a:solidFill>
                          <a:latin typeface="Calibri"/>
                        </a:defRPr>
                      </a:pPr>
                      <a:r>
                        <a:t>1.000</a:t>
                      </a:r>
                    </a:p>
                  </a:txBody>
                  <a:tcPr marL="54864" marR="54864" marT="18288" marB="18288" anchor="ctr">
                    <a:solidFill>
                      <a:srgbClr val="EEF1F6"/>
                    </a:solidFill>
                  </a:tcPr>
                </a:tc>
                <a:tc>
                  <a:txBody>
                    <a:bodyPr/>
                    <a:lstStyle/>
                    <a:p>
                      <a:pPr algn="ctr">
                        <a:defRPr sz="1100" b="0">
                          <a:solidFill>
                            <a:srgbClr val="0B0B0B"/>
                          </a:solidFill>
                          <a:latin typeface="Calibri"/>
                        </a:defRPr>
                      </a:pPr>
                      <a:r>
                        <a:t>0.952</a:t>
                      </a:r>
                    </a:p>
                  </a:txBody>
                  <a:tcPr marL="54864" marR="54864" marT="18288" marB="18288" anchor="ctr">
                    <a:solidFill>
                      <a:srgbClr val="EEF1F6"/>
                    </a:solidFill>
                  </a:tcPr>
                </a:tc>
                <a:tc>
                  <a:txBody>
                    <a:bodyPr/>
                    <a:lstStyle/>
                    <a:p>
                      <a:pPr algn="ctr">
                        <a:defRPr sz="1100" b="0">
                          <a:solidFill>
                            <a:srgbClr val="0B0B0B"/>
                          </a:solidFill>
                          <a:latin typeface="Calibri"/>
                        </a:defRPr>
                      </a:pPr>
                      <a:r>
                        <a:t>0.947</a:t>
                      </a:r>
                    </a:p>
                  </a:txBody>
                  <a:tcPr marL="54864" marR="54864" marT="18288" marB="18288" anchor="ctr">
                    <a:solidFill>
                      <a:srgbClr val="EEF1F6"/>
                    </a:solidFill>
                  </a:tcPr>
                </a:tc>
                <a:tc>
                  <a:txBody>
                    <a:bodyPr/>
                    <a:lstStyle/>
                    <a:p>
                      <a:pPr algn="ctr">
                        <a:defRPr sz="1100" b="0">
                          <a:solidFill>
                            <a:srgbClr val="0B0B0B"/>
                          </a:solidFill>
                          <a:latin typeface="Calibri"/>
                        </a:defRPr>
                      </a:pPr>
                      <a:r>
                        <a:t>1.000</a:t>
                      </a:r>
                    </a:p>
                  </a:txBody>
                  <a:tcPr marL="54864" marR="54864" marT="18288" marB="18288" anchor="ctr">
                    <a:solidFill>
                      <a:srgbClr val="EEF1F6"/>
                    </a:solidFill>
                  </a:tcPr>
                </a:tc>
              </a:tr>
              <a:tr h="329184">
                <a:tc>
                  <a:txBody>
                    <a:bodyPr/>
                    <a:lstStyle/>
                    <a:p>
                      <a:pPr algn="l">
                        <a:defRPr sz="1100" b="0">
                          <a:solidFill>
                            <a:srgbClr val="0B0B0B"/>
                          </a:solidFill>
                          <a:latin typeface="Calibri"/>
                        </a:defRPr>
                      </a:pPr>
                      <a:r>
                        <a:t>mlp</a:t>
                      </a:r>
                    </a:p>
                  </a:txBody>
                  <a:tcPr marL="54864" marR="54864" marT="18288" marB="18288" anchor="ctr">
                    <a:solidFill>
                      <a:srgbClr val="FFFFFF"/>
                    </a:solidFill>
                  </a:tcPr>
                </a:tc>
                <a:tc>
                  <a:txBody>
                    <a:bodyPr/>
                    <a:lstStyle/>
                    <a:p>
                      <a:pPr algn="ctr">
                        <a:defRPr sz="1100" b="0">
                          <a:solidFill>
                            <a:srgbClr val="0B0B0B"/>
                          </a:solidFill>
                          <a:latin typeface="Calibri"/>
                        </a:defRPr>
                      </a:pPr>
                      <a:r>
                        <a:t>split</a:t>
                      </a:r>
                    </a:p>
                  </a:txBody>
                  <a:tcPr marL="54864" marR="54864" marT="18288" marB="18288" anchor="ctr">
                    <a:solidFill>
                      <a:srgbClr val="FFFFFF"/>
                    </a:solidFill>
                  </a:tcPr>
                </a:tc>
                <a:tc>
                  <a:txBody>
                    <a:bodyPr/>
                    <a:lstStyle/>
                    <a:p>
                      <a:pPr algn="ctr">
                        <a:defRPr sz="1100" b="0">
                          <a:solidFill>
                            <a:srgbClr val="0B0B0B"/>
                          </a:solidFill>
                          <a:latin typeface="Calibri"/>
                        </a:defRPr>
                      </a:pPr>
                      <a:r>
                        <a:t>0.20</a:t>
                      </a:r>
                    </a:p>
                  </a:txBody>
                  <a:tcPr marL="54864" marR="54864" marT="18288" marB="18288" anchor="ctr">
                    <a:solidFill>
                      <a:srgbClr val="FFFFFF"/>
                    </a:solidFill>
                  </a:tcPr>
                </a:tc>
                <a:tc>
                  <a:txBody>
                    <a:bodyPr/>
                    <a:lstStyle/>
                    <a:p>
                      <a:pPr algn="ctr">
                        <a:defRPr sz="1100" b="0">
                          <a:solidFill>
                            <a:srgbClr val="0B0B0B"/>
                          </a:solidFill>
                          <a:latin typeface="Calibri"/>
                        </a:defRPr>
                      </a:pPr>
                      <a:r>
                        <a:t>0.831</a:t>
                      </a:r>
                    </a:p>
                  </a:txBody>
                  <a:tcPr marL="54864" marR="54864" marT="18288" marB="18288" anchor="ctr">
                    <a:solidFill>
                      <a:srgbClr val="FFFFFF"/>
                    </a:solidFill>
                  </a:tcPr>
                </a:tc>
                <a:tc>
                  <a:txBody>
                    <a:bodyPr/>
                    <a:lstStyle/>
                    <a:p>
                      <a:pPr algn="ctr">
                        <a:defRPr sz="1100" b="0">
                          <a:solidFill>
                            <a:srgbClr val="0B0B0B"/>
                          </a:solidFill>
                          <a:latin typeface="Calibri"/>
                        </a:defRPr>
                      </a:pPr>
                      <a:r>
                        <a:t>0.000</a:t>
                      </a:r>
                    </a:p>
                  </a:txBody>
                  <a:tcPr marL="54864" marR="54864" marT="18288" marB="18288" anchor="ctr">
                    <a:solidFill>
                      <a:srgbClr val="FFFFFF"/>
                    </a:solidFill>
                  </a:tcPr>
                </a:tc>
                <a:tc>
                  <a:txBody>
                    <a:bodyPr/>
                    <a:lstStyle/>
                    <a:p>
                      <a:pPr algn="ctr">
                        <a:defRPr sz="1100" b="0">
                          <a:solidFill>
                            <a:srgbClr val="0B0B0B"/>
                          </a:solidFill>
                          <a:latin typeface="Calibri"/>
                        </a:defRPr>
                      </a:pPr>
                      <a:r>
                        <a:t>0.048</a:t>
                      </a:r>
                    </a:p>
                  </a:txBody>
                  <a:tcPr marL="54864" marR="54864" marT="18288" marB="18288" anchor="ctr">
                    <a:solidFill>
                      <a:srgbClr val="FFFFFF"/>
                    </a:solidFill>
                  </a:tcPr>
                </a:tc>
                <a:tc>
                  <a:txBody>
                    <a:bodyPr/>
                    <a:lstStyle/>
                    <a:p>
                      <a:pPr algn="ctr">
                        <a:defRPr sz="1100" b="0">
                          <a:solidFill>
                            <a:srgbClr val="0B0B0B"/>
                          </a:solidFill>
                          <a:latin typeface="Calibri"/>
                        </a:defRPr>
                      </a:pPr>
                      <a:r>
                        <a:t>0.421</a:t>
                      </a:r>
                    </a:p>
                  </a:txBody>
                  <a:tcPr marL="54864" marR="54864" marT="18288" marB="18288" anchor="ctr">
                    <a:solidFill>
                      <a:srgbClr val="FFFFFF"/>
                    </a:solidFill>
                  </a:tcPr>
                </a:tc>
                <a:tc>
                  <a:txBody>
                    <a:bodyPr/>
                    <a:lstStyle/>
                    <a:p>
                      <a:pPr algn="ctr">
                        <a:defRPr sz="1100" b="0">
                          <a:solidFill>
                            <a:srgbClr val="0B0B0B"/>
                          </a:solidFill>
                          <a:latin typeface="Calibri"/>
                        </a:defRPr>
                      </a:pPr>
                      <a:r>
                        <a:t>0.000</a:t>
                      </a:r>
                    </a:p>
                  </a:txBody>
                  <a:tcPr marL="54864" marR="54864" marT="18288" marB="18288" anchor="ctr">
                    <a:solidFill>
                      <a:srgbClr val="FFFFFF"/>
                    </a:solidFill>
                  </a:tcPr>
                </a:tc>
              </a:tr>
              <a:tr h="329184">
                <a:tc>
                  <a:txBody>
                    <a:bodyPr/>
                    <a:lstStyle/>
                    <a:p>
                      <a:pPr algn="l">
                        <a:defRPr sz="1100" b="0">
                          <a:solidFill>
                            <a:srgbClr val="0B0B0B"/>
                          </a:solidFill>
                          <a:latin typeface="Calibri"/>
                        </a:defRPr>
                      </a:pPr>
                      <a:r>
                        <a:t>mlp</a:t>
                      </a:r>
                    </a:p>
                  </a:txBody>
                  <a:tcPr marL="54864" marR="54864" marT="18288" marB="18288" anchor="ctr">
                    <a:solidFill>
                      <a:srgbClr val="EEF1F6"/>
                    </a:solidFill>
                  </a:tcPr>
                </a:tc>
                <a:tc>
                  <a:txBody>
                    <a:bodyPr/>
                    <a:lstStyle/>
                    <a:p>
                      <a:pPr algn="ctr">
                        <a:defRPr sz="1100" b="0">
                          <a:solidFill>
                            <a:srgbClr val="0B0B0B"/>
                          </a:solidFill>
                          <a:latin typeface="Calibri"/>
                        </a:defRPr>
                      </a:pPr>
                      <a:r>
                        <a:t>mondrian</a:t>
                      </a:r>
                    </a:p>
                  </a:txBody>
                  <a:tcPr marL="54864" marR="54864" marT="18288" marB="18288" anchor="ctr">
                    <a:solidFill>
                      <a:srgbClr val="EEF1F6"/>
                    </a:solidFill>
                  </a:tcPr>
                </a:tc>
                <a:tc>
                  <a:txBody>
                    <a:bodyPr/>
                    <a:lstStyle/>
                    <a:p>
                      <a:pPr algn="ctr">
                        <a:defRPr sz="1100" b="0">
                          <a:solidFill>
                            <a:srgbClr val="0B0B0B"/>
                          </a:solidFill>
                          <a:latin typeface="Calibri"/>
                        </a:defRPr>
                      </a:pPr>
                      <a:r>
                        <a:t>0.20</a:t>
                      </a:r>
                    </a:p>
                  </a:txBody>
                  <a:tcPr marL="54864" marR="54864" marT="18288" marB="18288" anchor="ctr">
                    <a:solidFill>
                      <a:srgbClr val="EEF1F6"/>
                    </a:solidFill>
                  </a:tcPr>
                </a:tc>
                <a:tc>
                  <a:txBody>
                    <a:bodyPr/>
                    <a:lstStyle/>
                    <a:p>
                      <a:pPr algn="ctr">
                        <a:defRPr sz="1100" b="0">
                          <a:solidFill>
                            <a:srgbClr val="0B0B0B"/>
                          </a:solidFill>
                          <a:latin typeface="Calibri"/>
                        </a:defRPr>
                      </a:pPr>
                      <a:r>
                        <a:t>0.794</a:t>
                      </a:r>
                    </a:p>
                  </a:txBody>
                  <a:tcPr marL="54864" marR="54864" marT="18288" marB="18288" anchor="ctr">
                    <a:solidFill>
                      <a:srgbClr val="EEF1F6"/>
                    </a:solidFill>
                  </a:tcPr>
                </a:tc>
                <a:tc>
                  <a:txBody>
                    <a:bodyPr/>
                    <a:lstStyle/>
                    <a:p>
                      <a:pPr algn="ctr">
                        <a:defRPr sz="1100" b="0">
                          <a:solidFill>
                            <a:srgbClr val="0B0B0B"/>
                          </a:solidFill>
                          <a:latin typeface="Calibri"/>
                        </a:defRPr>
                      </a:pPr>
                      <a:r>
                        <a:t>0.778</a:t>
                      </a:r>
                    </a:p>
                  </a:txBody>
                  <a:tcPr marL="54864" marR="54864" marT="18288" marB="18288" anchor="ctr">
                    <a:solidFill>
                      <a:srgbClr val="EEF1F6"/>
                    </a:solidFill>
                  </a:tcPr>
                </a:tc>
                <a:tc>
                  <a:txBody>
                    <a:bodyPr/>
                    <a:lstStyle/>
                    <a:p>
                      <a:pPr algn="ctr">
                        <a:defRPr sz="1100" b="0">
                          <a:solidFill>
                            <a:srgbClr val="0B0B0B"/>
                          </a:solidFill>
                          <a:latin typeface="Calibri"/>
                        </a:defRPr>
                      </a:pPr>
                      <a:r>
                        <a:t>0.762</a:t>
                      </a:r>
                    </a:p>
                  </a:txBody>
                  <a:tcPr marL="54864" marR="54864" marT="18288" marB="18288" anchor="ctr">
                    <a:solidFill>
                      <a:srgbClr val="EEF1F6"/>
                    </a:solidFill>
                  </a:tcPr>
                </a:tc>
                <a:tc>
                  <a:txBody>
                    <a:bodyPr/>
                    <a:lstStyle/>
                    <a:p>
                      <a:pPr algn="ctr">
                        <a:defRPr sz="1100" b="0">
                          <a:solidFill>
                            <a:srgbClr val="0B0B0B"/>
                          </a:solidFill>
                          <a:latin typeface="Calibri"/>
                        </a:defRPr>
                      </a:pPr>
                      <a:r>
                        <a:t>0.947</a:t>
                      </a:r>
                    </a:p>
                  </a:txBody>
                  <a:tcPr marL="54864" marR="54864" marT="18288" marB="18288" anchor="ctr">
                    <a:solidFill>
                      <a:srgbClr val="EEF1F6"/>
                    </a:solidFill>
                  </a:tcPr>
                </a:tc>
                <a:tc>
                  <a:txBody>
                    <a:bodyPr/>
                    <a:lstStyle/>
                    <a:p>
                      <a:pPr algn="ctr">
                        <a:defRPr sz="1100" b="0">
                          <a:solidFill>
                            <a:srgbClr val="0B0B0B"/>
                          </a:solidFill>
                          <a:latin typeface="Calibri"/>
                        </a:defRPr>
                      </a:pPr>
                      <a:r>
                        <a:t>0.706</a:t>
                      </a:r>
                    </a:p>
                  </a:txBody>
                  <a:tcPr marL="54864" marR="54864" marT="18288" marB="18288" anchor="ctr">
                    <a:solidFill>
                      <a:srgbClr val="EEF1F6"/>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1170432"/>
            <a:ext cx="548640" cy="45720"/>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7315200" cy="274320"/>
          </a:xfrm>
          <a:prstGeom prst="rect">
            <a:avLst/>
          </a:prstGeom>
          <a:noFill/>
        </p:spPr>
        <p:txBody>
          <a:bodyPr wrap="square" anchor="t" lIns="45720" rIns="45720" tIns="27432" bIns="27432">
            <a:spAutoFit/>
          </a:bodyPr>
          <a:lstStyle/>
          <a:p>
            <a:pPr algn="l">
              <a:lnSpc>
                <a:spcPct val="110000"/>
              </a:lnSpc>
              <a:defRPr sz="1100" b="1" i="0">
                <a:solidFill>
                  <a:srgbClr val="EB6834"/>
                </a:solidFill>
                <a:latin typeface="Calibri"/>
              </a:defRPr>
            </a:pPr>
            <a:r>
              <a:t>APÉNDICE C</a:t>
            </a:r>
          </a:p>
        </p:txBody>
      </p:sp>
      <p:sp>
        <p:nvSpPr>
          <p:cNvPr id="5" name="TextBox 4"/>
          <p:cNvSpPr txBox="1"/>
          <p:nvPr/>
        </p:nvSpPr>
        <p:spPr>
          <a:xfrm>
            <a:off x="640080" y="566928"/>
            <a:ext cx="10058400" cy="640080"/>
          </a:xfrm>
          <a:prstGeom prst="rect">
            <a:avLst/>
          </a:prstGeom>
          <a:noFill/>
        </p:spPr>
        <p:txBody>
          <a:bodyPr wrap="square" anchor="t" lIns="45720" rIns="45720" tIns="27432" bIns="27432">
            <a:spAutoFit/>
          </a:bodyPr>
          <a:lstStyle/>
          <a:p>
            <a:pPr algn="l">
              <a:lnSpc>
                <a:spcPct val="110000"/>
              </a:lnSpc>
              <a:defRPr sz="2400" b="1" i="0">
                <a:solidFill>
                  <a:srgbClr val="0F2A4A"/>
                </a:solidFill>
                <a:latin typeface="Calibri"/>
              </a:defRPr>
            </a:pPr>
            <a:r>
              <a:t>Umbrales calibrados por clase</a:t>
            </a:r>
          </a:p>
        </p:txBody>
      </p:sp>
      <p:sp>
        <p:nvSpPr>
          <p:cNvPr id="6" name="Rectangle 5"/>
          <p:cNvSpPr/>
          <p:nvPr/>
        </p:nvSpPr>
        <p:spPr>
          <a:xfrm>
            <a:off x="0" y="6537960"/>
            <a:ext cx="12191695" cy="320040"/>
          </a:xfrm>
          <a:prstGeom prst="rect">
            <a:avLst/>
          </a:prstGeom>
          <a:solidFill>
            <a:srgbClr val="0F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574536"/>
            <a:ext cx="7315200" cy="256032"/>
          </a:xfrm>
          <a:prstGeom prst="rect">
            <a:avLst/>
          </a:prstGeom>
          <a:noFill/>
        </p:spPr>
        <p:txBody>
          <a:bodyPr wrap="square" anchor="t" lIns="45720" rIns="45720" tIns="27432" bIns="27432">
            <a:spAutoFit/>
          </a:bodyPr>
          <a:lstStyle/>
          <a:p>
            <a:pPr algn="l">
              <a:lnSpc>
                <a:spcPct val="110000"/>
              </a:lnSpc>
              <a:defRPr sz="900" b="0" i="0">
                <a:solidFill>
                  <a:srgbClr val="C9D6E8"/>
                </a:solidFill>
                <a:latin typeface="Calibri"/>
              </a:defRPr>
            </a:pPr>
            <a:r>
              <a:t>Predicción conforme y abstención selectiva · AI4I 2020</a:t>
            </a:r>
          </a:p>
        </p:txBody>
      </p:sp>
      <p:sp>
        <p:nvSpPr>
          <p:cNvPr id="8" name="TextBox 7"/>
          <p:cNvSpPr txBox="1"/>
          <p:nvPr/>
        </p:nvSpPr>
        <p:spPr>
          <a:xfrm>
            <a:off x="11155680" y="6574536"/>
            <a:ext cx="457200" cy="256032"/>
          </a:xfrm>
          <a:prstGeom prst="rect">
            <a:avLst/>
          </a:prstGeom>
          <a:noFill/>
        </p:spPr>
        <p:txBody>
          <a:bodyPr wrap="square" anchor="t" lIns="45720" rIns="45720" tIns="27432" bIns="27432">
            <a:spAutoFit/>
          </a:bodyPr>
          <a:lstStyle/>
          <a:p>
            <a:pPr algn="r">
              <a:lnSpc>
                <a:spcPct val="110000"/>
              </a:lnSpc>
              <a:defRPr sz="900" b="0" i="0">
                <a:solidFill>
                  <a:srgbClr val="C9D6E8"/>
                </a:solidFill>
                <a:latin typeface="Calibri"/>
              </a:defRPr>
            </a:pPr>
            <a:r>
              <a:t>27</a:t>
            </a:r>
          </a:p>
        </p:txBody>
      </p:sp>
      <p:graphicFrame>
        <p:nvGraphicFramePr>
          <p:cNvPr id="9" name="Table 8"/>
          <p:cNvGraphicFramePr>
            <a:graphicFrameLocks noGrp="1"/>
          </p:cNvGraphicFramePr>
          <p:nvPr/>
        </p:nvGraphicFramePr>
        <p:xfrm>
          <a:off x="640080" y="1417320"/>
          <a:ext cx="10881360" cy="3291840"/>
        </p:xfrm>
        <a:graphic>
          <a:graphicData uri="http://schemas.openxmlformats.org/drawingml/2006/table">
            <a:tbl>
              <a:tblPr firstRow="1" bandRow="1">
                <a:tableStyleId>{5C22544A-7EE6-4342-B048-85BDC9FD1C3A}</a:tableStyleId>
              </a:tblPr>
              <a:tblGrid>
                <a:gridCol w="914400"/>
                <a:gridCol w="1280160"/>
                <a:gridCol w="731520"/>
                <a:gridCol w="1591056"/>
                <a:gridCol w="1591056"/>
                <a:gridCol w="1591056"/>
                <a:gridCol w="1591056"/>
                <a:gridCol w="1591056"/>
              </a:tblGrid>
              <a:tr h="329184">
                <a:tc>
                  <a:txBody>
                    <a:bodyPr/>
                    <a:lstStyle/>
                    <a:p>
                      <a:pPr algn="l">
                        <a:defRPr sz="1100" b="1">
                          <a:solidFill>
                            <a:srgbClr val="FFFFFF"/>
                          </a:solidFill>
                          <a:latin typeface="Calibri"/>
                        </a:defRPr>
                      </a:pPr>
                      <a:r>
                        <a:t>Modelo</a:t>
                      </a:r>
                    </a:p>
                  </a:txBody>
                  <a:tcPr marL="54864" marR="54864" marT="18288" marB="18288" anchor="ctr">
                    <a:solidFill>
                      <a:srgbClr val="1C5CAB"/>
                    </a:solidFill>
                  </a:tcPr>
                </a:tc>
                <a:tc>
                  <a:txBody>
                    <a:bodyPr/>
                    <a:lstStyle/>
                    <a:p>
                      <a:pPr algn="ctr">
                        <a:defRPr sz="1100" b="1">
                          <a:solidFill>
                            <a:srgbClr val="FFFFFF"/>
                          </a:solidFill>
                          <a:latin typeface="Calibri"/>
                        </a:defRPr>
                      </a:pPr>
                      <a:r>
                        <a:t>Variante</a:t>
                      </a:r>
                    </a:p>
                  </a:txBody>
                  <a:tcPr marL="54864" marR="54864" marT="18288" marB="18288" anchor="ctr">
                    <a:solidFill>
                      <a:srgbClr val="1C5CAB"/>
                    </a:solidFill>
                  </a:tcPr>
                </a:tc>
                <a:tc>
                  <a:txBody>
                    <a:bodyPr/>
                    <a:lstStyle/>
                    <a:p>
                      <a:pPr algn="ctr">
                        <a:defRPr sz="1100" b="1">
                          <a:solidFill>
                            <a:srgbClr val="FFFFFF"/>
                          </a:solidFill>
                          <a:latin typeface="Calibri"/>
                        </a:defRPr>
                      </a:pPr>
                      <a:r>
                        <a:t>α</a:t>
                      </a:r>
                    </a:p>
                  </a:txBody>
                  <a:tcPr marL="54864" marR="54864" marT="18288" marB="18288" anchor="ctr">
                    <a:solidFill>
                      <a:srgbClr val="1C5CAB"/>
                    </a:solidFill>
                  </a:tcPr>
                </a:tc>
                <a:tc>
                  <a:txBody>
                    <a:bodyPr/>
                    <a:lstStyle/>
                    <a:p>
                      <a:pPr algn="ctr">
                        <a:defRPr sz="1100" b="1">
                          <a:solidFill>
                            <a:srgbClr val="FFFFFF"/>
                          </a:solidFill>
                          <a:latin typeface="Calibri"/>
                        </a:defRPr>
                      </a:pPr>
                      <a:r>
                        <a:t>Normal</a:t>
                      </a:r>
                    </a:p>
                  </a:txBody>
                  <a:tcPr marL="54864" marR="54864" marT="18288" marB="18288" anchor="ctr">
                    <a:solidFill>
                      <a:srgbClr val="1C5CAB"/>
                    </a:solidFill>
                  </a:tcPr>
                </a:tc>
                <a:tc>
                  <a:txBody>
                    <a:bodyPr/>
                    <a:lstStyle/>
                    <a:p>
                      <a:pPr algn="ctr">
                        <a:defRPr sz="1100" b="1">
                          <a:solidFill>
                            <a:srgbClr val="FFFFFF"/>
                          </a:solidFill>
                          <a:latin typeface="Calibri"/>
                        </a:defRPr>
                      </a:pPr>
                      <a:r>
                        <a:t>TWF</a:t>
                      </a:r>
                    </a:p>
                  </a:txBody>
                  <a:tcPr marL="54864" marR="54864" marT="18288" marB="18288" anchor="ctr">
                    <a:solidFill>
                      <a:srgbClr val="1C5CAB"/>
                    </a:solidFill>
                  </a:tcPr>
                </a:tc>
                <a:tc>
                  <a:txBody>
                    <a:bodyPr/>
                    <a:lstStyle/>
                    <a:p>
                      <a:pPr algn="ctr">
                        <a:defRPr sz="1100" b="1">
                          <a:solidFill>
                            <a:srgbClr val="FFFFFF"/>
                          </a:solidFill>
                          <a:latin typeface="Calibri"/>
                        </a:defRPr>
                      </a:pPr>
                      <a:r>
                        <a:t>HDF</a:t>
                      </a:r>
                    </a:p>
                  </a:txBody>
                  <a:tcPr marL="54864" marR="54864" marT="18288" marB="18288" anchor="ctr">
                    <a:solidFill>
                      <a:srgbClr val="1C5CAB"/>
                    </a:solidFill>
                  </a:tcPr>
                </a:tc>
                <a:tc>
                  <a:txBody>
                    <a:bodyPr/>
                    <a:lstStyle/>
                    <a:p>
                      <a:pPr algn="ctr">
                        <a:defRPr sz="1100" b="1">
                          <a:solidFill>
                            <a:srgbClr val="FFFFFF"/>
                          </a:solidFill>
                          <a:latin typeface="Calibri"/>
                        </a:defRPr>
                      </a:pPr>
                      <a:r>
                        <a:t>PWF</a:t>
                      </a:r>
                    </a:p>
                  </a:txBody>
                  <a:tcPr marL="54864" marR="54864" marT="18288" marB="18288" anchor="ctr">
                    <a:solidFill>
                      <a:srgbClr val="1C5CAB"/>
                    </a:solidFill>
                  </a:tcPr>
                </a:tc>
                <a:tc>
                  <a:txBody>
                    <a:bodyPr/>
                    <a:lstStyle/>
                    <a:p>
                      <a:pPr algn="ctr">
                        <a:defRPr sz="1100" b="1">
                          <a:solidFill>
                            <a:srgbClr val="FFFFFF"/>
                          </a:solidFill>
                          <a:latin typeface="Calibri"/>
                        </a:defRPr>
                      </a:pPr>
                      <a:r>
                        <a:t>OSF</a:t>
                      </a:r>
                    </a:p>
                  </a:txBody>
                  <a:tcPr marL="54864" marR="54864" marT="18288" marB="18288" anchor="ctr">
                    <a:solidFill>
                      <a:srgbClr val="1C5CAB"/>
                    </a:solidFill>
                  </a:tcPr>
                </a:tc>
              </a:tr>
              <a:tr h="329184">
                <a:tc>
                  <a:txBody>
                    <a:bodyPr/>
                    <a:lstStyle/>
                    <a:p>
                      <a:pPr algn="l">
                        <a:defRPr sz="1100" b="0">
                          <a:solidFill>
                            <a:srgbClr val="0B0B0B"/>
                          </a:solidFill>
                          <a:latin typeface="Calibri"/>
                        </a:defRPr>
                      </a:pPr>
                      <a:r>
                        <a:t>hgb</a:t>
                      </a:r>
                    </a:p>
                  </a:txBody>
                  <a:tcPr marL="54864" marR="54864" marT="18288" marB="18288" anchor="ctr">
                    <a:solidFill>
                      <a:srgbClr val="FFFFFF"/>
                    </a:solidFill>
                  </a:tcPr>
                </a:tc>
                <a:tc>
                  <a:txBody>
                    <a:bodyPr/>
                    <a:lstStyle/>
                    <a:p>
                      <a:pPr algn="ctr">
                        <a:defRPr sz="1100" b="0">
                          <a:solidFill>
                            <a:srgbClr val="0B0B0B"/>
                          </a:solidFill>
                          <a:latin typeface="Calibri"/>
                        </a:defRPr>
                      </a:pPr>
                      <a:r>
                        <a:t>split</a:t>
                      </a:r>
                    </a:p>
                  </a:txBody>
                  <a:tcPr marL="54864" marR="54864" marT="18288" marB="18288" anchor="ctr">
                    <a:solidFill>
                      <a:srgbClr val="FFFFFF"/>
                    </a:solidFill>
                  </a:tcPr>
                </a:tc>
                <a:tc>
                  <a:txBody>
                    <a:bodyPr/>
                    <a:lstStyle/>
                    <a:p>
                      <a:pPr algn="ctr">
                        <a:defRPr sz="1100" b="0">
                          <a:solidFill>
                            <a:srgbClr val="0B0B0B"/>
                          </a:solidFill>
                          <a:latin typeface="Calibri"/>
                        </a:defRPr>
                      </a:pPr>
                      <a:r>
                        <a:t>0.05</a:t>
                      </a:r>
                    </a:p>
                  </a:txBody>
                  <a:tcPr marL="54864" marR="54864" marT="18288" marB="18288" anchor="ctr">
                    <a:solidFill>
                      <a:srgbClr val="FFFFFF"/>
                    </a:solidFill>
                  </a:tcPr>
                </a:tc>
                <a:tc>
                  <a:txBody>
                    <a:bodyPr/>
                    <a:lstStyle/>
                    <a:p>
                      <a:pPr algn="ctr">
                        <a:defRPr sz="1100" b="0">
                          <a:solidFill>
                            <a:srgbClr val="0B0B0B"/>
                          </a:solidFill>
                          <a:latin typeface="Calibri"/>
                        </a:defRPr>
                      </a:pPr>
                      <a:r>
                        <a:t>1.9e-3</a:t>
                      </a:r>
                    </a:p>
                  </a:txBody>
                  <a:tcPr marL="54864" marR="54864" marT="18288" marB="18288" anchor="ctr">
                    <a:solidFill>
                      <a:srgbClr val="FFFFFF"/>
                    </a:solidFill>
                  </a:tcPr>
                </a:tc>
                <a:tc>
                  <a:txBody>
                    <a:bodyPr/>
                    <a:lstStyle/>
                    <a:p>
                      <a:pPr algn="ctr">
                        <a:defRPr sz="1100" b="0">
                          <a:solidFill>
                            <a:srgbClr val="0B0B0B"/>
                          </a:solidFill>
                          <a:latin typeface="Calibri"/>
                        </a:defRPr>
                      </a:pPr>
                      <a:r>
                        <a:t>1.9e-3</a:t>
                      </a:r>
                    </a:p>
                  </a:txBody>
                  <a:tcPr marL="54864" marR="54864" marT="18288" marB="18288" anchor="ctr">
                    <a:solidFill>
                      <a:srgbClr val="FFFFFF"/>
                    </a:solidFill>
                  </a:tcPr>
                </a:tc>
                <a:tc>
                  <a:txBody>
                    <a:bodyPr/>
                    <a:lstStyle/>
                    <a:p>
                      <a:pPr algn="ctr">
                        <a:defRPr sz="1100" b="0">
                          <a:solidFill>
                            <a:srgbClr val="0B0B0B"/>
                          </a:solidFill>
                          <a:latin typeface="Calibri"/>
                        </a:defRPr>
                      </a:pPr>
                      <a:r>
                        <a:t>1.9e-3</a:t>
                      </a:r>
                    </a:p>
                  </a:txBody>
                  <a:tcPr marL="54864" marR="54864" marT="18288" marB="18288" anchor="ctr">
                    <a:solidFill>
                      <a:srgbClr val="FFFFFF"/>
                    </a:solidFill>
                  </a:tcPr>
                </a:tc>
                <a:tc>
                  <a:txBody>
                    <a:bodyPr/>
                    <a:lstStyle/>
                    <a:p>
                      <a:pPr algn="ctr">
                        <a:defRPr sz="1100" b="0">
                          <a:solidFill>
                            <a:srgbClr val="0B0B0B"/>
                          </a:solidFill>
                          <a:latin typeface="Calibri"/>
                        </a:defRPr>
                      </a:pPr>
                      <a:r>
                        <a:t>1.9e-3</a:t>
                      </a:r>
                    </a:p>
                  </a:txBody>
                  <a:tcPr marL="54864" marR="54864" marT="18288" marB="18288" anchor="ctr">
                    <a:solidFill>
                      <a:srgbClr val="FFFFFF"/>
                    </a:solidFill>
                  </a:tcPr>
                </a:tc>
                <a:tc>
                  <a:txBody>
                    <a:bodyPr/>
                    <a:lstStyle/>
                    <a:p>
                      <a:pPr algn="ctr">
                        <a:defRPr sz="1100" b="0">
                          <a:solidFill>
                            <a:srgbClr val="0B0B0B"/>
                          </a:solidFill>
                          <a:latin typeface="Calibri"/>
                        </a:defRPr>
                      </a:pPr>
                      <a:r>
                        <a:t>1.9e-3</a:t>
                      </a:r>
                    </a:p>
                  </a:txBody>
                  <a:tcPr marL="54864" marR="54864" marT="18288" marB="18288" anchor="ctr">
                    <a:solidFill>
                      <a:srgbClr val="FFFFFF"/>
                    </a:solidFill>
                  </a:tcPr>
                </a:tc>
              </a:tr>
              <a:tr h="329184">
                <a:tc>
                  <a:txBody>
                    <a:bodyPr/>
                    <a:lstStyle/>
                    <a:p>
                      <a:pPr algn="l">
                        <a:defRPr sz="1100" b="0">
                          <a:solidFill>
                            <a:srgbClr val="0B0B0B"/>
                          </a:solidFill>
                          <a:latin typeface="Calibri"/>
                        </a:defRPr>
                      </a:pPr>
                      <a:r>
                        <a:t>hgb</a:t>
                      </a:r>
                    </a:p>
                  </a:txBody>
                  <a:tcPr marL="54864" marR="54864" marT="18288" marB="18288" anchor="ctr">
                    <a:solidFill>
                      <a:srgbClr val="EEF1F6"/>
                    </a:solidFill>
                  </a:tcPr>
                </a:tc>
                <a:tc>
                  <a:txBody>
                    <a:bodyPr/>
                    <a:lstStyle/>
                    <a:p>
                      <a:pPr algn="ctr">
                        <a:defRPr sz="1100" b="0">
                          <a:solidFill>
                            <a:srgbClr val="0B0B0B"/>
                          </a:solidFill>
                          <a:latin typeface="Calibri"/>
                        </a:defRPr>
                      </a:pPr>
                      <a:r>
                        <a:t>split</a:t>
                      </a:r>
                    </a:p>
                  </a:txBody>
                  <a:tcPr marL="54864" marR="54864" marT="18288" marB="18288" anchor="ctr">
                    <a:solidFill>
                      <a:srgbClr val="EEF1F6"/>
                    </a:solidFill>
                  </a:tcPr>
                </a:tc>
                <a:tc>
                  <a:txBody>
                    <a:bodyPr/>
                    <a:lstStyle/>
                    <a:p>
                      <a:pPr algn="ctr">
                        <a:defRPr sz="1100" b="0">
                          <a:solidFill>
                            <a:srgbClr val="0B0B0B"/>
                          </a:solidFill>
                          <a:latin typeface="Calibri"/>
                        </a:defRPr>
                      </a:pPr>
                      <a:r>
                        <a:t>0.10</a:t>
                      </a:r>
                    </a:p>
                  </a:txBody>
                  <a:tcPr marL="54864" marR="54864" marT="18288" marB="18288" anchor="ctr">
                    <a:solidFill>
                      <a:srgbClr val="EEF1F6"/>
                    </a:solidFill>
                  </a:tcPr>
                </a:tc>
                <a:tc>
                  <a:txBody>
                    <a:bodyPr/>
                    <a:lstStyle/>
                    <a:p>
                      <a:pPr algn="ctr">
                        <a:defRPr sz="1100" b="0">
                          <a:solidFill>
                            <a:srgbClr val="0B0B0B"/>
                          </a:solidFill>
                          <a:latin typeface="Calibri"/>
                        </a:defRPr>
                      </a:pPr>
                      <a:r>
                        <a:t>2.1e-5</a:t>
                      </a:r>
                    </a:p>
                  </a:txBody>
                  <a:tcPr marL="54864" marR="54864" marT="18288" marB="18288" anchor="ctr">
                    <a:solidFill>
                      <a:srgbClr val="EEF1F6"/>
                    </a:solidFill>
                  </a:tcPr>
                </a:tc>
                <a:tc>
                  <a:txBody>
                    <a:bodyPr/>
                    <a:lstStyle/>
                    <a:p>
                      <a:pPr algn="ctr">
                        <a:defRPr sz="1100" b="0">
                          <a:solidFill>
                            <a:srgbClr val="0B0B0B"/>
                          </a:solidFill>
                          <a:latin typeface="Calibri"/>
                        </a:defRPr>
                      </a:pPr>
                      <a:r>
                        <a:t>2.1e-5</a:t>
                      </a:r>
                    </a:p>
                  </a:txBody>
                  <a:tcPr marL="54864" marR="54864" marT="18288" marB="18288" anchor="ctr">
                    <a:solidFill>
                      <a:srgbClr val="EEF1F6"/>
                    </a:solidFill>
                  </a:tcPr>
                </a:tc>
                <a:tc>
                  <a:txBody>
                    <a:bodyPr/>
                    <a:lstStyle/>
                    <a:p>
                      <a:pPr algn="ctr">
                        <a:defRPr sz="1100" b="0">
                          <a:solidFill>
                            <a:srgbClr val="0B0B0B"/>
                          </a:solidFill>
                          <a:latin typeface="Calibri"/>
                        </a:defRPr>
                      </a:pPr>
                      <a:r>
                        <a:t>2.1e-5</a:t>
                      </a:r>
                    </a:p>
                  </a:txBody>
                  <a:tcPr marL="54864" marR="54864" marT="18288" marB="18288" anchor="ctr">
                    <a:solidFill>
                      <a:srgbClr val="EEF1F6"/>
                    </a:solidFill>
                  </a:tcPr>
                </a:tc>
                <a:tc>
                  <a:txBody>
                    <a:bodyPr/>
                    <a:lstStyle/>
                    <a:p>
                      <a:pPr algn="ctr">
                        <a:defRPr sz="1100" b="0">
                          <a:solidFill>
                            <a:srgbClr val="0B0B0B"/>
                          </a:solidFill>
                          <a:latin typeface="Calibri"/>
                        </a:defRPr>
                      </a:pPr>
                      <a:r>
                        <a:t>2.1e-5</a:t>
                      </a:r>
                    </a:p>
                  </a:txBody>
                  <a:tcPr marL="54864" marR="54864" marT="18288" marB="18288" anchor="ctr">
                    <a:solidFill>
                      <a:srgbClr val="EEF1F6"/>
                    </a:solidFill>
                  </a:tcPr>
                </a:tc>
                <a:tc>
                  <a:txBody>
                    <a:bodyPr/>
                    <a:lstStyle/>
                    <a:p>
                      <a:pPr algn="ctr">
                        <a:defRPr sz="1100" b="0">
                          <a:solidFill>
                            <a:srgbClr val="0B0B0B"/>
                          </a:solidFill>
                          <a:latin typeface="Calibri"/>
                        </a:defRPr>
                      </a:pPr>
                      <a:r>
                        <a:t>2.1e-5</a:t>
                      </a:r>
                    </a:p>
                  </a:txBody>
                  <a:tcPr marL="54864" marR="54864" marT="18288" marB="18288" anchor="ctr">
                    <a:solidFill>
                      <a:srgbClr val="EEF1F6"/>
                    </a:solidFill>
                  </a:tcPr>
                </a:tc>
              </a:tr>
              <a:tr h="329184">
                <a:tc>
                  <a:txBody>
                    <a:bodyPr/>
                    <a:lstStyle/>
                    <a:p>
                      <a:pPr algn="l">
                        <a:defRPr sz="1100" b="0">
                          <a:solidFill>
                            <a:srgbClr val="0B0B0B"/>
                          </a:solidFill>
                          <a:latin typeface="Calibri"/>
                        </a:defRPr>
                      </a:pPr>
                      <a:r>
                        <a:t>hgb</a:t>
                      </a:r>
                    </a:p>
                  </a:txBody>
                  <a:tcPr marL="54864" marR="54864" marT="18288" marB="18288" anchor="ctr">
                    <a:solidFill>
                      <a:srgbClr val="FFFFFF"/>
                    </a:solidFill>
                  </a:tcPr>
                </a:tc>
                <a:tc>
                  <a:txBody>
                    <a:bodyPr/>
                    <a:lstStyle/>
                    <a:p>
                      <a:pPr algn="ctr">
                        <a:defRPr sz="1100" b="0">
                          <a:solidFill>
                            <a:srgbClr val="0B0B0B"/>
                          </a:solidFill>
                          <a:latin typeface="Calibri"/>
                        </a:defRPr>
                      </a:pPr>
                      <a:r>
                        <a:t>mondrian</a:t>
                      </a:r>
                    </a:p>
                  </a:txBody>
                  <a:tcPr marL="54864" marR="54864" marT="18288" marB="18288" anchor="ctr">
                    <a:solidFill>
                      <a:srgbClr val="FFFFFF"/>
                    </a:solidFill>
                  </a:tcPr>
                </a:tc>
                <a:tc>
                  <a:txBody>
                    <a:bodyPr/>
                    <a:lstStyle/>
                    <a:p>
                      <a:pPr algn="ctr">
                        <a:defRPr sz="1100" b="0">
                          <a:solidFill>
                            <a:srgbClr val="0B0B0B"/>
                          </a:solidFill>
                          <a:latin typeface="Calibri"/>
                        </a:defRPr>
                      </a:pPr>
                      <a:r>
                        <a:t>0.05</a:t>
                      </a:r>
                    </a:p>
                  </a:txBody>
                  <a:tcPr marL="54864" marR="54864" marT="18288" marB="18288" anchor="ctr">
                    <a:solidFill>
                      <a:srgbClr val="FFFFFF"/>
                    </a:solidFill>
                  </a:tcPr>
                </a:tc>
                <a:tc>
                  <a:txBody>
                    <a:bodyPr/>
                    <a:lstStyle/>
                    <a:p>
                      <a:pPr algn="ctr">
                        <a:defRPr sz="1100" b="0">
                          <a:solidFill>
                            <a:srgbClr val="0B0B0B"/>
                          </a:solidFill>
                          <a:latin typeface="Calibri"/>
                        </a:defRPr>
                      </a:pPr>
                      <a:r>
                        <a:t>1.1e-4</a:t>
                      </a:r>
                    </a:p>
                  </a:txBody>
                  <a:tcPr marL="54864" marR="54864" marT="18288" marB="18288" anchor="ctr">
                    <a:solidFill>
                      <a:srgbClr val="FFFFFF"/>
                    </a:solidFill>
                  </a:tcPr>
                </a:tc>
                <a:tc>
                  <a:txBody>
                    <a:bodyPr/>
                    <a:lstStyle/>
                    <a:p>
                      <a:pPr algn="ctr">
                        <a:defRPr sz="1100" b="0">
                          <a:solidFill>
                            <a:srgbClr val="0B0B0B"/>
                          </a:solidFill>
                          <a:latin typeface="Calibri"/>
                        </a:defRPr>
                      </a:pPr>
                      <a:r>
                        <a:t>∞</a:t>
                      </a:r>
                    </a:p>
                  </a:txBody>
                  <a:tcPr marL="54864" marR="54864" marT="18288" marB="18288" anchor="ctr">
                    <a:solidFill>
                      <a:srgbClr val="FFFFFF"/>
                    </a:solidFill>
                  </a:tcPr>
                </a:tc>
                <a:tc>
                  <a:txBody>
                    <a:bodyPr/>
                    <a:lstStyle/>
                    <a:p>
                      <a:pPr algn="ctr">
                        <a:defRPr sz="1100" b="0">
                          <a:solidFill>
                            <a:srgbClr val="0B0B0B"/>
                          </a:solidFill>
                          <a:latin typeface="Calibri"/>
                        </a:defRPr>
                      </a:pPr>
                      <a:r>
                        <a:t>0.982</a:t>
                      </a:r>
                    </a:p>
                  </a:txBody>
                  <a:tcPr marL="54864" marR="54864" marT="18288" marB="18288" anchor="ctr">
                    <a:solidFill>
                      <a:srgbClr val="FFFFFF"/>
                    </a:solidFill>
                  </a:tcPr>
                </a:tc>
                <a:tc>
                  <a:txBody>
                    <a:bodyPr/>
                    <a:lstStyle/>
                    <a:p>
                      <a:pPr algn="ctr">
                        <a:defRPr sz="1100" b="0">
                          <a:solidFill>
                            <a:srgbClr val="0B0B0B"/>
                          </a:solidFill>
                          <a:latin typeface="Calibri"/>
                        </a:defRPr>
                      </a:pPr>
                      <a:r>
                        <a:t>1.000</a:t>
                      </a:r>
                    </a:p>
                  </a:txBody>
                  <a:tcPr marL="54864" marR="54864" marT="18288" marB="18288" anchor="ctr">
                    <a:solidFill>
                      <a:srgbClr val="FFFFFF"/>
                    </a:solidFill>
                  </a:tcPr>
                </a:tc>
                <a:tc>
                  <a:txBody>
                    <a:bodyPr/>
                    <a:lstStyle/>
                    <a:p>
                      <a:pPr algn="ctr">
                        <a:defRPr sz="1100" b="0">
                          <a:solidFill>
                            <a:srgbClr val="0B0B0B"/>
                          </a:solidFill>
                          <a:latin typeface="Calibri"/>
                        </a:defRPr>
                      </a:pPr>
                      <a:r>
                        <a:t>1.000</a:t>
                      </a:r>
                    </a:p>
                  </a:txBody>
                  <a:tcPr marL="54864" marR="54864" marT="18288" marB="18288" anchor="ctr">
                    <a:solidFill>
                      <a:srgbClr val="FFFFFF"/>
                    </a:solidFill>
                  </a:tcPr>
                </a:tc>
              </a:tr>
              <a:tr h="329184">
                <a:tc>
                  <a:txBody>
                    <a:bodyPr/>
                    <a:lstStyle/>
                    <a:p>
                      <a:pPr algn="l">
                        <a:defRPr sz="1100" b="0">
                          <a:solidFill>
                            <a:srgbClr val="0B0B0B"/>
                          </a:solidFill>
                          <a:latin typeface="Calibri"/>
                        </a:defRPr>
                      </a:pPr>
                      <a:r>
                        <a:t>hgb</a:t>
                      </a:r>
                    </a:p>
                  </a:txBody>
                  <a:tcPr marL="54864" marR="54864" marT="18288" marB="18288" anchor="ctr">
                    <a:solidFill>
                      <a:srgbClr val="EEF1F6"/>
                    </a:solidFill>
                  </a:tcPr>
                </a:tc>
                <a:tc>
                  <a:txBody>
                    <a:bodyPr/>
                    <a:lstStyle/>
                    <a:p>
                      <a:pPr algn="ctr">
                        <a:defRPr sz="1100" b="0">
                          <a:solidFill>
                            <a:srgbClr val="0B0B0B"/>
                          </a:solidFill>
                          <a:latin typeface="Calibri"/>
                        </a:defRPr>
                      </a:pPr>
                      <a:r>
                        <a:t>mondrian</a:t>
                      </a:r>
                    </a:p>
                  </a:txBody>
                  <a:tcPr marL="54864" marR="54864" marT="18288" marB="18288" anchor="ctr">
                    <a:solidFill>
                      <a:srgbClr val="EEF1F6"/>
                    </a:solidFill>
                  </a:tcPr>
                </a:tc>
                <a:tc>
                  <a:txBody>
                    <a:bodyPr/>
                    <a:lstStyle/>
                    <a:p>
                      <a:pPr algn="ctr">
                        <a:defRPr sz="1100" b="0">
                          <a:solidFill>
                            <a:srgbClr val="0B0B0B"/>
                          </a:solidFill>
                          <a:latin typeface="Calibri"/>
                        </a:defRPr>
                      </a:pPr>
                      <a:r>
                        <a:t>0.10</a:t>
                      </a:r>
                    </a:p>
                  </a:txBody>
                  <a:tcPr marL="54864" marR="54864" marT="18288" marB="18288" anchor="ctr">
                    <a:solidFill>
                      <a:srgbClr val="EEF1F6"/>
                    </a:solidFill>
                  </a:tcPr>
                </a:tc>
                <a:tc>
                  <a:txBody>
                    <a:bodyPr/>
                    <a:lstStyle/>
                    <a:p>
                      <a:pPr algn="ctr">
                        <a:defRPr sz="1100" b="0">
                          <a:solidFill>
                            <a:srgbClr val="0B0B0B"/>
                          </a:solidFill>
                          <a:latin typeface="Calibri"/>
                        </a:defRPr>
                      </a:pPr>
                      <a:r>
                        <a:t>6.7e-6</a:t>
                      </a:r>
                    </a:p>
                  </a:txBody>
                  <a:tcPr marL="54864" marR="54864" marT="18288" marB="18288" anchor="ctr">
                    <a:solidFill>
                      <a:srgbClr val="EEF1F6"/>
                    </a:solidFill>
                  </a:tcPr>
                </a:tc>
                <a:tc>
                  <a:txBody>
                    <a:bodyPr/>
                    <a:lstStyle/>
                    <a:p>
                      <a:pPr algn="ctr">
                        <a:defRPr sz="1100" b="0">
                          <a:solidFill>
                            <a:srgbClr val="0B0B0B"/>
                          </a:solidFill>
                          <a:latin typeface="Calibri"/>
                        </a:defRPr>
                      </a:pPr>
                      <a:r>
                        <a:t>1.000</a:t>
                      </a:r>
                    </a:p>
                  </a:txBody>
                  <a:tcPr marL="54864" marR="54864" marT="18288" marB="18288" anchor="ctr">
                    <a:solidFill>
                      <a:srgbClr val="EEF1F6"/>
                    </a:solidFill>
                  </a:tcPr>
                </a:tc>
                <a:tc>
                  <a:txBody>
                    <a:bodyPr/>
                    <a:lstStyle/>
                    <a:p>
                      <a:pPr algn="ctr">
                        <a:defRPr sz="1100" b="0">
                          <a:solidFill>
                            <a:srgbClr val="0B0B0B"/>
                          </a:solidFill>
                          <a:latin typeface="Calibri"/>
                        </a:defRPr>
                      </a:pPr>
                      <a:r>
                        <a:t>0.576</a:t>
                      </a:r>
                    </a:p>
                  </a:txBody>
                  <a:tcPr marL="54864" marR="54864" marT="18288" marB="18288" anchor="ctr">
                    <a:solidFill>
                      <a:srgbClr val="EEF1F6"/>
                    </a:solidFill>
                  </a:tcPr>
                </a:tc>
                <a:tc>
                  <a:txBody>
                    <a:bodyPr/>
                    <a:lstStyle/>
                    <a:p>
                      <a:pPr algn="ctr">
                        <a:defRPr sz="1100" b="0">
                          <a:solidFill>
                            <a:srgbClr val="0B0B0B"/>
                          </a:solidFill>
                          <a:latin typeface="Calibri"/>
                        </a:defRPr>
                      </a:pPr>
                      <a:r>
                        <a:t>1.000</a:t>
                      </a:r>
                    </a:p>
                  </a:txBody>
                  <a:tcPr marL="54864" marR="54864" marT="18288" marB="18288" anchor="ctr">
                    <a:solidFill>
                      <a:srgbClr val="EEF1F6"/>
                    </a:solidFill>
                  </a:tcPr>
                </a:tc>
                <a:tc>
                  <a:txBody>
                    <a:bodyPr/>
                    <a:lstStyle/>
                    <a:p>
                      <a:pPr algn="ctr">
                        <a:defRPr sz="1100" b="0">
                          <a:solidFill>
                            <a:srgbClr val="0B0B0B"/>
                          </a:solidFill>
                          <a:latin typeface="Calibri"/>
                        </a:defRPr>
                      </a:pPr>
                      <a:r>
                        <a:t>0.9999</a:t>
                      </a:r>
                    </a:p>
                  </a:txBody>
                  <a:tcPr marL="54864" marR="54864" marT="18288" marB="18288" anchor="ctr">
                    <a:solidFill>
                      <a:srgbClr val="EEF1F6"/>
                    </a:solidFill>
                  </a:tcPr>
                </a:tc>
              </a:tr>
              <a:tr h="329184">
                <a:tc>
                  <a:txBody>
                    <a:bodyPr/>
                    <a:lstStyle/>
                    <a:p>
                      <a:pPr algn="l">
                        <a:defRPr sz="1100" b="0">
                          <a:solidFill>
                            <a:srgbClr val="0B0B0B"/>
                          </a:solidFill>
                          <a:latin typeface="Calibri"/>
                        </a:defRPr>
                      </a:pPr>
                      <a:r>
                        <a:t>hgb</a:t>
                      </a:r>
                    </a:p>
                  </a:txBody>
                  <a:tcPr marL="54864" marR="54864" marT="18288" marB="18288" anchor="ctr">
                    <a:solidFill>
                      <a:srgbClr val="FFFFFF"/>
                    </a:solidFill>
                  </a:tcPr>
                </a:tc>
                <a:tc>
                  <a:txBody>
                    <a:bodyPr/>
                    <a:lstStyle/>
                    <a:p>
                      <a:pPr algn="ctr">
                        <a:defRPr sz="1100" b="0">
                          <a:solidFill>
                            <a:srgbClr val="0B0B0B"/>
                          </a:solidFill>
                          <a:latin typeface="Calibri"/>
                        </a:defRPr>
                      </a:pPr>
                      <a:r>
                        <a:t>mondrian</a:t>
                      </a:r>
                    </a:p>
                  </a:txBody>
                  <a:tcPr marL="54864" marR="54864" marT="18288" marB="18288" anchor="ctr">
                    <a:solidFill>
                      <a:srgbClr val="FFFFFF"/>
                    </a:solidFill>
                  </a:tcPr>
                </a:tc>
                <a:tc>
                  <a:txBody>
                    <a:bodyPr/>
                    <a:lstStyle/>
                    <a:p>
                      <a:pPr algn="ctr">
                        <a:defRPr sz="1100" b="0">
                          <a:solidFill>
                            <a:srgbClr val="0B0B0B"/>
                          </a:solidFill>
                          <a:latin typeface="Calibri"/>
                        </a:defRPr>
                      </a:pPr>
                      <a:r>
                        <a:t>0.20</a:t>
                      </a:r>
                    </a:p>
                  </a:txBody>
                  <a:tcPr marL="54864" marR="54864" marT="18288" marB="18288" anchor="ctr">
                    <a:solidFill>
                      <a:srgbClr val="FFFFFF"/>
                    </a:solidFill>
                  </a:tcPr>
                </a:tc>
                <a:tc>
                  <a:txBody>
                    <a:bodyPr/>
                    <a:lstStyle/>
                    <a:p>
                      <a:pPr algn="ctr">
                        <a:defRPr sz="1100" b="0">
                          <a:solidFill>
                            <a:srgbClr val="0B0B0B"/>
                          </a:solidFill>
                          <a:latin typeface="Calibri"/>
                        </a:defRPr>
                      </a:pPr>
                      <a:r>
                        <a:t>6.3e-7</a:t>
                      </a:r>
                    </a:p>
                  </a:txBody>
                  <a:tcPr marL="54864" marR="54864" marT="18288" marB="18288" anchor="ctr">
                    <a:solidFill>
                      <a:srgbClr val="FFFFFF"/>
                    </a:solidFill>
                  </a:tcPr>
                </a:tc>
                <a:tc>
                  <a:txBody>
                    <a:bodyPr/>
                    <a:lstStyle/>
                    <a:p>
                      <a:pPr algn="ctr">
                        <a:defRPr sz="1100" b="0">
                          <a:solidFill>
                            <a:srgbClr val="0B0B0B"/>
                          </a:solidFill>
                          <a:latin typeface="Calibri"/>
                        </a:defRPr>
                      </a:pPr>
                      <a:r>
                        <a:t>1.000</a:t>
                      </a:r>
                    </a:p>
                  </a:txBody>
                  <a:tcPr marL="54864" marR="54864" marT="18288" marB="18288" anchor="ctr">
                    <a:solidFill>
                      <a:srgbClr val="FFFFFF"/>
                    </a:solidFill>
                  </a:tcPr>
                </a:tc>
                <a:tc>
                  <a:txBody>
                    <a:bodyPr/>
                    <a:lstStyle/>
                    <a:p>
                      <a:pPr algn="ctr">
                        <a:defRPr sz="1100" b="0">
                          <a:solidFill>
                            <a:srgbClr val="0B0B0B"/>
                          </a:solidFill>
                          <a:latin typeface="Calibri"/>
                        </a:defRPr>
                      </a:pPr>
                      <a:r>
                        <a:t>0.163</a:t>
                      </a:r>
                    </a:p>
                  </a:txBody>
                  <a:tcPr marL="54864" marR="54864" marT="18288" marB="18288" anchor="ctr">
                    <a:solidFill>
                      <a:srgbClr val="FFFFFF"/>
                    </a:solidFill>
                  </a:tcPr>
                </a:tc>
                <a:tc>
                  <a:txBody>
                    <a:bodyPr/>
                    <a:lstStyle/>
                    <a:p>
                      <a:pPr algn="ctr">
                        <a:defRPr sz="1100" b="0">
                          <a:solidFill>
                            <a:srgbClr val="0B0B0B"/>
                          </a:solidFill>
                          <a:latin typeface="Calibri"/>
                        </a:defRPr>
                      </a:pPr>
                      <a:r>
                        <a:t>0.996</a:t>
                      </a:r>
                    </a:p>
                  </a:txBody>
                  <a:tcPr marL="54864" marR="54864" marT="18288" marB="18288" anchor="ctr">
                    <a:solidFill>
                      <a:srgbClr val="FFFFFF"/>
                    </a:solidFill>
                  </a:tcPr>
                </a:tc>
                <a:tc>
                  <a:txBody>
                    <a:bodyPr/>
                    <a:lstStyle/>
                    <a:p>
                      <a:pPr algn="ctr">
                        <a:defRPr sz="1100" b="0">
                          <a:solidFill>
                            <a:srgbClr val="0B0B0B"/>
                          </a:solidFill>
                          <a:latin typeface="Calibri"/>
                        </a:defRPr>
                      </a:pPr>
                      <a:r>
                        <a:t>0.9985</a:t>
                      </a:r>
                    </a:p>
                  </a:txBody>
                  <a:tcPr marL="54864" marR="54864" marT="18288" marB="18288" anchor="ctr">
                    <a:solidFill>
                      <a:srgbClr val="FFFFFF"/>
                    </a:solidFill>
                  </a:tcPr>
                </a:tc>
              </a:tr>
              <a:tr h="329184">
                <a:tc>
                  <a:txBody>
                    <a:bodyPr/>
                    <a:lstStyle/>
                    <a:p>
                      <a:pPr algn="l">
                        <a:defRPr sz="1100" b="0">
                          <a:solidFill>
                            <a:srgbClr val="0B0B0B"/>
                          </a:solidFill>
                          <a:latin typeface="Calibri"/>
                        </a:defRPr>
                      </a:pPr>
                      <a:r>
                        <a:t>mlp</a:t>
                      </a:r>
                    </a:p>
                  </a:txBody>
                  <a:tcPr marL="54864" marR="54864" marT="18288" marB="18288" anchor="ctr">
                    <a:solidFill>
                      <a:srgbClr val="EEF1F6"/>
                    </a:solidFill>
                  </a:tcPr>
                </a:tc>
                <a:tc>
                  <a:txBody>
                    <a:bodyPr/>
                    <a:lstStyle/>
                    <a:p>
                      <a:pPr algn="ctr">
                        <a:defRPr sz="1100" b="0">
                          <a:solidFill>
                            <a:srgbClr val="0B0B0B"/>
                          </a:solidFill>
                          <a:latin typeface="Calibri"/>
                        </a:defRPr>
                      </a:pPr>
                      <a:r>
                        <a:t>split</a:t>
                      </a:r>
                    </a:p>
                  </a:txBody>
                  <a:tcPr marL="54864" marR="54864" marT="18288" marB="18288" anchor="ctr">
                    <a:solidFill>
                      <a:srgbClr val="EEF1F6"/>
                    </a:solidFill>
                  </a:tcPr>
                </a:tc>
                <a:tc>
                  <a:txBody>
                    <a:bodyPr/>
                    <a:lstStyle/>
                    <a:p>
                      <a:pPr algn="ctr">
                        <a:defRPr sz="1100" b="0">
                          <a:solidFill>
                            <a:srgbClr val="0B0B0B"/>
                          </a:solidFill>
                          <a:latin typeface="Calibri"/>
                        </a:defRPr>
                      </a:pPr>
                      <a:r>
                        <a:t>0.05</a:t>
                      </a:r>
                    </a:p>
                  </a:txBody>
                  <a:tcPr marL="54864" marR="54864" marT="18288" marB="18288" anchor="ctr">
                    <a:solidFill>
                      <a:srgbClr val="EEF1F6"/>
                    </a:solidFill>
                  </a:tcPr>
                </a:tc>
                <a:tc>
                  <a:txBody>
                    <a:bodyPr/>
                    <a:lstStyle/>
                    <a:p>
                      <a:pPr algn="ctr">
                        <a:defRPr sz="1100" b="0">
                          <a:solidFill>
                            <a:srgbClr val="0B0B0B"/>
                          </a:solidFill>
                          <a:latin typeface="Calibri"/>
                        </a:defRPr>
                      </a:pPr>
                      <a:r>
                        <a:t>0.106</a:t>
                      </a:r>
                    </a:p>
                  </a:txBody>
                  <a:tcPr marL="54864" marR="54864" marT="18288" marB="18288" anchor="ctr">
                    <a:solidFill>
                      <a:srgbClr val="EEF1F6"/>
                    </a:solidFill>
                  </a:tcPr>
                </a:tc>
                <a:tc>
                  <a:txBody>
                    <a:bodyPr/>
                    <a:lstStyle/>
                    <a:p>
                      <a:pPr algn="ctr">
                        <a:defRPr sz="1100" b="0">
                          <a:solidFill>
                            <a:srgbClr val="0B0B0B"/>
                          </a:solidFill>
                          <a:latin typeface="Calibri"/>
                        </a:defRPr>
                      </a:pPr>
                      <a:r>
                        <a:t>0.106</a:t>
                      </a:r>
                    </a:p>
                  </a:txBody>
                  <a:tcPr marL="54864" marR="54864" marT="18288" marB="18288" anchor="ctr">
                    <a:solidFill>
                      <a:srgbClr val="EEF1F6"/>
                    </a:solidFill>
                  </a:tcPr>
                </a:tc>
                <a:tc>
                  <a:txBody>
                    <a:bodyPr/>
                    <a:lstStyle/>
                    <a:p>
                      <a:pPr algn="ctr">
                        <a:defRPr sz="1100" b="0">
                          <a:solidFill>
                            <a:srgbClr val="0B0B0B"/>
                          </a:solidFill>
                          <a:latin typeface="Calibri"/>
                        </a:defRPr>
                      </a:pPr>
                      <a:r>
                        <a:t>0.106</a:t>
                      </a:r>
                    </a:p>
                  </a:txBody>
                  <a:tcPr marL="54864" marR="54864" marT="18288" marB="18288" anchor="ctr">
                    <a:solidFill>
                      <a:srgbClr val="EEF1F6"/>
                    </a:solidFill>
                  </a:tcPr>
                </a:tc>
                <a:tc>
                  <a:txBody>
                    <a:bodyPr/>
                    <a:lstStyle/>
                    <a:p>
                      <a:pPr algn="ctr">
                        <a:defRPr sz="1100" b="0">
                          <a:solidFill>
                            <a:srgbClr val="0B0B0B"/>
                          </a:solidFill>
                          <a:latin typeface="Calibri"/>
                        </a:defRPr>
                      </a:pPr>
                      <a:r>
                        <a:t>0.106</a:t>
                      </a:r>
                    </a:p>
                  </a:txBody>
                  <a:tcPr marL="54864" marR="54864" marT="18288" marB="18288" anchor="ctr">
                    <a:solidFill>
                      <a:srgbClr val="EEF1F6"/>
                    </a:solidFill>
                  </a:tcPr>
                </a:tc>
                <a:tc>
                  <a:txBody>
                    <a:bodyPr/>
                    <a:lstStyle/>
                    <a:p>
                      <a:pPr algn="ctr">
                        <a:defRPr sz="1100" b="0">
                          <a:solidFill>
                            <a:srgbClr val="0B0B0B"/>
                          </a:solidFill>
                          <a:latin typeface="Calibri"/>
                        </a:defRPr>
                      </a:pPr>
                      <a:r>
                        <a:t>0.106</a:t>
                      </a:r>
                    </a:p>
                  </a:txBody>
                  <a:tcPr marL="54864" marR="54864" marT="18288" marB="18288" anchor="ctr">
                    <a:solidFill>
                      <a:srgbClr val="EEF1F6"/>
                    </a:solidFill>
                  </a:tcPr>
                </a:tc>
              </a:tr>
              <a:tr h="329184">
                <a:tc>
                  <a:txBody>
                    <a:bodyPr/>
                    <a:lstStyle/>
                    <a:p>
                      <a:pPr algn="l">
                        <a:defRPr sz="1100" b="0">
                          <a:solidFill>
                            <a:srgbClr val="0B0B0B"/>
                          </a:solidFill>
                          <a:latin typeface="Calibri"/>
                        </a:defRPr>
                      </a:pPr>
                      <a:r>
                        <a:t>mlp</a:t>
                      </a:r>
                    </a:p>
                  </a:txBody>
                  <a:tcPr marL="54864" marR="54864" marT="18288" marB="18288" anchor="ctr">
                    <a:solidFill>
                      <a:srgbClr val="FFFFFF"/>
                    </a:solidFill>
                  </a:tcPr>
                </a:tc>
                <a:tc>
                  <a:txBody>
                    <a:bodyPr/>
                    <a:lstStyle/>
                    <a:p>
                      <a:pPr algn="ctr">
                        <a:defRPr sz="1100" b="0">
                          <a:solidFill>
                            <a:srgbClr val="0B0B0B"/>
                          </a:solidFill>
                          <a:latin typeface="Calibri"/>
                        </a:defRPr>
                      </a:pPr>
                      <a:r>
                        <a:t>mondrian</a:t>
                      </a:r>
                    </a:p>
                  </a:txBody>
                  <a:tcPr marL="54864" marR="54864" marT="18288" marB="18288" anchor="ctr">
                    <a:solidFill>
                      <a:srgbClr val="FFFFFF"/>
                    </a:solidFill>
                  </a:tcPr>
                </a:tc>
                <a:tc>
                  <a:txBody>
                    <a:bodyPr/>
                    <a:lstStyle/>
                    <a:p>
                      <a:pPr algn="ctr">
                        <a:defRPr sz="1100" b="0">
                          <a:solidFill>
                            <a:srgbClr val="0B0B0B"/>
                          </a:solidFill>
                          <a:latin typeface="Calibri"/>
                        </a:defRPr>
                      </a:pPr>
                      <a:r>
                        <a:t>0.05</a:t>
                      </a:r>
                    </a:p>
                  </a:txBody>
                  <a:tcPr marL="54864" marR="54864" marT="18288" marB="18288" anchor="ctr">
                    <a:solidFill>
                      <a:srgbClr val="FFFFFF"/>
                    </a:solidFill>
                  </a:tcPr>
                </a:tc>
                <a:tc>
                  <a:txBody>
                    <a:bodyPr/>
                    <a:lstStyle/>
                    <a:p>
                      <a:pPr algn="ctr">
                        <a:defRPr sz="1100" b="0">
                          <a:solidFill>
                            <a:srgbClr val="0B0B0B"/>
                          </a:solidFill>
                          <a:latin typeface="Calibri"/>
                        </a:defRPr>
                      </a:pPr>
                      <a:r>
                        <a:t>0.052</a:t>
                      </a:r>
                    </a:p>
                  </a:txBody>
                  <a:tcPr marL="54864" marR="54864" marT="18288" marB="18288" anchor="ctr">
                    <a:solidFill>
                      <a:srgbClr val="FFFFFF"/>
                    </a:solidFill>
                  </a:tcPr>
                </a:tc>
                <a:tc>
                  <a:txBody>
                    <a:bodyPr/>
                    <a:lstStyle/>
                    <a:p>
                      <a:pPr algn="ctr">
                        <a:defRPr sz="1100" b="0">
                          <a:solidFill>
                            <a:srgbClr val="0B0B0B"/>
                          </a:solidFill>
                          <a:latin typeface="Calibri"/>
                        </a:defRPr>
                      </a:pPr>
                      <a:r>
                        <a:t>∞</a:t>
                      </a:r>
                    </a:p>
                  </a:txBody>
                  <a:tcPr marL="54864" marR="54864" marT="18288" marB="18288" anchor="ctr">
                    <a:solidFill>
                      <a:srgbClr val="FFFFFF"/>
                    </a:solidFill>
                  </a:tcPr>
                </a:tc>
                <a:tc>
                  <a:txBody>
                    <a:bodyPr/>
                    <a:lstStyle/>
                    <a:p>
                      <a:pPr algn="ctr">
                        <a:defRPr sz="1100" b="0">
                          <a:solidFill>
                            <a:srgbClr val="0B0B0B"/>
                          </a:solidFill>
                          <a:latin typeface="Calibri"/>
                        </a:defRPr>
                      </a:pPr>
                      <a:r>
                        <a:t>0.920</a:t>
                      </a:r>
                    </a:p>
                  </a:txBody>
                  <a:tcPr marL="54864" marR="54864" marT="18288" marB="18288" anchor="ctr">
                    <a:solidFill>
                      <a:srgbClr val="FFFFFF"/>
                    </a:solidFill>
                  </a:tcPr>
                </a:tc>
                <a:tc>
                  <a:txBody>
                    <a:bodyPr/>
                    <a:lstStyle/>
                    <a:p>
                      <a:pPr algn="ctr">
                        <a:defRPr sz="1100" b="0">
                          <a:solidFill>
                            <a:srgbClr val="0B0B0B"/>
                          </a:solidFill>
                          <a:latin typeface="Calibri"/>
                        </a:defRPr>
                      </a:pPr>
                      <a:r>
                        <a:t>1.000</a:t>
                      </a:r>
                    </a:p>
                  </a:txBody>
                  <a:tcPr marL="54864" marR="54864" marT="18288" marB="18288" anchor="ctr">
                    <a:solidFill>
                      <a:srgbClr val="FFFFFF"/>
                    </a:solidFill>
                  </a:tcPr>
                </a:tc>
                <a:tc>
                  <a:txBody>
                    <a:bodyPr/>
                    <a:lstStyle/>
                    <a:p>
                      <a:pPr algn="ctr">
                        <a:defRPr sz="1100" b="0">
                          <a:solidFill>
                            <a:srgbClr val="0B0B0B"/>
                          </a:solidFill>
                          <a:latin typeface="Calibri"/>
                        </a:defRPr>
                      </a:pPr>
                      <a:r>
                        <a:t>0.9985</a:t>
                      </a:r>
                    </a:p>
                  </a:txBody>
                  <a:tcPr marL="54864" marR="54864" marT="18288" marB="18288" anchor="ctr">
                    <a:solidFill>
                      <a:srgbClr val="FFFFFF"/>
                    </a:solidFill>
                  </a:tcPr>
                </a:tc>
              </a:tr>
              <a:tr h="329184">
                <a:tc>
                  <a:txBody>
                    <a:bodyPr/>
                    <a:lstStyle/>
                    <a:p>
                      <a:pPr algn="l">
                        <a:defRPr sz="1100" b="0">
                          <a:solidFill>
                            <a:srgbClr val="0B0B0B"/>
                          </a:solidFill>
                          <a:latin typeface="Calibri"/>
                        </a:defRPr>
                      </a:pPr>
                      <a:r>
                        <a:t>mlp</a:t>
                      </a:r>
                    </a:p>
                  </a:txBody>
                  <a:tcPr marL="54864" marR="54864" marT="18288" marB="18288" anchor="ctr">
                    <a:solidFill>
                      <a:srgbClr val="EEF1F6"/>
                    </a:solidFill>
                  </a:tcPr>
                </a:tc>
                <a:tc>
                  <a:txBody>
                    <a:bodyPr/>
                    <a:lstStyle/>
                    <a:p>
                      <a:pPr algn="ctr">
                        <a:defRPr sz="1100" b="0">
                          <a:solidFill>
                            <a:srgbClr val="0B0B0B"/>
                          </a:solidFill>
                          <a:latin typeface="Calibri"/>
                        </a:defRPr>
                      </a:pPr>
                      <a:r>
                        <a:t>mondrian</a:t>
                      </a:r>
                    </a:p>
                  </a:txBody>
                  <a:tcPr marL="54864" marR="54864" marT="18288" marB="18288" anchor="ctr">
                    <a:solidFill>
                      <a:srgbClr val="EEF1F6"/>
                    </a:solidFill>
                  </a:tcPr>
                </a:tc>
                <a:tc>
                  <a:txBody>
                    <a:bodyPr/>
                    <a:lstStyle/>
                    <a:p>
                      <a:pPr algn="ctr">
                        <a:defRPr sz="1100" b="0">
                          <a:solidFill>
                            <a:srgbClr val="0B0B0B"/>
                          </a:solidFill>
                          <a:latin typeface="Calibri"/>
                        </a:defRPr>
                      </a:pPr>
                      <a:r>
                        <a:t>0.10</a:t>
                      </a:r>
                    </a:p>
                  </a:txBody>
                  <a:tcPr marL="54864" marR="54864" marT="18288" marB="18288" anchor="ctr">
                    <a:solidFill>
                      <a:srgbClr val="EEF1F6"/>
                    </a:solidFill>
                  </a:tcPr>
                </a:tc>
                <a:tc>
                  <a:txBody>
                    <a:bodyPr/>
                    <a:lstStyle/>
                    <a:p>
                      <a:pPr algn="ctr">
                        <a:defRPr sz="1100" b="0">
                          <a:solidFill>
                            <a:srgbClr val="0B0B0B"/>
                          </a:solidFill>
                          <a:latin typeface="Calibri"/>
                        </a:defRPr>
                      </a:pPr>
                      <a:r>
                        <a:t>0.011</a:t>
                      </a:r>
                    </a:p>
                  </a:txBody>
                  <a:tcPr marL="54864" marR="54864" marT="18288" marB="18288" anchor="ctr">
                    <a:solidFill>
                      <a:srgbClr val="EEF1F6"/>
                    </a:solidFill>
                  </a:tcPr>
                </a:tc>
                <a:tc>
                  <a:txBody>
                    <a:bodyPr/>
                    <a:lstStyle/>
                    <a:p>
                      <a:pPr algn="ctr">
                        <a:defRPr sz="1100" b="0">
                          <a:solidFill>
                            <a:srgbClr val="0B0B0B"/>
                          </a:solidFill>
                          <a:latin typeface="Calibri"/>
                        </a:defRPr>
                      </a:pPr>
                      <a:r>
                        <a:t>0.997</a:t>
                      </a:r>
                    </a:p>
                  </a:txBody>
                  <a:tcPr marL="54864" marR="54864" marT="18288" marB="18288" anchor="ctr">
                    <a:solidFill>
                      <a:srgbClr val="EEF1F6"/>
                    </a:solidFill>
                  </a:tcPr>
                </a:tc>
                <a:tc>
                  <a:txBody>
                    <a:bodyPr/>
                    <a:lstStyle/>
                    <a:p>
                      <a:pPr algn="ctr">
                        <a:defRPr sz="1100" b="0">
                          <a:solidFill>
                            <a:srgbClr val="0B0B0B"/>
                          </a:solidFill>
                          <a:latin typeface="Calibri"/>
                        </a:defRPr>
                      </a:pPr>
                      <a:r>
                        <a:t>0.815</a:t>
                      </a:r>
                    </a:p>
                  </a:txBody>
                  <a:tcPr marL="54864" marR="54864" marT="18288" marB="18288" anchor="ctr">
                    <a:solidFill>
                      <a:srgbClr val="EEF1F6"/>
                    </a:solidFill>
                  </a:tcPr>
                </a:tc>
                <a:tc>
                  <a:txBody>
                    <a:bodyPr/>
                    <a:lstStyle/>
                    <a:p>
                      <a:pPr algn="ctr">
                        <a:defRPr sz="1100" b="0">
                          <a:solidFill>
                            <a:srgbClr val="0B0B0B"/>
                          </a:solidFill>
                          <a:latin typeface="Calibri"/>
                        </a:defRPr>
                      </a:pPr>
                      <a:r>
                        <a:t>1.000</a:t>
                      </a:r>
                    </a:p>
                  </a:txBody>
                  <a:tcPr marL="54864" marR="54864" marT="18288" marB="18288" anchor="ctr">
                    <a:solidFill>
                      <a:srgbClr val="EEF1F6"/>
                    </a:solidFill>
                  </a:tcPr>
                </a:tc>
                <a:tc>
                  <a:txBody>
                    <a:bodyPr/>
                    <a:lstStyle/>
                    <a:p>
                      <a:pPr algn="ctr">
                        <a:defRPr sz="1100" b="0">
                          <a:solidFill>
                            <a:srgbClr val="0B0B0B"/>
                          </a:solidFill>
                          <a:latin typeface="Calibri"/>
                        </a:defRPr>
                      </a:pPr>
                      <a:r>
                        <a:t>0.990</a:t>
                      </a:r>
                    </a:p>
                  </a:txBody>
                  <a:tcPr marL="54864" marR="54864" marT="18288" marB="18288" anchor="ctr">
                    <a:solidFill>
                      <a:srgbClr val="EEF1F6"/>
                    </a:solidFill>
                  </a:tcPr>
                </a:tc>
              </a:tr>
              <a:tr h="329184">
                <a:tc>
                  <a:txBody>
                    <a:bodyPr/>
                    <a:lstStyle/>
                    <a:p>
                      <a:pPr algn="l">
                        <a:defRPr sz="1100" b="0">
                          <a:solidFill>
                            <a:srgbClr val="0B0B0B"/>
                          </a:solidFill>
                          <a:latin typeface="Calibri"/>
                        </a:defRPr>
                      </a:pPr>
                      <a:r>
                        <a:t>mlp</a:t>
                      </a:r>
                    </a:p>
                  </a:txBody>
                  <a:tcPr marL="54864" marR="54864" marT="18288" marB="18288" anchor="ctr">
                    <a:solidFill>
                      <a:srgbClr val="FFFFFF"/>
                    </a:solidFill>
                  </a:tcPr>
                </a:tc>
                <a:tc>
                  <a:txBody>
                    <a:bodyPr/>
                    <a:lstStyle/>
                    <a:p>
                      <a:pPr algn="ctr">
                        <a:defRPr sz="1100" b="0">
                          <a:solidFill>
                            <a:srgbClr val="0B0B0B"/>
                          </a:solidFill>
                          <a:latin typeface="Calibri"/>
                        </a:defRPr>
                      </a:pPr>
                      <a:r>
                        <a:t>mondrian</a:t>
                      </a:r>
                    </a:p>
                  </a:txBody>
                  <a:tcPr marL="54864" marR="54864" marT="18288" marB="18288" anchor="ctr">
                    <a:solidFill>
                      <a:srgbClr val="FFFFFF"/>
                    </a:solidFill>
                  </a:tcPr>
                </a:tc>
                <a:tc>
                  <a:txBody>
                    <a:bodyPr/>
                    <a:lstStyle/>
                    <a:p>
                      <a:pPr algn="ctr">
                        <a:defRPr sz="1100" b="0">
                          <a:solidFill>
                            <a:srgbClr val="0B0B0B"/>
                          </a:solidFill>
                          <a:latin typeface="Calibri"/>
                        </a:defRPr>
                      </a:pPr>
                      <a:r>
                        <a:t>0.20</a:t>
                      </a:r>
                    </a:p>
                  </a:txBody>
                  <a:tcPr marL="54864" marR="54864" marT="18288" marB="18288" anchor="ctr">
                    <a:solidFill>
                      <a:srgbClr val="FFFFFF"/>
                    </a:solidFill>
                  </a:tcPr>
                </a:tc>
                <a:tc>
                  <a:txBody>
                    <a:bodyPr/>
                    <a:lstStyle/>
                    <a:p>
                      <a:pPr algn="ctr">
                        <a:defRPr sz="1100" b="0">
                          <a:solidFill>
                            <a:srgbClr val="0B0B0B"/>
                          </a:solidFill>
                          <a:latin typeface="Calibri"/>
                        </a:defRPr>
                      </a:pPr>
                      <a:r>
                        <a:t>7.4e-4</a:t>
                      </a:r>
                    </a:p>
                  </a:txBody>
                  <a:tcPr marL="54864" marR="54864" marT="18288" marB="18288" anchor="ctr">
                    <a:solidFill>
                      <a:srgbClr val="FFFFFF"/>
                    </a:solidFill>
                  </a:tcPr>
                </a:tc>
                <a:tc>
                  <a:txBody>
                    <a:bodyPr/>
                    <a:lstStyle/>
                    <a:p>
                      <a:pPr algn="ctr">
                        <a:defRPr sz="1100" b="0">
                          <a:solidFill>
                            <a:srgbClr val="0B0B0B"/>
                          </a:solidFill>
                          <a:latin typeface="Calibri"/>
                        </a:defRPr>
                      </a:pPr>
                      <a:r>
                        <a:t>0.980</a:t>
                      </a:r>
                    </a:p>
                  </a:txBody>
                  <a:tcPr marL="54864" marR="54864" marT="18288" marB="18288" anchor="ctr">
                    <a:solidFill>
                      <a:srgbClr val="FFFFFF"/>
                    </a:solidFill>
                  </a:tcPr>
                </a:tc>
                <a:tc>
                  <a:txBody>
                    <a:bodyPr/>
                    <a:lstStyle/>
                    <a:p>
                      <a:pPr algn="ctr">
                        <a:defRPr sz="1100" b="0">
                          <a:solidFill>
                            <a:srgbClr val="0B0B0B"/>
                          </a:solidFill>
                          <a:latin typeface="Calibri"/>
                        </a:defRPr>
                      </a:pPr>
                      <a:r>
                        <a:t>0.643</a:t>
                      </a:r>
                    </a:p>
                  </a:txBody>
                  <a:tcPr marL="54864" marR="54864" marT="18288" marB="18288" anchor="ctr">
                    <a:solidFill>
                      <a:srgbClr val="FFFFFF"/>
                    </a:solidFill>
                  </a:tcPr>
                </a:tc>
                <a:tc>
                  <a:txBody>
                    <a:bodyPr/>
                    <a:lstStyle/>
                    <a:p>
                      <a:pPr algn="ctr">
                        <a:defRPr sz="1100" b="0">
                          <a:solidFill>
                            <a:srgbClr val="0B0B0B"/>
                          </a:solidFill>
                          <a:latin typeface="Calibri"/>
                        </a:defRPr>
                      </a:pPr>
                      <a:r>
                        <a:t>0.663</a:t>
                      </a:r>
                    </a:p>
                  </a:txBody>
                  <a:tcPr marL="54864" marR="54864" marT="18288" marB="18288" anchor="ctr">
                    <a:solidFill>
                      <a:srgbClr val="FFFFFF"/>
                    </a:solidFill>
                  </a:tcPr>
                </a:tc>
                <a:tc>
                  <a:txBody>
                    <a:bodyPr/>
                    <a:lstStyle/>
                    <a:p>
                      <a:pPr algn="ctr">
                        <a:defRPr sz="1100" b="0">
                          <a:solidFill>
                            <a:srgbClr val="0B0B0B"/>
                          </a:solidFill>
                          <a:latin typeface="Calibri"/>
                        </a:defRPr>
                      </a:pPr>
                      <a:r>
                        <a:t>0.346</a:t>
                      </a:r>
                    </a:p>
                  </a:txBody>
                  <a:tcPr marL="54864" marR="54864" marT="18288" marB="18288" anchor="ctr">
                    <a:solidFill>
                      <a:srgbClr val="FFFFFF"/>
                    </a:solidFill>
                  </a:tcPr>
                </a:tc>
              </a:tr>
            </a:tbl>
          </a:graphicData>
        </a:graphic>
      </p:graphicFrame>
      <p:sp>
        <p:nvSpPr>
          <p:cNvPr id="10" name="TextBox 9"/>
          <p:cNvSpPr txBox="1"/>
          <p:nvPr/>
        </p:nvSpPr>
        <p:spPr>
          <a:xfrm>
            <a:off x="640080" y="4892040"/>
            <a:ext cx="10881360" cy="1371600"/>
          </a:xfrm>
          <a:prstGeom prst="rect">
            <a:avLst/>
          </a:prstGeom>
          <a:noFill/>
        </p:spPr>
        <p:txBody>
          <a:bodyPr wrap="square" anchor="t" lIns="45720" rIns="45720" tIns="27432" bIns="27432">
            <a:spAutoFit/>
          </a:bodyPr>
          <a:lstStyle/>
          <a:p>
            <a:pPr algn="l">
              <a:lnSpc>
                <a:spcPct val="110000"/>
              </a:lnSpc>
              <a:defRPr sz="1100" b="0" i="0">
                <a:solidFill>
                  <a:srgbClr val="0B0B0B"/>
                </a:solidFill>
                <a:latin typeface="Calibri"/>
              </a:defRPr>
            </a:pPr>
            <a:r>
              <a:t>Ninguno es exactamente cero. Split hgb con α = 0.10: n = 2 992, rango 2 694 → 2.1 × 10⁻⁵; el conjunto solo admite clases con p̂ ≥ 0.99998, y donde ninguna lo alcanza queda vacío.</a:t>
            </a:r>
          </a:p>
          <a:p>
            <a:pPr algn="l">
              <a:lnSpc>
                <a:spcPct val="110000"/>
              </a:lnSpc>
              <a:defRPr sz="1100" b="0" i="0">
                <a:solidFill>
                  <a:srgbClr val="0B0B0B"/>
                </a:solidFill>
                <a:latin typeface="Calibri"/>
              </a:defRPr>
            </a:pPr>
            <a:r>
              <a:t>Mondrian: el umbral de Normal es casi cero porque 2 893 puntuaciones de Normal se concentran en 0; los de las fallas son altos porque el modelo duda en ellas. De ahí las falsas alarmas entre las decisiones automáticas.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1170432"/>
            <a:ext cx="548640" cy="45720"/>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7315200" cy="274320"/>
          </a:xfrm>
          <a:prstGeom prst="rect">
            <a:avLst/>
          </a:prstGeom>
          <a:noFill/>
        </p:spPr>
        <p:txBody>
          <a:bodyPr wrap="square" anchor="t" lIns="45720" rIns="45720" tIns="27432" bIns="27432">
            <a:spAutoFit/>
          </a:bodyPr>
          <a:lstStyle/>
          <a:p>
            <a:pPr algn="l">
              <a:lnSpc>
                <a:spcPct val="110000"/>
              </a:lnSpc>
              <a:defRPr sz="1100" b="1" i="0">
                <a:solidFill>
                  <a:srgbClr val="EB6834"/>
                </a:solidFill>
                <a:latin typeface="Calibri"/>
              </a:defRPr>
            </a:pPr>
            <a:r>
              <a:t>APÉNDICE D</a:t>
            </a:r>
          </a:p>
        </p:txBody>
      </p:sp>
      <p:sp>
        <p:nvSpPr>
          <p:cNvPr id="5" name="TextBox 4"/>
          <p:cNvSpPr txBox="1"/>
          <p:nvPr/>
        </p:nvSpPr>
        <p:spPr>
          <a:xfrm>
            <a:off x="640080" y="566928"/>
            <a:ext cx="10058400" cy="640080"/>
          </a:xfrm>
          <a:prstGeom prst="rect">
            <a:avLst/>
          </a:prstGeom>
          <a:noFill/>
        </p:spPr>
        <p:txBody>
          <a:bodyPr wrap="square" anchor="t" lIns="45720" rIns="45720" tIns="27432" bIns="27432">
            <a:spAutoFit/>
          </a:bodyPr>
          <a:lstStyle/>
          <a:p>
            <a:pPr algn="l">
              <a:lnSpc>
                <a:spcPct val="110000"/>
              </a:lnSpc>
              <a:defRPr sz="2400" b="1" i="0">
                <a:solidFill>
                  <a:srgbClr val="0F2A4A"/>
                </a:solidFill>
                <a:latin typeface="Calibri"/>
              </a:defRPr>
            </a:pPr>
            <a:r>
              <a:t>Propuesta frente a entregado y mapa de la rúbrica</a:t>
            </a:r>
          </a:p>
        </p:txBody>
      </p:sp>
      <p:sp>
        <p:nvSpPr>
          <p:cNvPr id="6" name="Rectangle 5"/>
          <p:cNvSpPr/>
          <p:nvPr/>
        </p:nvSpPr>
        <p:spPr>
          <a:xfrm>
            <a:off x="0" y="6537960"/>
            <a:ext cx="12191695" cy="320040"/>
          </a:xfrm>
          <a:prstGeom prst="rect">
            <a:avLst/>
          </a:prstGeom>
          <a:solidFill>
            <a:srgbClr val="0F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574536"/>
            <a:ext cx="7315200" cy="256032"/>
          </a:xfrm>
          <a:prstGeom prst="rect">
            <a:avLst/>
          </a:prstGeom>
          <a:noFill/>
        </p:spPr>
        <p:txBody>
          <a:bodyPr wrap="square" anchor="t" lIns="45720" rIns="45720" tIns="27432" bIns="27432">
            <a:spAutoFit/>
          </a:bodyPr>
          <a:lstStyle/>
          <a:p>
            <a:pPr algn="l">
              <a:lnSpc>
                <a:spcPct val="110000"/>
              </a:lnSpc>
              <a:defRPr sz="900" b="0" i="0">
                <a:solidFill>
                  <a:srgbClr val="C9D6E8"/>
                </a:solidFill>
                <a:latin typeface="Calibri"/>
              </a:defRPr>
            </a:pPr>
            <a:r>
              <a:t>Predicción conforme y abstención selectiva · AI4I 2020</a:t>
            </a:r>
          </a:p>
        </p:txBody>
      </p:sp>
      <p:sp>
        <p:nvSpPr>
          <p:cNvPr id="8" name="TextBox 7"/>
          <p:cNvSpPr txBox="1"/>
          <p:nvPr/>
        </p:nvSpPr>
        <p:spPr>
          <a:xfrm>
            <a:off x="11155680" y="6574536"/>
            <a:ext cx="457200" cy="256032"/>
          </a:xfrm>
          <a:prstGeom prst="rect">
            <a:avLst/>
          </a:prstGeom>
          <a:noFill/>
        </p:spPr>
        <p:txBody>
          <a:bodyPr wrap="square" anchor="t" lIns="45720" rIns="45720" tIns="27432" bIns="27432">
            <a:spAutoFit/>
          </a:bodyPr>
          <a:lstStyle/>
          <a:p>
            <a:pPr algn="r">
              <a:lnSpc>
                <a:spcPct val="110000"/>
              </a:lnSpc>
              <a:defRPr sz="900" b="0" i="0">
                <a:solidFill>
                  <a:srgbClr val="C9D6E8"/>
                </a:solidFill>
                <a:latin typeface="Calibri"/>
              </a:defRPr>
            </a:pPr>
            <a:r>
              <a:t>28</a:t>
            </a:r>
          </a:p>
        </p:txBody>
      </p:sp>
      <p:graphicFrame>
        <p:nvGraphicFramePr>
          <p:cNvPr id="9" name="Table 8"/>
          <p:cNvGraphicFramePr>
            <a:graphicFrameLocks noGrp="1"/>
          </p:cNvGraphicFramePr>
          <p:nvPr/>
        </p:nvGraphicFramePr>
        <p:xfrm>
          <a:off x="640080" y="1417320"/>
          <a:ext cx="10881360" cy="4206240"/>
        </p:xfrm>
        <a:graphic>
          <a:graphicData uri="http://schemas.openxmlformats.org/drawingml/2006/table">
            <a:tbl>
              <a:tblPr firstRow="1" bandRow="1">
                <a:tableStyleId>{5C22544A-7EE6-4342-B048-85BDC9FD1C3A}</a:tableStyleId>
              </a:tblPr>
              <a:tblGrid>
                <a:gridCol w="4206240"/>
                <a:gridCol w="6675120"/>
              </a:tblGrid>
              <a:tr h="420624">
                <a:tc>
                  <a:txBody>
                    <a:bodyPr/>
                    <a:lstStyle/>
                    <a:p>
                      <a:pPr algn="l">
                        <a:defRPr sz="1100" b="1">
                          <a:solidFill>
                            <a:srgbClr val="FFFFFF"/>
                          </a:solidFill>
                          <a:latin typeface="Calibri"/>
                        </a:defRPr>
                      </a:pPr>
                      <a:r>
                        <a:t>Criterio de la rúbrica</a:t>
                      </a:r>
                    </a:p>
                  </a:txBody>
                  <a:tcPr marL="54864" marR="54864" marT="18288" marB="18288" anchor="ctr">
                    <a:solidFill>
                      <a:srgbClr val="1C5CAB"/>
                    </a:solidFill>
                  </a:tcPr>
                </a:tc>
                <a:tc>
                  <a:txBody>
                    <a:bodyPr/>
                    <a:lstStyle/>
                    <a:p>
                      <a:pPr algn="ctr">
                        <a:defRPr sz="1100" b="1">
                          <a:solidFill>
                            <a:srgbClr val="FFFFFF"/>
                          </a:solidFill>
                          <a:latin typeface="Calibri"/>
                        </a:defRPr>
                      </a:pPr>
                      <a:r>
                        <a:t>Dónde se cubre</a:t>
                      </a:r>
                    </a:p>
                  </a:txBody>
                  <a:tcPr marL="54864" marR="54864" marT="18288" marB="18288" anchor="ctr">
                    <a:solidFill>
                      <a:srgbClr val="1C5CAB"/>
                    </a:solidFill>
                  </a:tcPr>
                </a:tc>
              </a:tr>
              <a:tr h="420624">
                <a:tc>
                  <a:txBody>
                    <a:bodyPr/>
                    <a:lstStyle/>
                    <a:p>
                      <a:pPr algn="l">
                        <a:defRPr sz="1100" b="0">
                          <a:solidFill>
                            <a:srgbClr val="0B0B0B"/>
                          </a:solidFill>
                          <a:latin typeface="Calibri"/>
                        </a:defRPr>
                      </a:pPr>
                      <a:r>
                        <a:t>1a–1d Presentación: herramienta TIC, coherencia, fluidez, tiempo</a:t>
                      </a:r>
                    </a:p>
                  </a:txBody>
                  <a:tcPr marL="54864" marR="54864" marT="18288" marB="18288" anchor="ctr">
                    <a:solidFill>
                      <a:srgbClr val="FFFFFF"/>
                    </a:solidFill>
                  </a:tcPr>
                </a:tc>
                <a:tc>
                  <a:txBody>
                    <a:bodyPr/>
                    <a:lstStyle/>
                    <a:p>
                      <a:pPr algn="ctr">
                        <a:defRPr sz="1100" b="0">
                          <a:solidFill>
                            <a:srgbClr val="0B0B0B"/>
                          </a:solidFill>
                          <a:latin typeface="Calibri"/>
                        </a:defRPr>
                      </a:pPr>
                      <a:r>
                        <a:t>Esta presentación: 10 min en dos bloques de 5 (Jaime y Roberth), con notas y tiempo por diapositiva</a:t>
                      </a:r>
                    </a:p>
                  </a:txBody>
                  <a:tcPr marL="54864" marR="54864" marT="18288" marB="18288" anchor="ctr">
                    <a:solidFill>
                      <a:srgbClr val="FFFFFF"/>
                    </a:solidFill>
                  </a:tcPr>
                </a:tc>
              </a:tr>
              <a:tr h="420624">
                <a:tc>
                  <a:txBody>
                    <a:bodyPr/>
                    <a:lstStyle/>
                    <a:p>
                      <a:pPr algn="l">
                        <a:defRPr sz="1100" b="0">
                          <a:solidFill>
                            <a:srgbClr val="0B0B0B"/>
                          </a:solidFill>
                          <a:latin typeface="Calibri"/>
                        </a:defRPr>
                      </a:pPr>
                      <a:r>
                        <a:t>2a Funcionamiento y objetivos de la propuesta</a:t>
                      </a:r>
                    </a:p>
                  </a:txBody>
                  <a:tcPr marL="54864" marR="54864" marT="18288" marB="18288" anchor="ctr">
                    <a:solidFill>
                      <a:srgbClr val="EEF1F6"/>
                    </a:solidFill>
                  </a:tcPr>
                </a:tc>
                <a:tc>
                  <a:txBody>
                    <a:bodyPr/>
                    <a:lstStyle/>
                    <a:p>
                      <a:pPr algn="ctr">
                        <a:defRPr sz="1100" b="0">
                          <a:solidFill>
                            <a:srgbClr val="0B0B0B"/>
                          </a:solidFill>
                          <a:latin typeface="Calibri"/>
                        </a:defRPr>
                      </a:pPr>
                      <a:r>
                        <a:t>Apéndice F (objetivos y alcance); README «Propuesta frente a entregado»</a:t>
                      </a:r>
                    </a:p>
                  </a:txBody>
                  <a:tcPr marL="54864" marR="54864" marT="18288" marB="18288" anchor="ctr">
                    <a:solidFill>
                      <a:srgbClr val="EEF1F6"/>
                    </a:solidFill>
                  </a:tcPr>
                </a:tc>
              </a:tr>
              <a:tr h="420624">
                <a:tc>
                  <a:txBody>
                    <a:bodyPr/>
                    <a:lstStyle/>
                    <a:p>
                      <a:pPr algn="l">
                        <a:defRPr sz="1100" b="0">
                          <a:solidFill>
                            <a:srgbClr val="0B0B0B"/>
                          </a:solidFill>
                          <a:latin typeface="Calibri"/>
                        </a:defRPr>
                      </a:pPr>
                      <a:r>
                        <a:t>2b Calidad y representatividad de los datos</a:t>
                      </a:r>
                    </a:p>
                  </a:txBody>
                  <a:tcPr marL="54864" marR="54864" marT="18288" marB="18288" anchor="ctr">
                    <a:solidFill>
                      <a:srgbClr val="FFFFFF"/>
                    </a:solidFill>
                  </a:tcPr>
                </a:tc>
                <a:tc>
                  <a:txBody>
                    <a:bodyPr/>
                    <a:lstStyle/>
                    <a:p>
                      <a:pPr algn="ctr">
                        <a:defRPr sz="1100" b="0">
                          <a:solidFill>
                            <a:srgbClr val="0B0B0B"/>
                          </a:solidFill>
                          <a:latin typeface="Calibri"/>
                        </a:defRPr>
                      </a:pPr>
                      <a:r>
                        <a:t>Diapositiva de datos y auditoría; apéndices G y H; data/README.md con la auditoría real</a:t>
                      </a:r>
                    </a:p>
                  </a:txBody>
                  <a:tcPr marL="54864" marR="54864" marT="18288" marB="18288" anchor="ctr">
                    <a:solidFill>
                      <a:srgbClr val="FFFFFF"/>
                    </a:solidFill>
                  </a:tcPr>
                </a:tc>
              </a:tr>
              <a:tr h="420624">
                <a:tc>
                  <a:txBody>
                    <a:bodyPr/>
                    <a:lstStyle/>
                    <a:p>
                      <a:pPr algn="l">
                        <a:defRPr sz="1100" b="0">
                          <a:solidFill>
                            <a:srgbClr val="0B0B0B"/>
                          </a:solidFill>
                          <a:latin typeface="Calibri"/>
                        </a:defRPr>
                      </a:pPr>
                      <a:r>
                        <a:t>2c Resultados relevantes e interpretables</a:t>
                      </a:r>
                    </a:p>
                  </a:txBody>
                  <a:tcPr marL="54864" marR="54864" marT="18288" marB="18288" anchor="ctr">
                    <a:solidFill>
                      <a:srgbClr val="EEF1F6"/>
                    </a:solidFill>
                  </a:tcPr>
                </a:tc>
                <a:tc>
                  <a:txBody>
                    <a:bodyPr/>
                    <a:lstStyle/>
                    <a:p>
                      <a:pPr algn="ctr">
                        <a:defRPr sz="1100" b="0">
                          <a:solidFill>
                            <a:srgbClr val="0B0B0B"/>
                          </a:solidFill>
                          <a:latin typeface="Calibri"/>
                        </a:defRPr>
                      </a:pPr>
                      <a:r>
                        <a:t>Resultados 1–3 y en planta; apéndices A–C y L; RESULTADOS.md; notebook con verificación</a:t>
                      </a:r>
                    </a:p>
                  </a:txBody>
                  <a:tcPr marL="54864" marR="54864" marT="18288" marB="18288" anchor="ctr">
                    <a:solidFill>
                      <a:srgbClr val="EEF1F6"/>
                    </a:solidFill>
                  </a:tcPr>
                </a:tc>
              </a:tr>
              <a:tr h="420624">
                <a:tc>
                  <a:txBody>
                    <a:bodyPr/>
                    <a:lstStyle/>
                    <a:p>
                      <a:pPr algn="l">
                        <a:defRPr sz="1100" b="0">
                          <a:solidFill>
                            <a:srgbClr val="0B0B0B"/>
                          </a:solidFill>
                          <a:latin typeface="Calibri"/>
                        </a:defRPr>
                      </a:pPr>
                      <a:r>
                        <a:t>2d Código organizado y reproducible</a:t>
                      </a:r>
                    </a:p>
                  </a:txBody>
                  <a:tcPr marL="54864" marR="54864" marT="18288" marB="18288" anchor="ctr">
                    <a:solidFill>
                      <a:srgbClr val="FFFFFF"/>
                    </a:solidFill>
                  </a:tcPr>
                </a:tc>
                <a:tc>
                  <a:txBody>
                    <a:bodyPr/>
                    <a:lstStyle/>
                    <a:p>
                      <a:pPr algn="ctr">
                        <a:defRPr sz="1100" b="0">
                          <a:solidFill>
                            <a:srgbClr val="0B0B0B"/>
                          </a:solidFill>
                          <a:latin typeface="Calibri"/>
                        </a:defRPr>
                      </a:pPr>
                      <a:r>
                        <a:t>Pipeline, 112 pruebas, un comando, manifiesto con hash y versiones, artifacts versionados</a:t>
                      </a:r>
                    </a:p>
                  </a:txBody>
                  <a:tcPr marL="54864" marR="54864" marT="18288" marB="18288" anchor="ctr">
                    <a:solidFill>
                      <a:srgbClr val="FFFFFF"/>
                    </a:solidFill>
                  </a:tcPr>
                </a:tc>
              </a:tr>
              <a:tr h="420624">
                <a:tc>
                  <a:txBody>
                    <a:bodyPr/>
                    <a:lstStyle/>
                    <a:p>
                      <a:pPr algn="l">
                        <a:defRPr sz="1100" b="0">
                          <a:solidFill>
                            <a:srgbClr val="0B0B0B"/>
                          </a:solidFill>
                          <a:latin typeface="Calibri"/>
                        </a:defRPr>
                      </a:pPr>
                      <a:r>
                        <a:t>3a Conceptos del curso</a:t>
                      </a:r>
                    </a:p>
                  </a:txBody>
                  <a:tcPr marL="54864" marR="54864" marT="18288" marB="18288" anchor="ctr">
                    <a:solidFill>
                      <a:srgbClr val="EEF1F6"/>
                    </a:solidFill>
                  </a:tcPr>
                </a:tc>
                <a:tc>
                  <a:txBody>
                    <a:bodyPr/>
                    <a:lstStyle/>
                    <a:p>
                      <a:pPr algn="ctr">
                        <a:defRPr sz="1100" b="0">
                          <a:solidFill>
                            <a:srgbClr val="0B0B0B"/>
                          </a:solidFill>
                          <a:latin typeface="Calibri"/>
                        </a:defRPr>
                      </a:pPr>
                      <a:r>
                        <a:t>Apéndice M; pipeline y método en la exposición; MLP, autodiferenciación, CPU/GPU, cuantiles</a:t>
                      </a:r>
                    </a:p>
                  </a:txBody>
                  <a:tcPr marL="54864" marR="54864" marT="18288" marB="18288" anchor="ctr">
                    <a:solidFill>
                      <a:srgbClr val="EEF1F6"/>
                    </a:solidFill>
                  </a:tcPr>
                </a:tc>
              </a:tr>
              <a:tr h="420624">
                <a:tc>
                  <a:txBody>
                    <a:bodyPr/>
                    <a:lstStyle/>
                    <a:p>
                      <a:pPr algn="l">
                        <a:defRPr sz="1100" b="0">
                          <a:solidFill>
                            <a:srgbClr val="0B0B0B"/>
                          </a:solidFill>
                          <a:latin typeface="Calibri"/>
                        </a:defRPr>
                      </a:pPr>
                      <a:r>
                        <a:t>3b Investigación adicional</a:t>
                      </a:r>
                    </a:p>
                  </a:txBody>
                  <a:tcPr marL="54864" marR="54864" marT="18288" marB="18288" anchor="ctr">
                    <a:solidFill>
                      <a:srgbClr val="FFFFFF"/>
                    </a:solidFill>
                  </a:tcPr>
                </a:tc>
                <a:tc>
                  <a:txBody>
                    <a:bodyPr/>
                    <a:lstStyle/>
                    <a:p>
                      <a:pPr algn="ctr">
                        <a:defRPr sz="1100" b="0">
                          <a:solidFill>
                            <a:srgbClr val="0B0B0B"/>
                          </a:solidFill>
                          <a:latin typeface="Calibri"/>
                        </a:defRPr>
                      </a:pPr>
                      <a:r>
                        <a:t>Método (cuantil corregido); apéndices I y E: argumento del rango y nueve referencias</a:t>
                      </a:r>
                    </a:p>
                  </a:txBody>
                  <a:tcPr marL="54864" marR="54864" marT="18288" marB="18288" anchor="ctr">
                    <a:solidFill>
                      <a:srgbClr val="FFFFFF"/>
                    </a:solidFill>
                  </a:tcPr>
                </a:tc>
              </a:tr>
              <a:tr h="420624">
                <a:tc>
                  <a:txBody>
                    <a:bodyPr/>
                    <a:lstStyle/>
                    <a:p>
                      <a:pPr algn="l">
                        <a:defRPr sz="1100" b="0">
                          <a:solidFill>
                            <a:srgbClr val="0B0B0B"/>
                          </a:solidFill>
                          <a:latin typeface="Calibri"/>
                        </a:defRPr>
                      </a:pPr>
                      <a:r>
                        <a:t>3c Metodología acertada</a:t>
                      </a:r>
                    </a:p>
                  </a:txBody>
                  <a:tcPr marL="54864" marR="54864" marT="18288" marB="18288" anchor="ctr">
                    <a:solidFill>
                      <a:srgbClr val="EEF1F6"/>
                    </a:solidFill>
                  </a:tcPr>
                </a:tc>
                <a:tc>
                  <a:txBody>
                    <a:bodyPr/>
                    <a:lstStyle/>
                    <a:p>
                      <a:pPr algn="ctr">
                        <a:defRPr sz="1100" b="0">
                          <a:solidFill>
                            <a:srgbClr val="0B0B0B"/>
                          </a:solidFill>
                          <a:latin typeface="Calibri"/>
                        </a:defRPr>
                      </a:pPr>
                      <a:r>
                        <a:t>Calibración separada, alphas prefijados, nada seleccionado con prueba, hipótesis contrastadas</a:t>
                      </a:r>
                    </a:p>
                  </a:txBody>
                  <a:tcPr marL="54864" marR="54864" marT="18288" marB="18288" anchor="ctr">
                    <a:solidFill>
                      <a:srgbClr val="EEF1F6"/>
                    </a:solidFill>
                  </a:tcPr>
                </a:tc>
              </a:tr>
              <a:tr h="420624">
                <a:tc>
                  <a:txBody>
                    <a:bodyPr/>
                    <a:lstStyle/>
                    <a:p>
                      <a:pPr algn="l">
                        <a:defRPr sz="1100" b="0">
                          <a:solidFill>
                            <a:srgbClr val="0B0B0B"/>
                          </a:solidFill>
                          <a:latin typeface="Calibri"/>
                        </a:defRPr>
                      </a:pPr>
                      <a:r>
                        <a:t>3d Conclusiones y recomendaciones</a:t>
                      </a:r>
                    </a:p>
                  </a:txBody>
                  <a:tcPr marL="54864" marR="54864" marT="18288" marB="18288" anchor="ctr">
                    <a:solidFill>
                      <a:srgbClr val="FFFFFF"/>
                    </a:solidFill>
                  </a:tcPr>
                </a:tc>
                <a:tc>
                  <a:txBody>
                    <a:bodyPr/>
                    <a:lstStyle/>
                    <a:p>
                      <a:pPr algn="ctr">
                        <a:defRPr sz="1100" b="0">
                          <a:solidFill>
                            <a:srgbClr val="0B0B0B"/>
                          </a:solidFill>
                          <a:latin typeface="Calibri"/>
                        </a:defRPr>
                      </a:pPr>
                      <a:r>
                        <a:t>Diapositiva de conclusiones con recomendaciones; apéndice N con los límites</a:t>
                      </a:r>
                    </a:p>
                  </a:txBody>
                  <a:tcPr marL="54864" marR="54864" marT="18288" marB="18288" anchor="ctr">
                    <a:solidFill>
                      <a:srgbClr val="FFFFFF"/>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1170432"/>
            <a:ext cx="548640" cy="45720"/>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7315200" cy="274320"/>
          </a:xfrm>
          <a:prstGeom prst="rect">
            <a:avLst/>
          </a:prstGeom>
          <a:noFill/>
        </p:spPr>
        <p:txBody>
          <a:bodyPr wrap="square" anchor="t" lIns="45720" rIns="45720" tIns="27432" bIns="27432">
            <a:spAutoFit/>
          </a:bodyPr>
          <a:lstStyle/>
          <a:p>
            <a:pPr algn="l">
              <a:lnSpc>
                <a:spcPct val="110000"/>
              </a:lnSpc>
              <a:defRPr sz="1100" b="1" i="0">
                <a:solidFill>
                  <a:srgbClr val="EB6834"/>
                </a:solidFill>
                <a:latin typeface="Calibri"/>
              </a:defRPr>
            </a:pPr>
            <a:r>
              <a:t>APÉNDICE E</a:t>
            </a:r>
          </a:p>
        </p:txBody>
      </p:sp>
      <p:sp>
        <p:nvSpPr>
          <p:cNvPr id="5" name="TextBox 4"/>
          <p:cNvSpPr txBox="1"/>
          <p:nvPr/>
        </p:nvSpPr>
        <p:spPr>
          <a:xfrm>
            <a:off x="640080" y="566928"/>
            <a:ext cx="10058400" cy="640080"/>
          </a:xfrm>
          <a:prstGeom prst="rect">
            <a:avLst/>
          </a:prstGeom>
          <a:noFill/>
        </p:spPr>
        <p:txBody>
          <a:bodyPr wrap="square" anchor="t" lIns="45720" rIns="45720" tIns="27432" bIns="27432">
            <a:spAutoFit/>
          </a:bodyPr>
          <a:lstStyle/>
          <a:p>
            <a:pPr algn="l">
              <a:lnSpc>
                <a:spcPct val="110000"/>
              </a:lnSpc>
              <a:defRPr sz="2400" b="1" i="0">
                <a:solidFill>
                  <a:srgbClr val="0F2A4A"/>
                </a:solidFill>
                <a:latin typeface="Calibri"/>
              </a:defRPr>
            </a:pPr>
            <a:r>
              <a:t>Referencias</a:t>
            </a:r>
          </a:p>
        </p:txBody>
      </p:sp>
      <p:sp>
        <p:nvSpPr>
          <p:cNvPr id="6" name="Rectangle 5"/>
          <p:cNvSpPr/>
          <p:nvPr/>
        </p:nvSpPr>
        <p:spPr>
          <a:xfrm>
            <a:off x="0" y="6537960"/>
            <a:ext cx="12191695" cy="320040"/>
          </a:xfrm>
          <a:prstGeom prst="rect">
            <a:avLst/>
          </a:prstGeom>
          <a:solidFill>
            <a:srgbClr val="0F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574536"/>
            <a:ext cx="7315200" cy="256032"/>
          </a:xfrm>
          <a:prstGeom prst="rect">
            <a:avLst/>
          </a:prstGeom>
          <a:noFill/>
        </p:spPr>
        <p:txBody>
          <a:bodyPr wrap="square" anchor="t" lIns="45720" rIns="45720" tIns="27432" bIns="27432">
            <a:spAutoFit/>
          </a:bodyPr>
          <a:lstStyle/>
          <a:p>
            <a:pPr algn="l">
              <a:lnSpc>
                <a:spcPct val="110000"/>
              </a:lnSpc>
              <a:defRPr sz="900" b="0" i="0">
                <a:solidFill>
                  <a:srgbClr val="C9D6E8"/>
                </a:solidFill>
                <a:latin typeface="Calibri"/>
              </a:defRPr>
            </a:pPr>
            <a:r>
              <a:t>Predicción conforme y abstención selectiva · AI4I 2020</a:t>
            </a:r>
          </a:p>
        </p:txBody>
      </p:sp>
      <p:sp>
        <p:nvSpPr>
          <p:cNvPr id="8" name="TextBox 7"/>
          <p:cNvSpPr txBox="1"/>
          <p:nvPr/>
        </p:nvSpPr>
        <p:spPr>
          <a:xfrm>
            <a:off x="11155680" y="6574536"/>
            <a:ext cx="457200" cy="256032"/>
          </a:xfrm>
          <a:prstGeom prst="rect">
            <a:avLst/>
          </a:prstGeom>
          <a:noFill/>
        </p:spPr>
        <p:txBody>
          <a:bodyPr wrap="square" anchor="t" lIns="45720" rIns="45720" tIns="27432" bIns="27432">
            <a:spAutoFit/>
          </a:bodyPr>
          <a:lstStyle/>
          <a:p>
            <a:pPr algn="r">
              <a:lnSpc>
                <a:spcPct val="110000"/>
              </a:lnSpc>
              <a:defRPr sz="900" b="0" i="0">
                <a:solidFill>
                  <a:srgbClr val="C9D6E8"/>
                </a:solidFill>
                <a:latin typeface="Calibri"/>
              </a:defRPr>
            </a:pPr>
            <a:r>
              <a:t>29</a:t>
            </a:r>
          </a:p>
        </p:txBody>
      </p:sp>
      <p:sp>
        <p:nvSpPr>
          <p:cNvPr id="9" name="TextBox 8"/>
          <p:cNvSpPr txBox="1"/>
          <p:nvPr/>
        </p:nvSpPr>
        <p:spPr>
          <a:xfrm>
            <a:off x="640080" y="1417320"/>
            <a:ext cx="10881360" cy="4754880"/>
          </a:xfrm>
          <a:prstGeom prst="rect">
            <a:avLst/>
          </a:prstGeom>
          <a:noFill/>
        </p:spPr>
        <p:txBody>
          <a:bodyPr wrap="square">
            <a:spAutoFit/>
          </a:bodyPr>
          <a:lstStyle/>
          <a:p>
            <a:pPr>
              <a:spcAft>
                <a:spcPts val="600"/>
              </a:spcAft>
              <a:defRPr sz="1300">
                <a:solidFill>
                  <a:srgbClr val="0B0B0B"/>
                </a:solidFill>
                <a:latin typeface="Calibri"/>
              </a:defRPr>
            </a:pPr>
            <a:r>
              <a:t>•  Vovk, V., Gammerman, A. y Shafer, G. (2005). Algorithmic Learning in a Random World. Springer.</a:t>
            </a:r>
          </a:p>
          <a:p>
            <a:pPr>
              <a:spcAft>
                <a:spcPts val="600"/>
              </a:spcAft>
              <a:defRPr sz="1300">
                <a:solidFill>
                  <a:srgbClr val="0B0B0B"/>
                </a:solidFill>
                <a:latin typeface="Calibri"/>
              </a:defRPr>
            </a:pPr>
            <a:r>
              <a:t>•  Papadopoulos, H., Proedrou, K., Vovk, V. y Gammerman, A. (2002). Inductive confidence machines for regression. ECML 2002.</a:t>
            </a:r>
          </a:p>
          <a:p>
            <a:pPr>
              <a:spcAft>
                <a:spcPts val="600"/>
              </a:spcAft>
              <a:defRPr sz="1300">
                <a:solidFill>
                  <a:srgbClr val="0B0B0B"/>
                </a:solidFill>
                <a:latin typeface="Calibri"/>
              </a:defRPr>
            </a:pPr>
            <a:r>
              <a:t>•  Vovk, V. (2012). Conditional validity of inductive conformal predictors. ACML 2012.</a:t>
            </a:r>
          </a:p>
          <a:p>
            <a:pPr>
              <a:spcAft>
                <a:spcPts val="600"/>
              </a:spcAft>
              <a:defRPr sz="1300">
                <a:solidFill>
                  <a:srgbClr val="0B0B0B"/>
                </a:solidFill>
                <a:latin typeface="Calibri"/>
              </a:defRPr>
            </a:pPr>
            <a:r>
              <a:t>•  Lei, J., G'Sell, M., Rinaldo, A., Tibshirani, R. J. y Wasserman, L. (2018). Distribution-free predictive inference for regression. JASA, 113(523).</a:t>
            </a:r>
          </a:p>
          <a:p>
            <a:pPr>
              <a:spcAft>
                <a:spcPts val="600"/>
              </a:spcAft>
              <a:defRPr sz="1300">
                <a:solidFill>
                  <a:srgbClr val="0B0B0B"/>
                </a:solidFill>
                <a:latin typeface="Calibri"/>
              </a:defRPr>
            </a:pPr>
            <a:r>
              <a:t>•  Angelopoulos, A. N. y Bates, S. (2021). A gentle introduction to conformal prediction and distribution-free uncertainty quantification. arXiv:2107.07511.</a:t>
            </a:r>
          </a:p>
          <a:p>
            <a:pPr>
              <a:spcAft>
                <a:spcPts val="600"/>
              </a:spcAft>
              <a:defRPr sz="1300">
                <a:solidFill>
                  <a:srgbClr val="0B0B0B"/>
                </a:solidFill>
                <a:latin typeface="Calibri"/>
              </a:defRPr>
            </a:pPr>
            <a:r>
              <a:t>•  Romano, Y., Sesia, M. y Candès, E. (2020). Classification with valid and adaptive coverage. NeurIPS 2020.</a:t>
            </a:r>
          </a:p>
          <a:p>
            <a:pPr>
              <a:spcAft>
                <a:spcPts val="600"/>
              </a:spcAft>
              <a:defRPr sz="1300">
                <a:solidFill>
                  <a:srgbClr val="0B0B0B"/>
                </a:solidFill>
                <a:latin typeface="Calibri"/>
              </a:defRPr>
            </a:pPr>
            <a:r>
              <a:t>•  Geifman, Y. y El-Yaniv, R. (2017). Selective classification for deep neural networks. NeurIPS 2017.</a:t>
            </a:r>
          </a:p>
          <a:p>
            <a:pPr>
              <a:spcAft>
                <a:spcPts val="600"/>
              </a:spcAft>
              <a:defRPr sz="1300">
                <a:solidFill>
                  <a:srgbClr val="0B0B0B"/>
                </a:solidFill>
                <a:latin typeface="Calibri"/>
              </a:defRPr>
            </a:pPr>
            <a:r>
              <a:t>•  Matzka, S. (2020). Explainable artificial intelligence for predictive maintenance applications. AI4I 2020.</a:t>
            </a:r>
          </a:p>
          <a:p>
            <a:pPr>
              <a:spcAft>
                <a:spcPts val="600"/>
              </a:spcAft>
              <a:defRPr sz="1300">
                <a:solidFill>
                  <a:srgbClr val="0B0B0B"/>
                </a:solidFill>
                <a:latin typeface="Calibri"/>
              </a:defRPr>
            </a:pPr>
            <a:r>
              <a:t>•  Dua, D. y Graff, C. AI4I 2020 Predictive Maintenance Dataset. UCI Machine Learning Repository, id 601.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